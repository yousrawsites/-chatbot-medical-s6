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83" r:id="rId34"/>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82" r:id="rId33"/>
    <p:sldId id="275" r:id="rId25"/>
    <p:sldId id="276" r:id="rId26"/>
    <p:sldId id="280" r:id="rId31"/>
    <p:sldId id="277" r:id="rId27"/>
    <p:sldId id="281" r:id="rId32"/>
    <p:sldId id="278" r:id="rId28"/>
    <p:sldId id="279" r:id="rId29"/>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0" roundtripDataSignature="AMtx7miWGgtSC9NeiEYFQuz/eybezvd5p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3374D3B-CAC8-4FC6-B79D-81F7425B36E4}">
  <a:tblStyle styleId="{C3374D3B-CAC8-4FC6-B79D-81F7425B36E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4.xml"/><Relationship Id="rId28" Type="http://schemas.openxmlformats.org/officeDocument/2006/relationships/slide" Target="slides/slide26.xml"/><Relationship Id="rId29" Type="http://schemas.openxmlformats.org/officeDocument/2006/relationships/slide" Target="slides/slide27.xml"/><Relationship Id="rId30" Type="http://customschemas.google.com/relationships/presentationmetadata" Target="metadata"/><Relationship Id="rId31" Type="http://schemas.openxmlformats.org/officeDocument/2006/relationships/slide" Target="slides/slide23.xml"/><Relationship Id="rId32" Type="http://schemas.openxmlformats.org/officeDocument/2006/relationships/slide" Target="slides/slide25.xml"/><Relationship Id="rId33" Type="http://schemas.openxmlformats.org/officeDocument/2006/relationships/slide" Target="slides/slide20.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Bonjour à tous. Donc voilà, nous c'est Yousra, Imane, Yannis et Grace.</a:t>
            </a:r>
          </a:p>
          <a:p>
            <a:r>
              <a:t>On va vous présenter notre projet de SAE : un chatbot médical basé sur une approche RAG.</a:t>
            </a:r>
          </a:p>
          <a:p>
            <a:r>
              <a:t>On a 15 minutes pour vous présenter ça, et après on répondra à vos questions.</a:t>
            </a:r>
          </a:p>
          <a:p>
            <a:r>
              <a:t>On a tout déployé en prod, vous pouvez tester sur sae.amanawebagency.com ou flasher le QR code à la fin.</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avant de rentrer dans la technique, on va vite vous expliquer le besoin.</a:t>
            </a:r>
          </a:p>
          <a:p>
            <a:r>
              <a:t>L'idée c'est qu'un patient veut une info médicale fiable et rapide.</a:t>
            </a:r>
          </a:p>
          <a:p>
            <a:r>
              <a:t>Le problème, c'est qu'un LLM tout seul peut halluciner. Il invente parfois des trucs faux.</a:t>
            </a:r>
          </a:p>
          <a:p>
            <a:r>
              <a:t>Donc nous on voulait un chatbot qui réponde uniquement à partir de sources officielles HAS et INCa.</a:t>
            </a:r>
          </a:p>
          <a:p>
            <a:r>
              <a:t>Et important : c'est informatif, on fait pas de diagnostic. C'est un choix qu'on assume.</a:t>
            </a:r>
          </a:p>
        </p:txBody>
      </p:sp>
      <p:sp>
        <p:nvSpPr>
          <p:cNvPr id="27" name="Google Shape;2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 name="Google Shape;3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Petite parenthèse pour répondre à une question qui revient souvent.</a:t>
            </a:r>
          </a:p>
          <a:p>
            <a:r>
              <a:t>La SAE elle nous demande pas de créer un LLM from scratch, c'est impossible en BUT 3 de toute façon.</a:t>
            </a:r>
          </a:p>
          <a:p>
            <a:r>
              <a:t>L'analogie c'est qu'on réinvente pas le moteur d'une voiture, on construit le châssis autour.</a:t>
            </a:r>
          </a:p>
          <a:p>
            <a:r>
              <a:t>Le vrai boulot c'est : le pipeline RAG, l'orchestration du backend, le prompt engineering, la comparaison de modèles. C'est ça la SAE.</a:t>
            </a:r>
          </a:p>
        </p:txBody>
      </p:sp>
      <p:sp>
        <p:nvSpPr>
          <p:cNvPr id="38" name="Google Shape;3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Voilà le récap de notre stack. Frontend en Streamlit, backend FastAPI avec SQLAlchemy, auth JWT.</a:t>
            </a:r>
          </a:p>
          <a:p>
            <a:r>
              <a:t>Pour le RAG on a LangChain comme imposé dans le sujet, et ChromaDB comme base vectorielle.</a:t>
            </a:r>
          </a:p>
          <a:p>
            <a:r>
              <a:t>Embeddings avec all-MiniLM-L6-v2 qu'on a comparé à 2 autres.</a:t>
            </a:r>
          </a:p>
          <a:p>
            <a:r>
              <a:t>Côté LLM, on utilise Gemini 2.5 Flash en prod, et Mistral via OpenRouter en dev avec un fallback.</a:t>
            </a:r>
          </a:p>
          <a:p>
            <a:r>
              <a:t>On a aussi ajouté un fallback DuckDuckGo en bonus, et la base SQLite pour les sessions.</a:t>
            </a:r>
          </a:p>
        </p:txBody>
      </p:sp>
      <p:sp>
        <p:nvSpPr>
          <p:cNvPr id="62" name="Google Shape;6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 name="Google Shape;7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voilà l'archi générale. Le patient écrit dans Streamlit, ça part vers FastAPI qui gère l'auth et les sessions.</a:t>
            </a:r>
          </a:p>
          <a:p>
            <a:r>
              <a:t>Le pipeline RAG va chercher dans ChromaDB qui a indexé tous nos PDFs HAS et INCa.</a:t>
            </a:r>
          </a:p>
          <a:p>
            <a:r>
              <a:t>Si le score est mauvais, on bascule sur DuckDuckGo en filet de sécurité — c'est notre premier bonus.</a:t>
            </a:r>
          </a:p>
          <a:p>
            <a:r>
              <a:t>Le prompt assemblé part au LLM qui renvoie la réponse. Et après, Hermes peut aussi prendre le relais pour orienter vers un spécialiste, c'est notre deuxième bonus.</a:t>
            </a:r>
          </a:p>
          <a:p>
            <a:r>
              <a:t>Important : l'API est jamais exposée publiquement, tout passe par le réseau interne Docker.</a:t>
            </a:r>
          </a:p>
        </p:txBody>
      </p:sp>
      <p:sp>
        <p:nvSpPr>
          <p:cNvPr id="78" name="Google Shape;7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 name="Google Shape;11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moi je prends la suite pour vous expliquer comment on traite les PDFs.</a:t>
            </a:r>
          </a:p>
          <a:p>
            <a:r>
              <a:t>On a 5 PDFs officiels qui couvrent 3 maladies : le diabète, Alzheimer et le cancer du poumon, tous sourcés HAS et INCa.</a:t>
            </a:r>
          </a:p>
          <a:p>
            <a:r>
              <a:t>PyPDFLoader lit page par page. Ensuite on découpe avec RecursiveCharacterTextSplitter en morceaux de 500 caractères avec un chevauchement de 50.</a:t>
            </a:r>
          </a:p>
          <a:p>
            <a:r>
              <a:t>Chaque morceau passe par MiniLM qui le transforme en vecteur de 384 nombres.</a:t>
            </a:r>
          </a:p>
          <a:p>
            <a:r>
              <a:t>Et on stocke le tout dans ChromaDB. Au total ça fait 971 chunks indexés.</a:t>
            </a:r>
          </a:p>
          <a:p>
            <a:r>
              <a:t>Ce qui est important c'est que cette étape se fait une seule fois, au démarrage. Pas à chaque requête.</a:t>
            </a:r>
          </a:p>
        </p:txBody>
      </p:sp>
      <p:sp>
        <p:nvSpPr>
          <p:cNvPr id="127" name="Google Shape;12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Alors pourquoi 50 caractères de chevauchement ? C'est une question qu'on peut se poser.</a:t>
            </a:r>
          </a:p>
          <a:p>
            <a:r>
              <a:t>Sans chevauchement, une phrase clé peut se retrouver coupée en deux entre 2 chunks. Par exemple ici, "repose sur la metfor" / "mine en première intention" — du coup la phrase complète est perdue.</a:t>
            </a:r>
          </a:p>
          <a:p>
            <a:r>
              <a:t>Avec 50 caractères de recouvrement, le chunk suivant recule un peu avant de repartir. Comme ça la phrase "repose sur la metformine" se retrouve intacte dans au moins un chunk.</a:t>
            </a:r>
          </a:p>
          <a:p>
            <a:r>
              <a:t>C'est un petit détail mais ça change la qualité du retrieval.</a:t>
            </a:r>
          </a:p>
        </p:txBody>
      </p:sp>
      <p:sp>
        <p:nvSpPr>
          <p:cNvPr id="159" name="Google Shape;15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MiniLM dans tout ça, c'est quoi son rôle exactement ?</a:t>
            </a:r>
          </a:p>
          <a:p>
            <a:r>
              <a:t>C'est un modèle d'embeddings qui transforme n'importe quel texte en un vecteur de 384 nombres. Et ce vecteur capture le SENS du texte, pas juste les mots.</a:t>
            </a:r>
          </a:p>
          <a:p>
            <a:r>
              <a:t>Donc 500 c'est la taille du chunk en caractères, et 384 c'est la taille du vecteur. C'est fixe peu importe la longueur du texte.</a:t>
            </a:r>
          </a:p>
          <a:p>
            <a:r>
              <a:t>L'exemple : "fièvre" et "température élevée" donnent des vecteurs proches, parce que sémantiquement c'est la même idée.</a:t>
            </a:r>
          </a:p>
          <a:p>
            <a:r>
              <a:t>Et c'est ça qui permet de retrouver les bons passages quand un patient pose une question.</a:t>
            </a:r>
          </a:p>
        </p:txBody>
      </p:sp>
      <p:sp>
        <p:nvSpPr>
          <p:cNvPr id="177" name="Google Shape;17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 name="Google Shape;19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maintenant l'étape 2 : comment ça marche quand un patient pose une vraie question.</a:t>
            </a:r>
          </a:p>
          <a:p>
            <a:r>
              <a:t>La question est convertie en vecteur avec le même MiniLM, c'est important.</a:t>
            </a:r>
          </a:p>
          <a:p>
            <a:r>
              <a:t>ChromaDB cherche les 4 chunks les plus proches sémantiquement. Si le score est mauvais, donc si vraiment rien matche, on bascule sur la recherche web. C'est notre bonus.</a:t>
            </a:r>
          </a:p>
          <a:p>
            <a:r>
              <a:t>Sinon on assemble un prompt avec le contexte des chunks plus l'historique de la conversation.</a:t>
            </a:r>
          </a:p>
          <a:p>
            <a:r>
              <a:t>Et le LLM lit ce prompt et rédige la réponse finale en français.</a:t>
            </a:r>
          </a:p>
        </p:txBody>
      </p:sp>
      <p:sp>
        <p:nvSpPr>
          <p:cNvPr id="200" name="Google Shape;20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Petit point un peu technique sur la similarité. Comment on compare deux vecteurs en fait ?</a:t>
            </a:r>
          </a:p>
          <a:p>
            <a:r>
              <a:t>On utilise la distance L2, c'est la distance euclidienne. Plus le score est BAS, plus c'est pertinent. C'est l'inverse de l'intuition habituelle.</a:t>
            </a:r>
          </a:p>
          <a:p>
            <a:r>
              <a:t>On a fixé RELEVANCE_THRESHOLD à 0.9. Au-dessus de ce seuil, on considère qu'aucun chunk est assez pertinent, et là on bascule sur le web pour ne pas répondre à côté.</a:t>
            </a:r>
          </a:p>
          <a:p>
            <a:r>
              <a:t>Cette distance L2 c'est juste la racine de la somme des carrés des différences sur les 384 dimensions. C'est de la géométrie classique.</a:t>
            </a:r>
          </a:p>
        </p:txBody>
      </p:sp>
      <p:sp>
        <p:nvSpPr>
          <p:cNvPr id="234" name="Google Shape;23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1" name="Google Shape;25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 name="Google Shape;26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moi je prends la suite. On va parler de la comparaison d'encodeurs et du bonus DuckDuckGo.</a:t>
            </a:r>
          </a:p>
          <a:p>
            <a:r>
              <a:t>Pourquoi on a comparé plusieurs encodeurs ? Parce que c'est explicitement demandé dans la SAE, et aussi parce que le choix de l'encodeur change vraiment la qualité de la recherche sémantique.</a:t>
            </a:r>
          </a:p>
          <a:p>
            <a:r>
              <a:t>On a testé 3 modèles sur les mêmes 5 PDFs : MiniLM en 384 dimensions, CamemBERT en 768 spécialisé français, et mpnet en 768 multilingue haute qualité.</a:t>
            </a:r>
          </a:p>
        </p:txBody>
      </p:sp>
      <p:sp>
        <p:nvSpPr>
          <p:cNvPr id="262" name="Google Shape;26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voilà les résultats. MiniLM est le plus rapide, 71 secondes pour indexer nos 971 chunks. Qualité bonne mais parfois distrait par du bruit, genre des citations bibliographiques.</a:t>
            </a:r>
          </a:p>
          <a:p>
            <a:r>
              <a:t>CamemBERT, étant entraîné spécifiquement sur du français, capte mieux le sens médical. Mais c'est 4 fois plus lent à indexer.</a:t>
            </a:r>
          </a:p>
          <a:p>
            <a:r>
              <a:t>Et mpnet, c'est le plus pertinent des 3 sur nos questions test, mais aussi long à indexer.</a:t>
            </a:r>
          </a:p>
          <a:p>
            <a:r>
              <a:t>On a choisi MiniLM en prod pour la rapidité. Les deux autres sont documentés comme alternatives plus précises.</a:t>
            </a:r>
          </a:p>
        </p:txBody>
      </p:sp>
      <p:sp>
        <p:nvSpPr>
          <p:cNvPr id="275" name="Google Shape;2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maintenant le bonus DuckDuckGo. Quand le RAG ne trouve rien de pertinent — score supérieur à notre seuil — on enrichit la réponse avec une vraie recherche web.</a:t>
            </a:r>
          </a:p>
          <a:p>
            <a:r>
              <a:t>Voilà le code, c'est tout simple : on appelle DDGS qui retourne les top 3 résultats, et on injecte titre + extrait + URL dans le prompt.</a:t>
            </a:r>
          </a:p>
          <a:p>
            <a:r>
              <a:t>Ce qui est important c'est que le web c'est un FILET DE SÉCURITÉ, jamais une source par défaut. Et le LLM badge explicitement quand l'info vient du web et pas des PDFs officiels — l'utilisateur sait toujours d'où vient la réponse.</a:t>
            </a:r>
          </a:p>
        </p:txBody>
      </p:sp>
      <p:sp>
        <p:nvSpPr>
          <p:cNvPr id="288" name="Google Shape;28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Petit bug qu'on a rencontré et corrigé, c'est intéressant.</a:t>
            </a:r>
          </a:p>
          <a:p>
            <a:r>
              <a:t>Symptôme : quand un patient tapait "j'ai de la fièvre", DuckDuckGo retournait des résultats Reverso et Collins, donc de la traduction. Pas du tout d'info médicale.</a:t>
            </a:r>
          </a:p>
          <a:p>
            <a:r>
              <a:t>La cause c'est que la phrase brute du patient ressemble à une phrase de manuel de langue.</a:t>
            </a:r>
          </a:p>
          <a:p>
            <a:r>
              <a:t>Le fix qu'on a fait : reformulate_search_query() qui passe d'abord la phrase dans le LLM pour la transformer en requête médicale propre. Donc "j'ai de la fièvre" devient "fievre symptomes causes traitement", et là DuckDuckGo retourne des vrais sites médicaux.</a:t>
            </a:r>
          </a:p>
          <a:p>
            <a:r>
              <a:t>Petit détail mais ça montre qu'on a vraiment testé et débogué l'appli.</a:t>
            </a:r>
          </a:p>
        </p:txBody>
      </p:sp>
      <p:sp>
        <p:nvSpPr>
          <p:cNvPr id="304" name="Google Shape;30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8" name="Google Shape;328;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 name="Google Shape;33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Donc moi je prends la fin. On va parler de Hermes, du déploiement et faire la démo.</a:t>
            </a:r>
          </a:p>
          <a:p>
            <a:r>
              <a:t>Hermes c'est notre deuxième bonus, c'est un orchestrateur multi-agents. L'idée : après une réponse du chatbot, le patient peut demander à voir un spécialiste.</a:t>
            </a:r>
          </a:p>
          <a:p>
            <a:r>
              <a:t>On a 3 sous-agents : recommend_specialist qui analyse la conversation pour déterminer le type de médecin, list_available_doctors qui liste les créneaux, et book_appointment qui réserve.</a:t>
            </a:r>
          </a:p>
          <a:p>
            <a:r>
              <a:t>Hermes 405B via OpenRouter en dev, avec un fallback automatique. En prod, on tombe directement sur Gemini.</a:t>
            </a:r>
          </a:p>
          <a:p>
            <a:r>
              <a:t>Ce qui fait Hermes intéressant c'est qu'on va au-delà du simple Q et A : on propose une action concrète après le diagnostic informatif.</a:t>
            </a:r>
          </a:p>
        </p:txBody>
      </p:sp>
      <p:sp>
        <p:nvSpPr>
          <p:cNvPr id="339" name="Google Shape;33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Côté sécurité maintenant, on a fait attention à pas faire n'importe quoi.</a:t>
            </a:r>
          </a:p>
          <a:p>
            <a:r>
              <a:t>Pas de diagnostic : c'est rappelé dans chaque prompt envoyé au LLM. Le système refuse de poser un diagnostic.</a:t>
            </a:r>
          </a:p>
          <a:p>
            <a:r>
              <a:t>Traçabilité : chaque réponse a un badge "documents officiels" ou "web", l'utilisateur sait toujours d'où vient l'info.</a:t>
            </a:r>
          </a:p>
          <a:p>
            <a:r>
              <a:t>Les limites qu'on assume : périmètre limité à 3 pathologies pour l'instant, et un quota LLM gratuit d'environ 1000 requêtes par jour. La ChromaDB et la SQLite sont sur un volume Docker persistant, donc pas de perte au redéploiement.</a:t>
            </a:r>
          </a:p>
        </p:txBody>
      </p:sp>
      <p:sp>
        <p:nvSpPr>
          <p:cNvPr id="366" name="Google Shape;36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Pour le déploiement maintenant. L'URL c'est sae.amanawebagency.com.</a:t>
            </a:r>
          </a:p>
          <a:p>
            <a:r>
              <a:t>On a Caddy en reverse proxy avec HTTPS automatique via Let's Encrypt.</a:t>
            </a:r>
          </a:p>
          <a:p>
            <a:r>
              <a:t>Derrière Caddy, 3 containers Docker : un nginx qui sert le site landing à la racine, Streamlit qui sert le chatbot sur slash app, et FastAPI qui est totalement interne au réseau Docker — jamais exposé.</a:t>
            </a:r>
          </a:p>
          <a:p>
            <a:r>
              <a:t>ChromaDB et SQLite sur un volume persistant.</a:t>
            </a:r>
          </a:p>
          <a:p>
            <a:r>
              <a:t>C'est de la VRAIE infra de production, pas un tier gratuit jetable. C'est mutualisé avec les autres services Amana.</a:t>
            </a:r>
          </a:p>
        </p:txBody>
      </p:sp>
      <p:sp>
        <p:nvSpPr>
          <p:cNvPr id="388" name="Google Shape;388;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Et pour la démo, on va vous montrer 3 scénarios.</a:t>
            </a:r>
          </a:p>
          <a:p>
            <a:r>
              <a:t>D'abord une question dans le périmètre, par exemple sur le diabète. Vous allez voir la réponse arriver avec le badge "documents officiels".</a:t>
            </a:r>
          </a:p>
          <a:p>
            <a:r>
              <a:t>Puis une question hors périmètre, genre la grippe. Là on bascule sur le web, et le badge devient "recherche web" avec les sources citées.</a:t>
            </a:r>
          </a:p>
          <a:p>
            <a:r>
              <a:t>Et enfin Hermes — on clique sur le bouton, il recommande un spécialiste, et on peut prendre rendez-vous avec un vrai formulaire détaillé.</a:t>
            </a:r>
          </a:p>
        </p:txBody>
      </p:sp>
      <p:sp>
        <p:nvSpPr>
          <p:cNvPr id="411" name="Google Shape;4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En résumé, les compétences qu'on a mobilisées :</a:t>
            </a:r>
          </a:p>
          <a:p>
            <a:r>
              <a:t>Full stack avec FastAPI, Streamlit, JWT et SQLAlchemy.</a:t>
            </a:r>
          </a:p>
          <a:p>
            <a:r>
              <a:t>IA et LLM : RAG, embeddings, prompt engineering, comparaison de modèles.</a:t>
            </a:r>
          </a:p>
          <a:p>
            <a:r>
              <a:t>Esprit critique : on a réfléchi aux limites du RAG, au seuil de pertinence, à la sécurité, au fait qu'on ne fait pas de diagnostic.</a:t>
            </a:r>
          </a:p>
          <a:p>
            <a:r>
              <a:t>Et DevOps : Docker, reverse proxy Caddy, et un déploiement réel en production, pas une démo jetable.</a:t>
            </a:r>
          </a:p>
          <a:p>
            <a:r>
              <a:t>Voilà, c'est tout cohérent et ça tient debout.</a:t>
            </a:r>
          </a:p>
        </p:txBody>
      </p:sp>
      <p:sp>
        <p:nvSpPr>
          <p:cNvPr id="436" name="Google Shape;43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Voilà, on en a fini. Merci pour votre attention.</a:t>
            </a:r>
          </a:p>
          <a:p>
            <a:r>
              <a:t>On reste dispo pour toutes vos questions, chacun sur sa partie.</a:t>
            </a:r>
          </a:p>
          <a:p>
            <a:r>
              <a:t>Si vous voulez tester l'appli vous-même pendant les questions, l'URL est là, sae.amanawebagency.com, ou scannez le QR code à droite.</a:t>
            </a:r>
          </a:p>
          <a:p>
            <a:r>
              <a:t>Et notre dépôt GitHub est aussi disponible.</a:t>
            </a:r>
          </a:p>
        </p:txBody>
      </p:sp>
      <p:sp>
        <p:nvSpPr>
          <p:cNvPr id="458" name="Google Shape;45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Et bonus du bonus : on a poussé Hermes côté praticien aussi.</a:t>
            </a:r>
          </a:p>
          <a:p>
            <a:r>
              <a:t>Quand un patient prend un rendez-vous, le médecin reçoit automatiquement une notification dans son groupe Telegram. Et il peut interroger Hermes en retour avec des commandes : /aide, /rdv_aujourdhui, /rdv_demain, ou même en langage naturel via Gemini.</a:t>
            </a:r>
          </a:p>
          <a:p>
            <a:r>
              <a:t>Pour la démo on a 2 groupes Telegram : Dr Lefebvre neurologue et Dr Benyahia endocrinologue. Mais l'infra est prête pour N praticiens.</a:t>
            </a:r>
          </a:p>
          <a:p>
            <a:r>
              <a:t>Chaque groupe Telegram correspond à un seul médecin via le mapping Doctor.telegram_chat_id. Cloisonnement strict.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a aussi pas voulu balancer Streamlit nu à l'utilisateur. Donc on a fait un site landing MediGuide à la racine, et le chatbot est intégré dedans via une page slash consulter avec iframe.</a:t>
            </a:r>
          </a:p>
          <a:p>
            <a:r>
              <a:t>Comme ça l'utilisateur arrive sur un vrai site contextualisé, voit la mission, les sources, le disclaimer, puis lance l'assistant. C'est plus pro qu'un Streamlit qui démarre direct.</a:t>
            </a:r>
          </a:p>
          <a:p>
            <a:r>
              <a:t>On a aussi harmonisé tout le visuel — même palette teal, même font Inter — entre le site et le chatbot pour que ça fasse cohérent.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Petit récap de la cohérence UX qu'on a soignée.</a:t>
            </a:r>
          </a:p>
          <a:p>
            <a:r>
              <a:t>Cohérence visuelle : même palette teal et même font Inter entre site et chatbot.</a:t>
            </a:r>
          </a:p>
          <a:p>
            <a:r>
              <a:t>Badges de sources : chaque réponse affiche d'où vient l'info, documents officiels ou recherche web.</a:t>
            </a:r>
          </a:p>
          <a:p>
            <a:r>
              <a:t>Mes rendez-vous : section permanente dans la sidebar, l'utilisateur retrouve ses RDV à chaque visite.</a:t>
            </a:r>
          </a:p>
          <a:p>
            <a:r>
              <a:t>Et auto-rename des sessions : le titre devient les premiers caractères du message, comme ça la sidebar reste lisible.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15" name="Shape 15"/>
        <p:cNvGrpSpPr/>
        <p:nvPr/>
      </p:nvGrpSpPr>
      <p:grpSpPr>
        <a:xfrm>
          <a:off x="0" y="0"/>
          <a:ext cx="0" cy="0"/>
          <a:chOff x="0" y="0"/>
          <a:chExt cx="0" cy="0"/>
        </a:xfrm>
      </p:grpSpPr>
      <p:sp>
        <p:nvSpPr>
          <p:cNvPr id="16" name="Google Shape;16;p1"/>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0" y="5001768"/>
            <a:ext cx="9144000" cy="141732"/>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1"/>
          <p:cNvSpPr/>
          <p:nvPr/>
        </p:nvSpPr>
        <p:spPr>
          <a:xfrm>
            <a:off x="548640" y="914400"/>
            <a:ext cx="8321040" cy="1005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4600"/>
              <a:buFont typeface="Calibri"/>
              <a:buNone/>
            </a:pPr>
            <a:r>
              <a:rPr b="1" i="0" lang="en-US" sz="4600" u="none" cap="none" strike="noStrike">
                <a:solidFill>
                  <a:srgbClr val="FFFFFF"/>
                </a:solidFill>
                <a:latin typeface="Calibri"/>
                <a:ea typeface="Calibri"/>
                <a:cs typeface="Calibri"/>
                <a:sym typeface="Calibri"/>
              </a:rPr>
              <a:t>Chatbot médical RAG</a:t>
            </a:r>
            <a:endParaRPr b="0" i="0" sz="4600" u="none" cap="none" strike="noStrike">
              <a:solidFill>
                <a:schemeClr val="dk1"/>
              </a:solidFill>
              <a:latin typeface="Calibri"/>
              <a:ea typeface="Calibri"/>
              <a:cs typeface="Calibri"/>
              <a:sym typeface="Calibri"/>
            </a:endParaRPr>
          </a:p>
        </p:txBody>
      </p:sp>
      <p:sp>
        <p:nvSpPr>
          <p:cNvPr id="19" name="Google Shape;19;p1"/>
          <p:cNvSpPr/>
          <p:nvPr/>
        </p:nvSpPr>
        <p:spPr>
          <a:xfrm>
            <a:off x="548640" y="1965960"/>
            <a:ext cx="832104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700"/>
              <a:buFont typeface="Calibri"/>
              <a:buNone/>
            </a:pPr>
            <a:r>
              <a:rPr b="0" i="0" lang="en-US" sz="1700" u="none" cap="none" strike="noStrike">
                <a:solidFill>
                  <a:srgbClr val="CCFBF1"/>
                </a:solidFill>
                <a:latin typeface="Calibri"/>
                <a:ea typeface="Calibri"/>
                <a:cs typeface="Calibri"/>
                <a:sym typeface="Calibri"/>
              </a:rPr>
              <a:t>Un assistant informatif basé sur des documents officiels (HAS / INCa)</a:t>
            </a:r>
            <a:endParaRPr b="0" i="0" sz="1700" u="none" cap="none" strike="noStrike">
              <a:solidFill>
                <a:schemeClr val="dk1"/>
              </a:solidFill>
              <a:latin typeface="Calibri"/>
              <a:ea typeface="Calibri"/>
              <a:cs typeface="Calibri"/>
              <a:sym typeface="Calibri"/>
            </a:endParaRPr>
          </a:p>
        </p:txBody>
      </p:sp>
      <p:sp>
        <p:nvSpPr>
          <p:cNvPr id="20" name="Google Shape;20;p1"/>
          <p:cNvSpPr/>
          <p:nvPr/>
        </p:nvSpPr>
        <p:spPr>
          <a:xfrm>
            <a:off x="2926080" y="2578608"/>
            <a:ext cx="329184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1"/>
          <p:cNvSpPr/>
          <p:nvPr/>
        </p:nvSpPr>
        <p:spPr>
          <a:xfrm>
            <a:off x="548640" y="2743200"/>
            <a:ext cx="832104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SAE BUT3 Informatique — S6 — Mr FAYE &amp; Mme AZZAG</a:t>
            </a:r>
            <a:endParaRPr b="0" i="0" sz="1300" u="none" cap="none" strike="noStrike">
              <a:solidFill>
                <a:schemeClr val="dk1"/>
              </a:solidFill>
              <a:latin typeface="Calibri"/>
              <a:ea typeface="Calibri"/>
              <a:cs typeface="Calibri"/>
              <a:sym typeface="Calibri"/>
            </a:endParaRPr>
          </a:p>
        </p:txBody>
      </p:sp>
      <p:sp>
        <p:nvSpPr>
          <p:cNvPr id="22" name="Google Shape;22;p1"/>
          <p:cNvSpPr/>
          <p:nvPr/>
        </p:nvSpPr>
        <p:spPr>
          <a:xfrm>
            <a:off x="548640" y="3154680"/>
            <a:ext cx="832104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500"/>
              <a:buFont typeface="Calibri"/>
              <a:buNone/>
            </a:pPr>
            <a:r>
              <a:rPr b="1" i="0" lang="en-US" sz="1500" u="none" cap="none" strike="noStrike">
                <a:solidFill>
                  <a:srgbClr val="CCFBF1"/>
                </a:solidFill>
                <a:latin typeface="Calibri"/>
                <a:ea typeface="Calibri"/>
                <a:cs typeface="Calibri"/>
                <a:sym typeface="Calibri"/>
              </a:rPr>
              <a:t>Yousra  ·  Imane  ·  Yannis  ·  Grace</a:t>
            </a:r>
            <a:endParaRPr b="0" i="0" sz="1500" u="none" cap="none" strike="noStrike">
              <a:solidFill>
                <a:schemeClr val="dk1"/>
              </a:solidFill>
              <a:latin typeface="Calibri"/>
              <a:ea typeface="Calibri"/>
              <a:cs typeface="Calibri"/>
              <a:sym typeface="Calibri"/>
            </a:endParaRPr>
          </a:p>
        </p:txBody>
      </p:sp>
      <p:sp>
        <p:nvSpPr>
          <p:cNvPr id="23" name="Google Shape;23;p1"/>
          <p:cNvSpPr/>
          <p:nvPr/>
        </p:nvSpPr>
        <p:spPr>
          <a:xfrm>
            <a:off x="548640" y="3657600"/>
            <a:ext cx="8321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100"/>
              <a:buFont typeface="Calibri"/>
              <a:buNone/>
            </a:pPr>
            <a:r>
              <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28" name="Shape 28"/>
        <p:cNvGrpSpPr/>
        <p:nvPr/>
      </p:nvGrpSpPr>
      <p:grpSpPr>
        <a:xfrm>
          <a:off x="0" y="0"/>
          <a:ext cx="0" cy="0"/>
          <a:chOff x="0" y="0"/>
          <a:chExt cx="0" cy="0"/>
        </a:xfrm>
      </p:grpSpPr>
      <p:sp>
        <p:nvSpPr>
          <p:cNvPr id="29" name="Google Shape;29;p6"/>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6"/>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6"/>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1</a:t>
            </a:r>
            <a:endParaRPr b="0" i="0" sz="1200" u="none" cap="none" strike="noStrike">
              <a:solidFill>
                <a:schemeClr val="dk1"/>
              </a:solidFill>
              <a:latin typeface="Calibri"/>
              <a:ea typeface="Calibri"/>
              <a:cs typeface="Calibri"/>
              <a:sym typeface="Calibri"/>
            </a:endParaRPr>
          </a:p>
        </p:txBody>
      </p:sp>
      <p:sp>
        <p:nvSpPr>
          <p:cNvPr id="32" name="Google Shape;32;p6"/>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Contexte &amp; Architecture</a:t>
            </a:r>
            <a:endParaRPr b="0" i="0" sz="3200" u="none" cap="none" strike="noStrike">
              <a:solidFill>
                <a:schemeClr val="dk1"/>
              </a:solidFill>
              <a:latin typeface="Calibri"/>
              <a:ea typeface="Calibri"/>
              <a:cs typeface="Calibri"/>
              <a:sym typeface="Calibri"/>
            </a:endParaRPr>
          </a:p>
        </p:txBody>
      </p:sp>
      <p:sp>
        <p:nvSpPr>
          <p:cNvPr id="33" name="Google Shape;33;p6"/>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6"/>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Grace</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9" name="Shape 39"/>
        <p:cNvGrpSpPr/>
        <p:nvPr/>
      </p:nvGrpSpPr>
      <p:grpSpPr>
        <a:xfrm>
          <a:off x="0" y="0"/>
          <a:ext cx="0" cy="0"/>
          <a:chOff x="0" y="0"/>
          <a:chExt cx="0" cy="0"/>
        </a:xfrm>
      </p:grpSpPr>
      <p:sp>
        <p:nvSpPr>
          <p:cNvPr id="40" name="Google Shape;40;p2"/>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3" name="Google Shape;43;p2"/>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Le besoin</a:t>
            </a:r>
            <a:endParaRPr b="0" i="0" sz="2200" u="none" cap="none" strike="noStrike">
              <a:solidFill>
                <a:schemeClr val="dk1"/>
              </a:solidFill>
              <a:latin typeface="Calibri"/>
              <a:ea typeface="Calibri"/>
              <a:cs typeface="Calibri"/>
              <a:sym typeface="Calibri"/>
            </a:endParaRPr>
          </a:p>
        </p:txBody>
      </p:sp>
      <p:sp>
        <p:nvSpPr>
          <p:cNvPr id="44" name="Google Shape;44;p2"/>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a:t>
            </a:r>
            <a:endParaRPr b="0" i="0" sz="1000" u="none" cap="none" strike="noStrike">
              <a:solidFill>
                <a:schemeClr val="dk1"/>
              </a:solidFill>
              <a:latin typeface="Calibri"/>
              <a:ea typeface="Calibri"/>
              <a:cs typeface="Calibri"/>
              <a:sym typeface="Calibri"/>
            </a:endParaRPr>
          </a:p>
        </p:txBody>
      </p:sp>
      <p:sp>
        <p:nvSpPr>
          <p:cNvPr id="45" name="Google Shape;45;p2"/>
          <p:cNvSpPr/>
          <p:nvPr/>
        </p:nvSpPr>
        <p:spPr>
          <a:xfrm>
            <a:off x="457200" y="1143000"/>
            <a:ext cx="64008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457200" y="1143000"/>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01</a:t>
            </a:r>
            <a:endParaRPr b="0" i="0" sz="1800" u="none" cap="none" strike="noStrike">
              <a:solidFill>
                <a:schemeClr val="dk1"/>
              </a:solidFill>
              <a:latin typeface="Calibri"/>
              <a:ea typeface="Calibri"/>
              <a:cs typeface="Calibri"/>
              <a:sym typeface="Calibri"/>
            </a:endParaRPr>
          </a:p>
        </p:txBody>
      </p:sp>
      <p:sp>
        <p:nvSpPr>
          <p:cNvPr id="47" name="Google Shape;47;p2"/>
          <p:cNvSpPr/>
          <p:nvPr/>
        </p:nvSpPr>
        <p:spPr>
          <a:xfrm>
            <a:off x="1234440" y="1143000"/>
            <a:ext cx="745236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1371600" y="1143000"/>
            <a:ext cx="7223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Un patient veut une info médicale rapide et fiable</a:t>
            </a:r>
            <a:endParaRPr b="0" i="0" sz="1500" u="none" cap="none" strike="noStrike">
              <a:solidFill>
                <a:schemeClr val="dk1"/>
              </a:solidFill>
              <a:latin typeface="Calibri"/>
              <a:ea typeface="Calibri"/>
              <a:cs typeface="Calibri"/>
              <a:sym typeface="Calibri"/>
            </a:endParaRPr>
          </a:p>
        </p:txBody>
      </p:sp>
      <p:sp>
        <p:nvSpPr>
          <p:cNvPr id="49" name="Google Shape;49;p2"/>
          <p:cNvSpPr/>
          <p:nvPr/>
        </p:nvSpPr>
        <p:spPr>
          <a:xfrm>
            <a:off x="457200" y="2057400"/>
            <a:ext cx="64008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457200" y="2057400"/>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02</a:t>
            </a:r>
            <a:endParaRPr b="0" i="0" sz="1800" u="none" cap="none" strike="noStrike">
              <a:solidFill>
                <a:schemeClr val="dk1"/>
              </a:solidFill>
              <a:latin typeface="Calibri"/>
              <a:ea typeface="Calibri"/>
              <a:cs typeface="Calibri"/>
              <a:sym typeface="Calibri"/>
            </a:endParaRPr>
          </a:p>
        </p:txBody>
      </p:sp>
      <p:sp>
        <p:nvSpPr>
          <p:cNvPr id="51" name="Google Shape;51;p2"/>
          <p:cNvSpPr/>
          <p:nvPr/>
        </p:nvSpPr>
        <p:spPr>
          <a:xfrm>
            <a:off x="1234440" y="2057400"/>
            <a:ext cx="7452360" cy="64008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1371600" y="2057400"/>
            <a:ext cx="7223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Un LLM seul peut halluciner — inventer des informations médicales fausses</a:t>
            </a:r>
            <a:endParaRPr b="0" i="0" sz="1500" u="none" cap="none" strike="noStrike">
              <a:solidFill>
                <a:schemeClr val="dk1"/>
              </a:solidFill>
              <a:latin typeface="Calibri"/>
              <a:ea typeface="Calibri"/>
              <a:cs typeface="Calibri"/>
              <a:sym typeface="Calibri"/>
            </a:endParaRPr>
          </a:p>
        </p:txBody>
      </p:sp>
      <p:sp>
        <p:nvSpPr>
          <p:cNvPr id="53" name="Google Shape;53;p2"/>
          <p:cNvSpPr/>
          <p:nvPr/>
        </p:nvSpPr>
        <p:spPr>
          <a:xfrm>
            <a:off x="457200" y="2971800"/>
            <a:ext cx="64008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457200" y="2971800"/>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03</a:t>
            </a:r>
            <a:endParaRPr b="0" i="0" sz="1800" u="none" cap="none" strike="noStrike">
              <a:solidFill>
                <a:schemeClr val="dk1"/>
              </a:solidFill>
              <a:latin typeface="Calibri"/>
              <a:ea typeface="Calibri"/>
              <a:cs typeface="Calibri"/>
              <a:sym typeface="Calibri"/>
            </a:endParaRPr>
          </a:p>
        </p:txBody>
      </p:sp>
      <p:sp>
        <p:nvSpPr>
          <p:cNvPr id="55" name="Google Shape;55;p2"/>
          <p:cNvSpPr/>
          <p:nvPr/>
        </p:nvSpPr>
        <p:spPr>
          <a:xfrm>
            <a:off x="1234440" y="2971800"/>
            <a:ext cx="745236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1371600" y="2971800"/>
            <a:ext cx="7223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Objectif : un chatbot qui répond à partir de sources officielles, pas de sa mémoire générale</a:t>
            </a:r>
            <a:endParaRPr b="0" i="0" sz="1500" u="none" cap="none" strike="noStrike">
              <a:solidFill>
                <a:schemeClr val="dk1"/>
              </a:solidFill>
              <a:latin typeface="Calibri"/>
              <a:ea typeface="Calibri"/>
              <a:cs typeface="Calibri"/>
              <a:sym typeface="Calibri"/>
            </a:endParaRPr>
          </a:p>
        </p:txBody>
      </p:sp>
      <p:sp>
        <p:nvSpPr>
          <p:cNvPr id="57" name="Google Shape;57;p2"/>
          <p:cNvSpPr/>
          <p:nvPr/>
        </p:nvSpPr>
        <p:spPr>
          <a:xfrm>
            <a:off x="457200" y="4160520"/>
            <a:ext cx="8229600" cy="59436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457200" y="4160520"/>
            <a:ext cx="822960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1" i="0" lang="en-US" sz="1400" u="none" cap="none" strike="noStrike">
                <a:solidFill>
                  <a:srgbClr val="CCFBF1"/>
                </a:solidFill>
                <a:latin typeface="Calibri"/>
                <a:ea typeface="Calibri"/>
                <a:cs typeface="Calibri"/>
                <a:sym typeface="Calibri"/>
              </a:rPr>
              <a:t>Domaine choisi : informatif uniquement — pas de diagnostic</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63" name="Shape 63"/>
        <p:cNvGrpSpPr/>
        <p:nvPr/>
      </p:nvGrpSpPr>
      <p:grpSpPr>
        <a:xfrm>
          <a:off x="0" y="0"/>
          <a:ext cx="0" cy="0"/>
          <a:chOff x="0" y="0"/>
          <a:chExt cx="0" cy="0"/>
        </a:xfrm>
      </p:grpSpPr>
      <p:sp>
        <p:nvSpPr>
          <p:cNvPr id="64" name="Google Shape;64;p3"/>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3"/>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67" name="Google Shape;67;p3"/>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Pourquoi un LLM "tout fait" et pas créé from scratch ?</a:t>
            </a:r>
            <a:endParaRPr b="0" i="0" sz="2200" u="none" cap="none" strike="noStrike">
              <a:solidFill>
                <a:schemeClr val="dk1"/>
              </a:solidFill>
              <a:latin typeface="Calibri"/>
              <a:ea typeface="Calibri"/>
              <a:cs typeface="Calibri"/>
              <a:sym typeface="Calibri"/>
            </a:endParaRPr>
          </a:p>
        </p:txBody>
      </p:sp>
      <p:sp>
        <p:nvSpPr>
          <p:cNvPr id="68" name="Google Shape;68;p3"/>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3</a:t>
            </a:r>
            <a:endParaRPr b="0" i="0" sz="1000" u="none" cap="none" strike="noStrike">
              <a:solidFill>
                <a:schemeClr val="dk1"/>
              </a:solidFill>
              <a:latin typeface="Calibri"/>
              <a:ea typeface="Calibri"/>
              <a:cs typeface="Calibri"/>
              <a:sym typeface="Calibri"/>
            </a:endParaRPr>
          </a:p>
        </p:txBody>
      </p:sp>
      <p:sp>
        <p:nvSpPr>
          <p:cNvPr id="69" name="Google Shape;69;p3"/>
          <p:cNvSpPr/>
          <p:nvPr/>
        </p:nvSpPr>
        <p:spPr>
          <a:xfrm>
            <a:off x="457200" y="105156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400"/>
              <a:buFont typeface="Calibri"/>
              <a:buNone/>
            </a:pPr>
            <a:r>
              <a:rPr b="0" i="1" lang="en-US" sz="1400" u="none" cap="none" strike="noStrike">
                <a:solidFill>
                  <a:srgbClr val="475569"/>
                </a:solidFill>
                <a:latin typeface="Calibri"/>
                <a:ea typeface="Calibri"/>
                <a:cs typeface="Calibri"/>
                <a:sym typeface="Calibri"/>
              </a:rPr>
              <a:t>La SAE ne demande pas d'inventer un LLM — hors de portée en BUT3.</a:t>
            </a:r>
            <a:endParaRPr b="0" i="0" sz="1400" u="none" cap="none" strike="noStrike">
              <a:solidFill>
                <a:schemeClr val="dk1"/>
              </a:solidFill>
              <a:latin typeface="Calibri"/>
              <a:ea typeface="Calibri"/>
              <a:cs typeface="Calibri"/>
              <a:sym typeface="Calibri"/>
            </a:endParaRPr>
          </a:p>
        </p:txBody>
      </p:sp>
      <p:sp>
        <p:nvSpPr>
          <p:cNvPr id="70" name="Google Shape;70;p3"/>
          <p:cNvSpPr/>
          <p:nvPr/>
        </p:nvSpPr>
        <p:spPr>
          <a:xfrm>
            <a:off x="457200" y="1508760"/>
            <a:ext cx="73152" cy="77724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3"/>
          <p:cNvSpPr/>
          <p:nvPr/>
        </p:nvSpPr>
        <p:spPr>
          <a:xfrm>
            <a:off x="530352" y="1508760"/>
            <a:ext cx="8156448" cy="77724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3"/>
          <p:cNvSpPr/>
          <p:nvPr/>
        </p:nvSpPr>
        <p:spPr>
          <a:xfrm>
            <a:off x="685800" y="1508760"/>
            <a:ext cx="795528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Analogie : on ne réinvente pas le moteur d'une voiture,</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on construit le châssis, la direction, le tableau de bord.</a:t>
            </a:r>
            <a:endParaRPr b="0" i="0" sz="1400" u="none" cap="none" strike="noStrike">
              <a:solidFill>
                <a:schemeClr val="dk1"/>
              </a:solidFill>
              <a:latin typeface="Calibri"/>
              <a:ea typeface="Calibri"/>
              <a:cs typeface="Calibri"/>
              <a:sym typeface="Calibri"/>
            </a:endParaRPr>
          </a:p>
        </p:txBody>
      </p:sp>
      <p:sp>
        <p:nvSpPr>
          <p:cNvPr id="73" name="Google Shape;73;p3"/>
          <p:cNvSpPr/>
          <p:nvPr/>
        </p:nvSpPr>
        <p:spPr>
          <a:xfrm>
            <a:off x="457200" y="2423160"/>
            <a:ext cx="82296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1" i="0" lang="en-US" sz="1500" u="none" cap="none" strike="noStrike">
                <a:solidFill>
                  <a:srgbClr val="0F172A"/>
                </a:solidFill>
                <a:latin typeface="Calibri"/>
                <a:ea typeface="Calibri"/>
                <a:cs typeface="Calibri"/>
                <a:sym typeface="Calibri"/>
              </a:rPr>
              <a:t>Le vrai travail réalisé :</a:t>
            </a:r>
            <a:endParaRPr b="0" i="0" sz="1500" u="none" cap="none" strike="noStrike">
              <a:solidFill>
                <a:schemeClr val="dk1"/>
              </a:solidFill>
              <a:latin typeface="Calibri"/>
              <a:ea typeface="Calibri"/>
              <a:cs typeface="Calibri"/>
              <a:sym typeface="Calibri"/>
            </a:endParaRPr>
          </a:p>
        </p:txBody>
      </p:sp>
      <p:sp>
        <p:nvSpPr>
          <p:cNvPr id="74" name="Google Shape;74;p3"/>
          <p:cNvSpPr/>
          <p:nvPr/>
        </p:nvSpPr>
        <p:spPr>
          <a:xfrm>
            <a:off x="640080" y="2834640"/>
            <a:ext cx="804672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Pipeline RAG : extraction, chunking, indexation, recherche vectorielle</a:t>
            </a:r>
            <a:endParaRPr b="0" i="0" sz="15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Backend FastAPI, authentification JWT, gestion des sessions et de l'historique</a:t>
            </a:r>
            <a:endParaRPr b="0" i="0" sz="15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Prompt engineering : contexte, historique, domaine restreint</a:t>
            </a:r>
            <a:endParaRPr b="0" i="0" sz="15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0F172A"/>
              </a:buClr>
              <a:buSzPts val="1500"/>
              <a:buFont typeface="Calibri"/>
              <a:buChar char="•"/>
            </a:pPr>
            <a:r>
              <a:rPr b="0" i="0" lang="en-US" sz="1500" u="none" cap="none" strike="noStrike">
                <a:solidFill>
                  <a:srgbClr val="0F172A"/>
                </a:solidFill>
                <a:latin typeface="Calibri"/>
                <a:ea typeface="Calibri"/>
                <a:cs typeface="Calibri"/>
                <a:sym typeface="Calibri"/>
              </a:rPr>
              <a:t>Comparaison d'encodeurs et de LLMs</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79" name="Shape 79"/>
        <p:cNvGrpSpPr/>
        <p:nvPr/>
      </p:nvGrpSpPr>
      <p:grpSpPr>
        <a:xfrm>
          <a:off x="0" y="0"/>
          <a:ext cx="0" cy="0"/>
          <a:chOff x="0" y="0"/>
          <a:chExt cx="0" cy="0"/>
        </a:xfrm>
      </p:grpSpPr>
      <p:sp>
        <p:nvSpPr>
          <p:cNvPr id="80" name="Google Shape;80;p4"/>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83" name="Google Shape;83;p4"/>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Stack technique</a:t>
            </a:r>
            <a:endParaRPr b="0" i="0" sz="2200" u="none" cap="none" strike="noStrike">
              <a:solidFill>
                <a:schemeClr val="dk1"/>
              </a:solidFill>
              <a:latin typeface="Calibri"/>
              <a:ea typeface="Calibri"/>
              <a:cs typeface="Calibri"/>
              <a:sym typeface="Calibri"/>
            </a:endParaRPr>
          </a:p>
        </p:txBody>
      </p:sp>
      <p:sp>
        <p:nvSpPr>
          <p:cNvPr id="84" name="Google Shape;84;p4"/>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4</a:t>
            </a:r>
            <a:endParaRPr b="0" i="0" sz="1000" u="none" cap="none" strike="noStrike">
              <a:solidFill>
                <a:schemeClr val="dk1"/>
              </a:solidFill>
              <a:latin typeface="Calibri"/>
              <a:ea typeface="Calibri"/>
              <a:cs typeface="Calibri"/>
              <a:sym typeface="Calibri"/>
            </a:endParaRPr>
          </a:p>
        </p:txBody>
      </p:sp>
      <p:graphicFrame>
        <p:nvGraphicFramePr>
          <p:cNvPr id="85" name="Google Shape;85;p4"/>
          <p:cNvGraphicFramePr/>
          <p:nvPr/>
        </p:nvGraphicFramePr>
        <p:xfrm>
          <a:off x="457200" y="1051560"/>
          <a:ext cx="3000000" cy="3000000"/>
        </p:xfrm>
        <a:graphic>
          <a:graphicData uri="http://schemas.openxmlformats.org/drawingml/2006/table">
            <a:tbl>
              <a:tblPr>
                <a:noFill/>
                <a:tableStyleId>{C3374D3B-CAC8-4FC6-B79D-81F7425B36E4}</a:tableStyleId>
              </a:tblPr>
              <a:tblGrid>
                <a:gridCol w="2286000"/>
                <a:gridCol w="5943600"/>
              </a:tblGrid>
              <a:tr h="431800">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rPr>
                        <a:t>Couche</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rPr>
                        <a:t>Technologie</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Frontend</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Streamlit</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Backend</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FastAPI + SQLAlchemy</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Auth</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JWT (bcrypt + PyJOSE)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RAG</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LangChain + ChromaDB</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Embeddings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all-MiniLM-L6-v2 (comparé à 2 autres)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LLM</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Gemini 2.5 Flash (prod) / Mistral via OpenRouter (dev)</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Recherche web</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DuckDuckGo (ddgs) — bonus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4318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Base de données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SQLite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bl>
          </a:graphicData>
        </a:graphic>
      </p:graphicFrame>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90" name="Shape 90"/>
        <p:cNvGrpSpPr/>
        <p:nvPr/>
      </p:nvGrpSpPr>
      <p:grpSpPr>
        <a:xfrm>
          <a:off x="0" y="0"/>
          <a:ext cx="0" cy="0"/>
          <a:chOff x="0" y="0"/>
          <a:chExt cx="0" cy="0"/>
        </a:xfrm>
      </p:grpSpPr>
      <p:sp>
        <p:nvSpPr>
          <p:cNvPr id="91" name="Google Shape;91;p5"/>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5"/>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5"/>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Architecture générale</a:t>
            </a:r>
            <a:endParaRPr b="0" i="0" sz="2200" u="none" cap="none" strike="noStrike">
              <a:solidFill>
                <a:schemeClr val="dk1"/>
              </a:solidFill>
              <a:latin typeface="Calibri"/>
              <a:ea typeface="Calibri"/>
              <a:cs typeface="Calibri"/>
              <a:sym typeface="Calibri"/>
            </a:endParaRPr>
          </a:p>
        </p:txBody>
      </p:sp>
      <p:sp>
        <p:nvSpPr>
          <p:cNvPr id="95" name="Google Shape;95;p5"/>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5</a:t>
            </a:r>
            <a:endParaRPr b="0" i="0" sz="1000" u="none" cap="none" strike="noStrike">
              <a:solidFill>
                <a:schemeClr val="dk1"/>
              </a:solidFill>
              <a:latin typeface="Calibri"/>
              <a:ea typeface="Calibri"/>
              <a:cs typeface="Calibri"/>
              <a:sym typeface="Calibri"/>
            </a:endParaRPr>
          </a:p>
        </p:txBody>
      </p:sp>
      <p:sp>
        <p:nvSpPr>
          <p:cNvPr id="96" name="Google Shape;96;p5"/>
          <p:cNvSpPr/>
          <p:nvPr/>
        </p:nvSpPr>
        <p:spPr>
          <a:xfrm>
            <a:off x="1645920" y="1097280"/>
            <a:ext cx="5303520" cy="566928"/>
          </a:xfrm>
          <a:prstGeom prst="rect">
            <a:avLst/>
          </a:prstGeom>
          <a:solidFill>
            <a:srgbClr val="134E4A"/>
          </a:solidFill>
          <a:ln cap="flat" cmpd="sng" w="12700">
            <a:solidFill>
              <a:srgbClr val="134E4A"/>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5"/>
          <p:cNvSpPr/>
          <p:nvPr/>
        </p:nvSpPr>
        <p:spPr>
          <a:xfrm>
            <a:off x="1645920" y="109728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Patient (Streamlit)</a:t>
            </a:r>
            <a:endParaRPr b="0" i="0" sz="1300" u="none" cap="none" strike="noStrike">
              <a:solidFill>
                <a:schemeClr val="dk1"/>
              </a:solidFill>
              <a:latin typeface="Calibri"/>
              <a:ea typeface="Calibri"/>
              <a:cs typeface="Calibri"/>
              <a:sym typeface="Calibri"/>
            </a:endParaRPr>
          </a:p>
        </p:txBody>
      </p:sp>
      <p:cxnSp>
        <p:nvCxnSpPr>
          <p:cNvPr id="98" name="Google Shape;98;p5"/>
          <p:cNvCxnSpPr/>
          <p:nvPr/>
        </p:nvCxnSpPr>
        <p:spPr>
          <a:xfrm>
            <a:off x="4297680" y="1664208"/>
            <a:ext cx="0" cy="329184"/>
          </a:xfrm>
          <a:prstGeom prst="straightConnector1">
            <a:avLst/>
          </a:prstGeom>
          <a:noFill/>
          <a:ln cap="flat" cmpd="sng" w="25400">
            <a:solidFill>
              <a:srgbClr val="14B8A6"/>
            </a:solidFill>
            <a:prstDash val="solid"/>
            <a:round/>
            <a:headEnd len="sm" w="sm" type="none"/>
            <a:tailEnd len="sm" w="sm" type="none"/>
          </a:ln>
        </p:spPr>
      </p:cxnSp>
      <p:sp>
        <p:nvSpPr>
          <p:cNvPr id="99" name="Google Shape;99;p5"/>
          <p:cNvSpPr/>
          <p:nvPr/>
        </p:nvSpPr>
        <p:spPr>
          <a:xfrm>
            <a:off x="1645920" y="1828800"/>
            <a:ext cx="5303520" cy="566928"/>
          </a:xfrm>
          <a:prstGeom prst="rect">
            <a:avLst/>
          </a:prstGeom>
          <a:solidFill>
            <a:srgbClr val="0F766E"/>
          </a:solidFill>
          <a:ln cap="flat" cmpd="sng" w="12700">
            <a:solidFill>
              <a:srgbClr val="0F766E"/>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5"/>
          <p:cNvSpPr/>
          <p:nvPr/>
        </p:nvSpPr>
        <p:spPr>
          <a:xfrm>
            <a:off x="1645920" y="182880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FastAPI — auth JWT, sessions, historique</a:t>
            </a:r>
            <a:endParaRPr b="0" i="0" sz="1300" u="none" cap="none" strike="noStrike">
              <a:solidFill>
                <a:schemeClr val="dk1"/>
              </a:solidFill>
              <a:latin typeface="Calibri"/>
              <a:ea typeface="Calibri"/>
              <a:cs typeface="Calibri"/>
              <a:sym typeface="Calibri"/>
            </a:endParaRPr>
          </a:p>
        </p:txBody>
      </p:sp>
      <p:cxnSp>
        <p:nvCxnSpPr>
          <p:cNvPr id="101" name="Google Shape;101;p5"/>
          <p:cNvCxnSpPr/>
          <p:nvPr/>
        </p:nvCxnSpPr>
        <p:spPr>
          <a:xfrm>
            <a:off x="4297680" y="2395728"/>
            <a:ext cx="0" cy="329184"/>
          </a:xfrm>
          <a:prstGeom prst="straightConnector1">
            <a:avLst/>
          </a:prstGeom>
          <a:noFill/>
          <a:ln cap="flat" cmpd="sng" w="25400">
            <a:solidFill>
              <a:srgbClr val="14B8A6"/>
            </a:solidFill>
            <a:prstDash val="solid"/>
            <a:round/>
            <a:headEnd len="sm" w="sm" type="none"/>
            <a:tailEnd len="sm" w="sm" type="none"/>
          </a:ln>
        </p:spPr>
      </p:cxnSp>
      <p:sp>
        <p:nvSpPr>
          <p:cNvPr id="102" name="Google Shape;102;p5"/>
          <p:cNvSpPr/>
          <p:nvPr/>
        </p:nvSpPr>
        <p:spPr>
          <a:xfrm>
            <a:off x="1645920" y="2560320"/>
            <a:ext cx="5303520" cy="566928"/>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1645920" y="256032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Pipeline RAG  ──►  ChromaDB (HAS / INCa)</a:t>
            </a:r>
            <a:endParaRPr b="0" i="0" sz="1300" u="none" cap="none" strike="noStrike">
              <a:solidFill>
                <a:schemeClr val="dk1"/>
              </a:solidFill>
              <a:latin typeface="Calibri"/>
              <a:ea typeface="Calibri"/>
              <a:cs typeface="Calibri"/>
              <a:sym typeface="Calibri"/>
            </a:endParaRPr>
          </a:p>
        </p:txBody>
      </p:sp>
      <p:cxnSp>
        <p:nvCxnSpPr>
          <p:cNvPr id="104" name="Google Shape;104;p5"/>
          <p:cNvCxnSpPr/>
          <p:nvPr/>
        </p:nvCxnSpPr>
        <p:spPr>
          <a:xfrm>
            <a:off x="4297680" y="3127248"/>
            <a:ext cx="0" cy="329184"/>
          </a:xfrm>
          <a:prstGeom prst="straightConnector1">
            <a:avLst/>
          </a:prstGeom>
          <a:noFill/>
          <a:ln cap="flat" cmpd="sng" w="25400">
            <a:solidFill>
              <a:srgbClr val="14B8A6"/>
            </a:solidFill>
            <a:prstDash val="solid"/>
            <a:round/>
            <a:headEnd len="sm" w="sm" type="none"/>
            <a:tailEnd len="sm" w="sm" type="none"/>
          </a:ln>
        </p:spPr>
      </p:cxnSp>
      <p:sp>
        <p:nvSpPr>
          <p:cNvPr id="105" name="Google Shape;105;p5"/>
          <p:cNvSpPr/>
          <p:nvPr/>
        </p:nvSpPr>
        <p:spPr>
          <a:xfrm>
            <a:off x="1645920" y="3291840"/>
            <a:ext cx="5303520" cy="566928"/>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1645920" y="3291840"/>
            <a:ext cx="530352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Prompt assemblé  ──►  LLM (Gemini / Mistral)  ──►  Réponse</a:t>
            </a:r>
            <a:endParaRPr b="0" i="0" sz="1300" u="none" cap="none" strike="noStrike">
              <a:solidFill>
                <a:schemeClr val="dk1"/>
              </a:solidFill>
              <a:latin typeface="Calibri"/>
              <a:ea typeface="Calibri"/>
              <a:cs typeface="Calibri"/>
              <a:sym typeface="Calibri"/>
            </a:endParaRPr>
          </a:p>
        </p:txBody>
      </p:sp>
      <p:sp>
        <p:nvSpPr>
          <p:cNvPr id="107" name="Google Shape;107;p5"/>
          <p:cNvSpPr/>
          <p:nvPr/>
        </p:nvSpPr>
        <p:spPr>
          <a:xfrm>
            <a:off x="7086600" y="2560320"/>
            <a:ext cx="1828800" cy="566928"/>
          </a:xfrm>
          <a:prstGeom prst="rect">
            <a:avLst/>
          </a:prstGeom>
          <a:solidFill>
            <a:srgbClr val="E0E7FF"/>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5"/>
          <p:cNvSpPr/>
          <p:nvPr/>
        </p:nvSpPr>
        <p:spPr>
          <a:xfrm>
            <a:off x="7086600" y="2560320"/>
            <a:ext cx="18288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3730A3"/>
              </a:buClr>
              <a:buSzPts val="1000"/>
              <a:buFont typeface="Calibri"/>
              <a:buNone/>
            </a:pPr>
            <a:r>
              <a:rPr b="0" i="0" lang="en-US" sz="1000" u="none" cap="none" strike="noStrike">
                <a:solidFill>
                  <a:srgbClr val="3730A3"/>
                </a:solidFill>
                <a:latin typeface="Calibri"/>
                <a:ea typeface="Calibri"/>
                <a:cs typeface="Calibri"/>
                <a:sym typeface="Calibri"/>
              </a:rPr>
              <a:t>DuckDuckGo</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3730A3"/>
              </a:buClr>
              <a:buSzPts val="1000"/>
              <a:buFont typeface="Calibri"/>
              <a:buNone/>
            </a:pPr>
            <a:r>
              <a:rPr b="0" i="0" lang="en-US" sz="1000" u="none" cap="none" strike="noStrike">
                <a:solidFill>
                  <a:srgbClr val="3730A3"/>
                </a:solidFill>
                <a:latin typeface="Calibri"/>
                <a:ea typeface="Calibri"/>
                <a:cs typeface="Calibri"/>
                <a:sym typeface="Calibri"/>
              </a:rPr>
              <a:t>(bonus fallback)</a:t>
            </a:r>
            <a:endParaRPr b="0" i="0" sz="1000" u="none" cap="none" strike="noStrike">
              <a:solidFill>
                <a:schemeClr val="dk1"/>
              </a:solidFill>
              <a:latin typeface="Calibri"/>
              <a:ea typeface="Calibri"/>
              <a:cs typeface="Calibri"/>
              <a:sym typeface="Calibri"/>
            </a:endParaRPr>
          </a:p>
        </p:txBody>
      </p:sp>
      <p:cxnSp>
        <p:nvCxnSpPr>
          <p:cNvPr id="109" name="Google Shape;109;p5"/>
          <p:cNvCxnSpPr/>
          <p:nvPr/>
        </p:nvCxnSpPr>
        <p:spPr>
          <a:xfrm>
            <a:off x="6949440" y="2843784"/>
            <a:ext cx="137160" cy="0"/>
          </a:xfrm>
          <a:prstGeom prst="straightConnector1">
            <a:avLst/>
          </a:prstGeom>
          <a:noFill/>
          <a:ln cap="flat" cmpd="sng" w="19050">
            <a:solidFill>
              <a:srgbClr val="6366F1"/>
            </a:solidFill>
            <a:prstDash val="dash"/>
            <a:round/>
            <a:headEnd len="sm" w="sm" type="none"/>
            <a:tailEnd len="sm" w="sm" type="none"/>
          </a:ln>
        </p:spPr>
      </p:cxnSp>
      <p:sp>
        <p:nvSpPr>
          <p:cNvPr id="110" name="Google Shape;110;p5"/>
          <p:cNvSpPr/>
          <p:nvPr/>
        </p:nvSpPr>
        <p:spPr>
          <a:xfrm>
            <a:off x="7086600" y="3291840"/>
            <a:ext cx="1828800" cy="566928"/>
          </a:xfrm>
          <a:prstGeom prst="rect">
            <a:avLst/>
          </a:prstGeom>
          <a:solidFill>
            <a:srgbClr val="FEF3C7"/>
          </a:solidFill>
          <a:ln cap="flat" cmpd="sng" w="12700">
            <a:solidFill>
              <a:srgbClr val="D9770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7086600" y="3291840"/>
            <a:ext cx="182880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2400E"/>
              </a:buClr>
              <a:buSzPts val="1000"/>
              <a:buFont typeface="Calibri"/>
              <a:buNone/>
            </a:pPr>
            <a:r>
              <a:rPr b="0" i="0" lang="en-US" sz="1000" u="none" cap="none" strike="noStrike">
                <a:solidFill>
                  <a:srgbClr val="92400E"/>
                </a:solidFill>
                <a:latin typeface="Calibri"/>
                <a:ea typeface="Calibri"/>
                <a:cs typeface="Calibri"/>
                <a:sym typeface="Calibri"/>
              </a:rPr>
              <a:t>Hermes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2400E"/>
              </a:buClr>
              <a:buSzPts val="1000"/>
              <a:buFont typeface="Calibri"/>
              <a:buNone/>
            </a:pPr>
            <a:r>
              <a:rPr b="0" i="0" lang="en-US" sz="1000" u="none" cap="none" strike="noStrike">
                <a:solidFill>
                  <a:srgbClr val="92400E"/>
                </a:solidFill>
                <a:latin typeface="Calibri"/>
                <a:ea typeface="Calibri"/>
                <a:cs typeface="Calibri"/>
                <a:sym typeface="Calibri"/>
              </a:rPr>
              <a:t>(spécialiste + RDV)</a:t>
            </a:r>
            <a:endParaRPr b="0" i="0" sz="1000" u="none" cap="none" strike="noStrike">
              <a:solidFill>
                <a:schemeClr val="dk1"/>
              </a:solidFill>
              <a:latin typeface="Calibri"/>
              <a:ea typeface="Calibri"/>
              <a:cs typeface="Calibri"/>
              <a:sym typeface="Calibri"/>
            </a:endParaRPr>
          </a:p>
        </p:txBody>
      </p:sp>
      <p:cxnSp>
        <p:nvCxnSpPr>
          <p:cNvPr id="112" name="Google Shape;112;p5"/>
          <p:cNvCxnSpPr/>
          <p:nvPr/>
        </p:nvCxnSpPr>
        <p:spPr>
          <a:xfrm>
            <a:off x="6949440" y="3575304"/>
            <a:ext cx="137160" cy="0"/>
          </a:xfrm>
          <a:prstGeom prst="straightConnector1">
            <a:avLst/>
          </a:prstGeom>
          <a:noFill/>
          <a:ln cap="flat" cmpd="sng" w="19050">
            <a:solidFill>
              <a:srgbClr val="D97706"/>
            </a:solidFill>
            <a:prstDash val="dash"/>
            <a:round/>
            <a:headEnd len="sm" w="sm" type="none"/>
            <a:tailEnd len="sm" w="sm" type="none"/>
          </a:ln>
        </p:spPr>
      </p:cxn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117" name="Shape 117"/>
        <p:cNvGrpSpPr/>
        <p:nvPr/>
      </p:nvGrpSpPr>
      <p:grpSpPr>
        <a:xfrm>
          <a:off x="0" y="0"/>
          <a:ext cx="0" cy="0"/>
          <a:chOff x="0" y="0"/>
          <a:chExt cx="0" cy="0"/>
        </a:xfrm>
      </p:grpSpPr>
      <p:sp>
        <p:nvSpPr>
          <p:cNvPr id="118" name="Google Shape;118;p7"/>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7"/>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7"/>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2</a:t>
            </a:r>
            <a:endParaRPr b="0" i="0" sz="1200" u="none" cap="none" strike="noStrike">
              <a:solidFill>
                <a:schemeClr val="dk1"/>
              </a:solidFill>
              <a:latin typeface="Calibri"/>
              <a:ea typeface="Calibri"/>
              <a:cs typeface="Calibri"/>
              <a:sym typeface="Calibri"/>
            </a:endParaRPr>
          </a:p>
        </p:txBody>
      </p:sp>
      <p:sp>
        <p:nvSpPr>
          <p:cNvPr id="121" name="Google Shape;121;p7"/>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Traitement des PDF</a:t>
            </a:r>
            <a:endParaRPr b="0" i="0" sz="3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&amp; Pipeline RAG</a:t>
            </a:r>
            <a:endParaRPr b="0" i="0" sz="3200" u="none" cap="none" strike="noStrike">
              <a:solidFill>
                <a:schemeClr val="dk1"/>
              </a:solidFill>
              <a:latin typeface="Calibri"/>
              <a:ea typeface="Calibri"/>
              <a:cs typeface="Calibri"/>
              <a:sym typeface="Calibri"/>
            </a:endParaRPr>
          </a:p>
        </p:txBody>
      </p:sp>
      <p:sp>
        <p:nvSpPr>
          <p:cNvPr id="122" name="Google Shape;122;p7"/>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7"/>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Yousra</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128" name="Shape 128"/>
        <p:cNvGrpSpPr/>
        <p:nvPr/>
      </p:nvGrpSpPr>
      <p:grpSpPr>
        <a:xfrm>
          <a:off x="0" y="0"/>
          <a:ext cx="0" cy="0"/>
          <a:chOff x="0" y="0"/>
          <a:chExt cx="0" cy="0"/>
        </a:xfrm>
      </p:grpSpPr>
      <p:sp>
        <p:nvSpPr>
          <p:cNvPr id="129" name="Google Shape;129;p8"/>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8"/>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8"/>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132" name="Google Shape;132;p8"/>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Étape 1 — Indexation des documents (une seule fois)</a:t>
            </a:r>
            <a:endParaRPr b="0" i="0" sz="2200" u="none" cap="none" strike="noStrike">
              <a:solidFill>
                <a:schemeClr val="dk1"/>
              </a:solidFill>
              <a:latin typeface="Calibri"/>
              <a:ea typeface="Calibri"/>
              <a:cs typeface="Calibri"/>
              <a:sym typeface="Calibri"/>
            </a:endParaRPr>
          </a:p>
        </p:txBody>
      </p:sp>
      <p:sp>
        <p:nvSpPr>
          <p:cNvPr id="133" name="Google Shape;133;p8"/>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8</a:t>
            </a:r>
            <a:endParaRPr b="0" i="0" sz="1000" u="none" cap="none" strike="noStrike">
              <a:solidFill>
                <a:schemeClr val="dk1"/>
              </a:solidFill>
              <a:latin typeface="Calibri"/>
              <a:ea typeface="Calibri"/>
              <a:cs typeface="Calibri"/>
              <a:sym typeface="Calibri"/>
            </a:endParaRPr>
          </a:p>
        </p:txBody>
      </p:sp>
      <p:sp>
        <p:nvSpPr>
          <p:cNvPr id="134" name="Google Shape;134;p8"/>
          <p:cNvSpPr/>
          <p:nvPr/>
        </p:nvSpPr>
        <p:spPr>
          <a:xfrm>
            <a:off x="457200" y="1051560"/>
            <a:ext cx="68580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1" i="0" lang="en-US" sz="1400" u="none" cap="none" strike="noStrike">
                <a:solidFill>
                  <a:srgbClr val="0F766E"/>
                </a:solidFill>
                <a:latin typeface="Calibri"/>
                <a:ea typeface="Calibri"/>
                <a:cs typeface="Calibri"/>
                <a:sym typeface="Calibri"/>
              </a:rPr>
              <a:t>5 PDF officiels (HAS, INCa) : diabète · Alzheimer · cancer du poumon</a:t>
            </a:r>
            <a:endParaRPr b="0" i="0" sz="1400" u="none" cap="none" strike="noStrike">
              <a:solidFill>
                <a:schemeClr val="dk1"/>
              </a:solidFill>
              <a:latin typeface="Calibri"/>
              <a:ea typeface="Calibri"/>
              <a:cs typeface="Calibri"/>
              <a:sym typeface="Calibri"/>
            </a:endParaRPr>
          </a:p>
        </p:txBody>
      </p:sp>
      <p:sp>
        <p:nvSpPr>
          <p:cNvPr id="135" name="Google Shape;135;p8"/>
          <p:cNvSpPr/>
          <p:nvPr/>
        </p:nvSpPr>
        <p:spPr>
          <a:xfrm>
            <a:off x="7406640" y="1005840"/>
            <a:ext cx="1463040" cy="6400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8"/>
          <p:cNvSpPr/>
          <p:nvPr/>
        </p:nvSpPr>
        <p:spPr>
          <a:xfrm>
            <a:off x="7406640" y="1005840"/>
            <a:ext cx="14630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1" i="0" lang="en-US" sz="1100" u="none" cap="none" strike="noStrike">
                <a:solidFill>
                  <a:srgbClr val="CCFBF1"/>
                </a:solidFill>
                <a:latin typeface="Calibri"/>
                <a:ea typeface="Calibri"/>
                <a:cs typeface="Calibri"/>
                <a:sym typeface="Calibri"/>
              </a:rPr>
              <a:t>971</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1" i="0" lang="en-US" sz="1100" u="none" cap="none" strike="noStrike">
                <a:solidFill>
                  <a:srgbClr val="CCFBF1"/>
                </a:solidFill>
                <a:latin typeface="Calibri"/>
                <a:ea typeface="Calibri"/>
                <a:cs typeface="Calibri"/>
                <a:sym typeface="Calibri"/>
              </a:rPr>
              <a:t>chunks</a:t>
            </a:r>
            <a:endParaRPr b="0" i="0" sz="1100" u="none" cap="none" strike="noStrike">
              <a:solidFill>
                <a:schemeClr val="dk1"/>
              </a:solidFill>
              <a:latin typeface="Calibri"/>
              <a:ea typeface="Calibri"/>
              <a:cs typeface="Calibri"/>
              <a:sym typeface="Calibri"/>
            </a:endParaRPr>
          </a:p>
        </p:txBody>
      </p:sp>
      <p:sp>
        <p:nvSpPr>
          <p:cNvPr id="137" name="Google Shape;137;p8"/>
          <p:cNvSpPr/>
          <p:nvPr/>
        </p:nvSpPr>
        <p:spPr>
          <a:xfrm>
            <a:off x="457200" y="1554480"/>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8"/>
          <p:cNvSpPr/>
          <p:nvPr/>
        </p:nvSpPr>
        <p:spPr>
          <a:xfrm>
            <a:off x="457200" y="1554480"/>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01</a:t>
            </a:r>
            <a:endParaRPr b="0" i="0" sz="1200" u="none" cap="none" strike="noStrike">
              <a:solidFill>
                <a:schemeClr val="dk1"/>
              </a:solidFill>
              <a:latin typeface="Calibri"/>
              <a:ea typeface="Calibri"/>
              <a:cs typeface="Calibri"/>
              <a:sym typeface="Calibri"/>
            </a:endParaRPr>
          </a:p>
        </p:txBody>
      </p:sp>
      <p:cxnSp>
        <p:nvCxnSpPr>
          <p:cNvPr id="139" name="Google Shape;139;p8"/>
          <p:cNvCxnSpPr/>
          <p:nvPr/>
        </p:nvCxnSpPr>
        <p:spPr>
          <a:xfrm>
            <a:off x="708660" y="2057400"/>
            <a:ext cx="0" cy="256032"/>
          </a:xfrm>
          <a:prstGeom prst="straightConnector1">
            <a:avLst/>
          </a:prstGeom>
          <a:noFill/>
          <a:ln cap="flat" cmpd="sng" w="19050">
            <a:solidFill>
              <a:srgbClr val="14B8A6"/>
            </a:solidFill>
            <a:prstDash val="solid"/>
            <a:round/>
            <a:headEnd len="sm" w="sm" type="none"/>
            <a:tailEnd len="sm" w="sm" type="none"/>
          </a:ln>
        </p:spPr>
      </p:cxnSp>
      <p:sp>
        <p:nvSpPr>
          <p:cNvPr id="140" name="Google Shape;140;p8"/>
          <p:cNvSpPr/>
          <p:nvPr/>
        </p:nvSpPr>
        <p:spPr>
          <a:xfrm>
            <a:off x="1143000" y="1508760"/>
            <a:ext cx="754380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
          <p:cNvSpPr/>
          <p:nvPr/>
        </p:nvSpPr>
        <p:spPr>
          <a:xfrm>
            <a:off x="1280160" y="1508760"/>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Extraction — </a:t>
            </a:r>
            <a:r>
              <a:rPr b="0" i="0" lang="en-US" sz="1300" u="none" cap="none" strike="noStrike">
                <a:solidFill>
                  <a:srgbClr val="0F172A"/>
                </a:solidFill>
                <a:latin typeface="Calibri"/>
                <a:ea typeface="Calibri"/>
                <a:cs typeface="Calibri"/>
                <a:sym typeface="Calibri"/>
              </a:rPr>
              <a:t>PyPDFLoader lit le texte page par page</a:t>
            </a:r>
            <a:endParaRPr b="0" i="0" sz="1300" u="none" cap="none" strike="noStrike">
              <a:solidFill>
                <a:schemeClr val="dk1"/>
              </a:solidFill>
              <a:latin typeface="Calibri"/>
              <a:ea typeface="Calibri"/>
              <a:cs typeface="Calibri"/>
              <a:sym typeface="Calibri"/>
            </a:endParaRPr>
          </a:p>
        </p:txBody>
      </p:sp>
      <p:sp>
        <p:nvSpPr>
          <p:cNvPr id="142" name="Google Shape;142;p8"/>
          <p:cNvSpPr/>
          <p:nvPr/>
        </p:nvSpPr>
        <p:spPr>
          <a:xfrm>
            <a:off x="457200" y="2359152"/>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8"/>
          <p:cNvSpPr/>
          <p:nvPr/>
        </p:nvSpPr>
        <p:spPr>
          <a:xfrm>
            <a:off x="457200" y="2359152"/>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02</a:t>
            </a:r>
            <a:endParaRPr b="0" i="0" sz="1200" u="none" cap="none" strike="noStrike">
              <a:solidFill>
                <a:schemeClr val="dk1"/>
              </a:solidFill>
              <a:latin typeface="Calibri"/>
              <a:ea typeface="Calibri"/>
              <a:cs typeface="Calibri"/>
              <a:sym typeface="Calibri"/>
            </a:endParaRPr>
          </a:p>
        </p:txBody>
      </p:sp>
      <p:cxnSp>
        <p:nvCxnSpPr>
          <p:cNvPr id="144" name="Google Shape;144;p8"/>
          <p:cNvCxnSpPr/>
          <p:nvPr/>
        </p:nvCxnSpPr>
        <p:spPr>
          <a:xfrm>
            <a:off x="708660" y="2862072"/>
            <a:ext cx="0" cy="256032"/>
          </a:xfrm>
          <a:prstGeom prst="straightConnector1">
            <a:avLst/>
          </a:prstGeom>
          <a:noFill/>
          <a:ln cap="flat" cmpd="sng" w="19050">
            <a:solidFill>
              <a:srgbClr val="14B8A6"/>
            </a:solidFill>
            <a:prstDash val="solid"/>
            <a:round/>
            <a:headEnd len="sm" w="sm" type="none"/>
            <a:tailEnd len="sm" w="sm" type="none"/>
          </a:ln>
        </p:spPr>
      </p:cxnSp>
      <p:sp>
        <p:nvSpPr>
          <p:cNvPr id="145" name="Google Shape;145;p8"/>
          <p:cNvSpPr/>
          <p:nvPr/>
        </p:nvSpPr>
        <p:spPr>
          <a:xfrm>
            <a:off x="1143000" y="2313432"/>
            <a:ext cx="7543800" cy="64008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1280160" y="2313432"/>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Découpage — </a:t>
            </a:r>
            <a:r>
              <a:rPr b="0" i="0" lang="en-US" sz="1300" u="none" cap="none" strike="noStrike">
                <a:solidFill>
                  <a:srgbClr val="0F172A"/>
                </a:solidFill>
                <a:latin typeface="Calibri"/>
                <a:ea typeface="Calibri"/>
                <a:cs typeface="Calibri"/>
                <a:sym typeface="Calibri"/>
              </a:rPr>
              <a:t>RecursiveCharacterTextSplitter — 500 caractères, chevauchement 50</a:t>
            </a:r>
            <a:endParaRPr b="0" i="0" sz="1300" u="none" cap="none" strike="noStrike">
              <a:solidFill>
                <a:schemeClr val="dk1"/>
              </a:solidFill>
              <a:latin typeface="Calibri"/>
              <a:ea typeface="Calibri"/>
              <a:cs typeface="Calibri"/>
              <a:sym typeface="Calibri"/>
            </a:endParaRPr>
          </a:p>
        </p:txBody>
      </p:sp>
      <p:sp>
        <p:nvSpPr>
          <p:cNvPr id="147" name="Google Shape;147;p8"/>
          <p:cNvSpPr/>
          <p:nvPr/>
        </p:nvSpPr>
        <p:spPr>
          <a:xfrm>
            <a:off x="457200" y="3163824"/>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8"/>
          <p:cNvSpPr/>
          <p:nvPr/>
        </p:nvSpPr>
        <p:spPr>
          <a:xfrm>
            <a:off x="457200" y="3163824"/>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03</a:t>
            </a:r>
            <a:endParaRPr b="0" i="0" sz="1200" u="none" cap="none" strike="noStrike">
              <a:solidFill>
                <a:schemeClr val="dk1"/>
              </a:solidFill>
              <a:latin typeface="Calibri"/>
              <a:ea typeface="Calibri"/>
              <a:cs typeface="Calibri"/>
              <a:sym typeface="Calibri"/>
            </a:endParaRPr>
          </a:p>
        </p:txBody>
      </p:sp>
      <p:cxnSp>
        <p:nvCxnSpPr>
          <p:cNvPr id="149" name="Google Shape;149;p8"/>
          <p:cNvCxnSpPr/>
          <p:nvPr/>
        </p:nvCxnSpPr>
        <p:spPr>
          <a:xfrm>
            <a:off x="708660" y="3666744"/>
            <a:ext cx="0" cy="256032"/>
          </a:xfrm>
          <a:prstGeom prst="straightConnector1">
            <a:avLst/>
          </a:prstGeom>
          <a:noFill/>
          <a:ln cap="flat" cmpd="sng" w="19050">
            <a:solidFill>
              <a:srgbClr val="14B8A6"/>
            </a:solidFill>
            <a:prstDash val="solid"/>
            <a:round/>
            <a:headEnd len="sm" w="sm" type="none"/>
            <a:tailEnd len="sm" w="sm" type="none"/>
          </a:ln>
        </p:spPr>
      </p:cxnSp>
      <p:sp>
        <p:nvSpPr>
          <p:cNvPr id="150" name="Google Shape;150;p8"/>
          <p:cNvSpPr/>
          <p:nvPr/>
        </p:nvSpPr>
        <p:spPr>
          <a:xfrm>
            <a:off x="1143000" y="3118104"/>
            <a:ext cx="7543800"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8"/>
          <p:cNvSpPr/>
          <p:nvPr/>
        </p:nvSpPr>
        <p:spPr>
          <a:xfrm>
            <a:off x="1280160" y="3118104"/>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Encodage — </a:t>
            </a:r>
            <a:r>
              <a:rPr b="0" i="0" lang="en-US" sz="1300" u="none" cap="none" strike="noStrike">
                <a:solidFill>
                  <a:srgbClr val="0F172A"/>
                </a:solidFill>
                <a:latin typeface="Calibri"/>
                <a:ea typeface="Calibri"/>
                <a:cs typeface="Calibri"/>
                <a:sym typeface="Calibri"/>
              </a:rPr>
              <a:t>Chaque chunk → vecteur de 384 nombres (MiniLM)</a:t>
            </a:r>
            <a:endParaRPr b="0" i="0" sz="1300" u="none" cap="none" strike="noStrike">
              <a:solidFill>
                <a:schemeClr val="dk1"/>
              </a:solidFill>
              <a:latin typeface="Calibri"/>
              <a:ea typeface="Calibri"/>
              <a:cs typeface="Calibri"/>
              <a:sym typeface="Calibri"/>
            </a:endParaRPr>
          </a:p>
        </p:txBody>
      </p:sp>
      <p:sp>
        <p:nvSpPr>
          <p:cNvPr id="152" name="Google Shape;152;p8"/>
          <p:cNvSpPr/>
          <p:nvPr/>
        </p:nvSpPr>
        <p:spPr>
          <a:xfrm>
            <a:off x="457200" y="3968496"/>
            <a:ext cx="502920" cy="50292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8"/>
          <p:cNvSpPr/>
          <p:nvPr/>
        </p:nvSpPr>
        <p:spPr>
          <a:xfrm>
            <a:off x="457200" y="3968496"/>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04</a:t>
            </a:r>
            <a:endParaRPr b="0" i="0" sz="1200" u="none" cap="none" strike="noStrike">
              <a:solidFill>
                <a:schemeClr val="dk1"/>
              </a:solidFill>
              <a:latin typeface="Calibri"/>
              <a:ea typeface="Calibri"/>
              <a:cs typeface="Calibri"/>
              <a:sym typeface="Calibri"/>
            </a:endParaRPr>
          </a:p>
        </p:txBody>
      </p:sp>
      <p:sp>
        <p:nvSpPr>
          <p:cNvPr id="154" name="Google Shape;154;p8"/>
          <p:cNvSpPr/>
          <p:nvPr/>
        </p:nvSpPr>
        <p:spPr>
          <a:xfrm>
            <a:off x="1143000" y="3922776"/>
            <a:ext cx="7543800" cy="64008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8"/>
          <p:cNvSpPr/>
          <p:nvPr/>
        </p:nvSpPr>
        <p:spPr>
          <a:xfrm>
            <a:off x="1280160" y="3922776"/>
            <a:ext cx="73152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Stockage — </a:t>
            </a:r>
            <a:r>
              <a:rPr b="0" i="0" lang="en-US" sz="1300" u="none" cap="none" strike="noStrike">
                <a:solidFill>
                  <a:srgbClr val="0F172A"/>
                </a:solidFill>
                <a:latin typeface="Calibri"/>
                <a:ea typeface="Calibri"/>
                <a:cs typeface="Calibri"/>
                <a:sym typeface="Calibri"/>
              </a:rPr>
              <a:t>ChromaDB conserve le texte + vecteur liés par un identifiant</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160" name="Shape 160"/>
        <p:cNvGrpSpPr/>
        <p:nvPr/>
      </p:nvGrpSpPr>
      <p:grpSpPr>
        <a:xfrm>
          <a:off x="0" y="0"/>
          <a:ext cx="0" cy="0"/>
          <a:chOff x="0" y="0"/>
          <a:chExt cx="0" cy="0"/>
        </a:xfrm>
      </p:grpSpPr>
      <p:sp>
        <p:nvSpPr>
          <p:cNvPr id="161" name="Google Shape;161;p9"/>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164" name="Google Shape;164;p9"/>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Pourquoi un chevauchement de 50 caractères ?</a:t>
            </a:r>
            <a:endParaRPr b="0" i="0" sz="2200" u="none" cap="none" strike="noStrike">
              <a:solidFill>
                <a:schemeClr val="dk1"/>
              </a:solidFill>
              <a:latin typeface="Calibri"/>
              <a:ea typeface="Calibri"/>
              <a:cs typeface="Calibri"/>
              <a:sym typeface="Calibri"/>
            </a:endParaRPr>
          </a:p>
        </p:txBody>
      </p:sp>
      <p:sp>
        <p:nvSpPr>
          <p:cNvPr id="165" name="Google Shape;165;p9"/>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9</a:t>
            </a:r>
            <a:endParaRPr b="0" i="0" sz="1000" u="none" cap="none" strike="noStrike">
              <a:solidFill>
                <a:schemeClr val="dk1"/>
              </a:solidFill>
              <a:latin typeface="Calibri"/>
              <a:ea typeface="Calibri"/>
              <a:cs typeface="Calibri"/>
              <a:sym typeface="Calibri"/>
            </a:endParaRPr>
          </a:p>
        </p:txBody>
      </p:sp>
      <p:sp>
        <p:nvSpPr>
          <p:cNvPr id="166" name="Google Shape;166;p9"/>
          <p:cNvSpPr/>
          <p:nvPr/>
        </p:nvSpPr>
        <p:spPr>
          <a:xfrm>
            <a:off x="457200" y="109728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Sans chevauchement, une phrase clé peut être coupée en deux :</a:t>
            </a:r>
            <a:endParaRPr b="0" i="0" sz="1500" u="none" cap="none" strike="noStrike">
              <a:solidFill>
                <a:schemeClr val="dk1"/>
              </a:solidFill>
              <a:latin typeface="Calibri"/>
              <a:ea typeface="Calibri"/>
              <a:cs typeface="Calibri"/>
              <a:sym typeface="Calibri"/>
            </a:endParaRPr>
          </a:p>
        </p:txBody>
      </p:sp>
      <p:sp>
        <p:nvSpPr>
          <p:cNvPr id="167" name="Google Shape;167;p9"/>
          <p:cNvSpPr/>
          <p:nvPr/>
        </p:nvSpPr>
        <p:spPr>
          <a:xfrm>
            <a:off x="457200" y="1554480"/>
            <a:ext cx="8229600" cy="96012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9"/>
          <p:cNvSpPr/>
          <p:nvPr/>
        </p:nvSpPr>
        <p:spPr>
          <a:xfrm>
            <a:off x="731520" y="1554480"/>
            <a:ext cx="768096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400"/>
              <a:buFont typeface="Consolas"/>
              <a:buNone/>
            </a:pPr>
            <a:r>
              <a:rPr b="1" i="0" lang="en-US" sz="1400" u="none" cap="none" strike="noStrike">
                <a:solidFill>
                  <a:srgbClr val="CCFBF1"/>
                </a:solidFill>
                <a:latin typeface="Consolas"/>
                <a:ea typeface="Consolas"/>
                <a:cs typeface="Consolas"/>
                <a:sym typeface="Consolas"/>
              </a:rPr>
              <a:t>Chunk 1 : </a:t>
            </a:r>
            <a:r>
              <a:rPr b="0" i="0" lang="en-US" sz="1400" u="none" cap="none" strike="noStrike">
                <a:solidFill>
                  <a:srgbClr val="FCD34D"/>
                </a:solidFill>
                <a:latin typeface="Consolas"/>
                <a:ea typeface="Consolas"/>
                <a:cs typeface="Consolas"/>
                <a:sym typeface="Consolas"/>
              </a:rPr>
              <a:t>"...repose sur la metfor"</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CFBF1"/>
              </a:buClr>
              <a:buSzPts val="1400"/>
              <a:buFont typeface="Consolas"/>
              <a:buNone/>
            </a:pPr>
            <a:r>
              <a:rPr b="1" i="0" lang="en-US" sz="1400" u="none" cap="none" strike="noStrike">
                <a:solidFill>
                  <a:srgbClr val="CCFBF1"/>
                </a:solidFill>
                <a:latin typeface="Consolas"/>
                <a:ea typeface="Consolas"/>
                <a:cs typeface="Consolas"/>
                <a:sym typeface="Consolas"/>
              </a:rPr>
              <a:t>Chunk 2 :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CD34D"/>
              </a:buClr>
              <a:buSzPts val="1400"/>
              <a:buFont typeface="Consolas"/>
              <a:buNone/>
            </a:pPr>
            <a:r>
              <a:rPr b="0" i="0" lang="en-US" sz="1400" u="none" cap="none" strike="noStrike">
                <a:solidFill>
                  <a:srgbClr val="FCD34D"/>
                </a:solidFill>
                <a:latin typeface="Consolas"/>
                <a:ea typeface="Consolas"/>
                <a:cs typeface="Consolas"/>
                <a:sym typeface="Consolas"/>
              </a:rPr>
              <a:t>"mine en première intention..."</a:t>
            </a:r>
            <a:endParaRPr b="0" i="0" sz="1400" u="none" cap="none" strike="noStrike">
              <a:solidFill>
                <a:schemeClr val="dk1"/>
              </a:solidFill>
              <a:latin typeface="Calibri"/>
              <a:ea typeface="Calibri"/>
              <a:cs typeface="Calibri"/>
              <a:sym typeface="Calibri"/>
            </a:endParaRPr>
          </a:p>
        </p:txBody>
      </p:sp>
      <p:sp>
        <p:nvSpPr>
          <p:cNvPr id="169" name="Google Shape;169;p9"/>
          <p:cNvSpPr/>
          <p:nvPr/>
        </p:nvSpPr>
        <p:spPr>
          <a:xfrm>
            <a:off x="457200" y="2633472"/>
            <a:ext cx="82296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500"/>
              <a:buFont typeface="Calibri"/>
              <a:buNone/>
            </a:pPr>
            <a:r>
              <a:rPr b="1" i="0" lang="en-US" sz="1500" u="none" cap="none" strike="noStrike">
                <a:solidFill>
                  <a:srgbClr val="0F766E"/>
                </a:solidFill>
                <a:latin typeface="Calibri"/>
                <a:ea typeface="Calibri"/>
                <a:cs typeface="Calibri"/>
                <a:sym typeface="Calibri"/>
              </a:rPr>
              <a:t>Avec un chevauchement de 50 caractères :</a:t>
            </a:r>
            <a:endParaRPr b="0" i="0" sz="1500" u="none" cap="none" strike="noStrike">
              <a:solidFill>
                <a:schemeClr val="dk1"/>
              </a:solidFill>
              <a:latin typeface="Calibri"/>
              <a:ea typeface="Calibri"/>
              <a:cs typeface="Calibri"/>
              <a:sym typeface="Calibri"/>
            </a:endParaRPr>
          </a:p>
        </p:txBody>
      </p:sp>
      <p:sp>
        <p:nvSpPr>
          <p:cNvPr id="170" name="Google Shape;170;p9"/>
          <p:cNvSpPr/>
          <p:nvPr/>
        </p:nvSpPr>
        <p:spPr>
          <a:xfrm>
            <a:off x="457200" y="3017520"/>
            <a:ext cx="8229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Le chunk suivant recule de 50 caractères avant de repartir → la phrase complète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apparaît dans au moins un chunk.</a:t>
            </a:r>
            <a:endParaRPr b="0" i="0" sz="1500" u="none" cap="none" strike="noStrike">
              <a:solidFill>
                <a:schemeClr val="dk1"/>
              </a:solidFill>
              <a:latin typeface="Calibri"/>
              <a:ea typeface="Calibri"/>
              <a:cs typeface="Calibri"/>
              <a:sym typeface="Calibri"/>
            </a:endParaRPr>
          </a:p>
        </p:txBody>
      </p:sp>
      <p:sp>
        <p:nvSpPr>
          <p:cNvPr id="171" name="Google Shape;171;p9"/>
          <p:cNvSpPr/>
          <p:nvPr/>
        </p:nvSpPr>
        <p:spPr>
          <a:xfrm>
            <a:off x="457200" y="3749040"/>
            <a:ext cx="73152" cy="658368"/>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9"/>
          <p:cNvSpPr/>
          <p:nvPr/>
        </p:nvSpPr>
        <p:spPr>
          <a:xfrm>
            <a:off x="530352" y="3749040"/>
            <a:ext cx="8156448" cy="65836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9"/>
          <p:cNvSpPr/>
          <p:nvPr/>
        </p:nvSpPr>
        <p:spPr>
          <a:xfrm>
            <a:off x="685800" y="3749040"/>
            <a:ext cx="7955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La phrase "repose sur la metformine" se retrouve intacte dans au moins un chunk.</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178" name="Shape 178"/>
        <p:cNvGrpSpPr/>
        <p:nvPr/>
      </p:nvGrpSpPr>
      <p:grpSpPr>
        <a:xfrm>
          <a:off x="0" y="0"/>
          <a:ext cx="0" cy="0"/>
          <a:chOff x="0" y="0"/>
          <a:chExt cx="0" cy="0"/>
        </a:xfrm>
      </p:grpSpPr>
      <p:sp>
        <p:nvSpPr>
          <p:cNvPr id="179" name="Google Shape;179;p10"/>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0"/>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0"/>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182" name="Google Shape;182;p10"/>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Le rôle de MiniLM</a:t>
            </a:r>
            <a:endParaRPr b="0" i="0" sz="2200" u="none" cap="none" strike="noStrike">
              <a:solidFill>
                <a:schemeClr val="dk1"/>
              </a:solidFill>
              <a:latin typeface="Calibri"/>
              <a:ea typeface="Calibri"/>
              <a:cs typeface="Calibri"/>
              <a:sym typeface="Calibri"/>
            </a:endParaRPr>
          </a:p>
        </p:txBody>
      </p:sp>
      <p:sp>
        <p:nvSpPr>
          <p:cNvPr id="183" name="Google Shape;183;p10"/>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10</a:t>
            </a:r>
            <a:endParaRPr b="0" i="0" sz="1000" u="none" cap="none" strike="noStrike">
              <a:solidFill>
                <a:schemeClr val="dk1"/>
              </a:solidFill>
              <a:latin typeface="Calibri"/>
              <a:ea typeface="Calibri"/>
              <a:cs typeface="Calibri"/>
              <a:sym typeface="Calibri"/>
            </a:endParaRPr>
          </a:p>
        </p:txBody>
      </p:sp>
      <p:sp>
        <p:nvSpPr>
          <p:cNvPr id="184" name="Google Shape;184;p10"/>
          <p:cNvSpPr/>
          <p:nvPr/>
        </p:nvSpPr>
        <p:spPr>
          <a:xfrm>
            <a:off x="457200" y="105156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600"/>
              <a:buFont typeface="Calibri"/>
              <a:buNone/>
            </a:pPr>
            <a:r>
              <a:rPr b="0" i="0" lang="en-US" sz="1600" u="none" cap="none" strike="noStrike">
                <a:solidFill>
                  <a:srgbClr val="0F172A"/>
                </a:solidFill>
                <a:latin typeface="Calibri"/>
                <a:ea typeface="Calibri"/>
                <a:cs typeface="Calibri"/>
                <a:sym typeface="Calibri"/>
              </a:rPr>
              <a:t>MiniLM transforme n'importe quel texte en un vecteur de 384 nombres</a:t>
            </a:r>
            <a:endParaRPr b="0" i="0" sz="16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600"/>
              <a:buFont typeface="Calibri"/>
              <a:buNone/>
            </a:pPr>
            <a:r>
              <a:rPr b="0" i="0" lang="en-US" sz="1600" u="none" cap="none" strike="noStrike">
                <a:solidFill>
                  <a:srgbClr val="0F172A"/>
                </a:solidFill>
                <a:latin typeface="Calibri"/>
                <a:ea typeface="Calibri"/>
                <a:cs typeface="Calibri"/>
                <a:sym typeface="Calibri"/>
              </a:rPr>
              <a:t>qui capture son sens — pas juste les mots.</a:t>
            </a:r>
            <a:endParaRPr b="0" i="0" sz="1600" u="none" cap="none" strike="noStrike">
              <a:solidFill>
                <a:schemeClr val="dk1"/>
              </a:solidFill>
              <a:latin typeface="Calibri"/>
              <a:ea typeface="Calibri"/>
              <a:cs typeface="Calibri"/>
              <a:sym typeface="Calibri"/>
            </a:endParaRPr>
          </a:p>
        </p:txBody>
      </p:sp>
      <p:sp>
        <p:nvSpPr>
          <p:cNvPr id="185" name="Google Shape;185;p10"/>
          <p:cNvSpPr/>
          <p:nvPr/>
        </p:nvSpPr>
        <p:spPr>
          <a:xfrm>
            <a:off x="411480" y="1920240"/>
            <a:ext cx="2651760" cy="1371600"/>
          </a:xfrm>
          <a:prstGeom prst="rect">
            <a:avLst/>
          </a:prstGeom>
          <a:solidFill>
            <a:srgbClr val="0F766E"/>
          </a:solidFill>
          <a:ln cap="flat" cmpd="sng" w="12700">
            <a:solidFill>
              <a:srgbClr val="0F766E"/>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0"/>
          <p:cNvSpPr/>
          <p:nvPr/>
        </p:nvSpPr>
        <p:spPr>
          <a:xfrm>
            <a:off x="411480" y="1920240"/>
            <a:ext cx="2651760" cy="77724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4200"/>
              <a:buFont typeface="Calibri"/>
              <a:buNone/>
            </a:pPr>
            <a:r>
              <a:rPr b="1" i="0" lang="en-US" sz="4200" u="none" cap="none" strike="noStrike">
                <a:solidFill>
                  <a:srgbClr val="FFFFFF"/>
                </a:solidFill>
                <a:latin typeface="Calibri"/>
                <a:ea typeface="Calibri"/>
                <a:cs typeface="Calibri"/>
                <a:sym typeface="Calibri"/>
              </a:rPr>
              <a:t>500</a:t>
            </a:r>
            <a:endParaRPr b="0" i="0" sz="4200" u="none" cap="none" strike="noStrike">
              <a:solidFill>
                <a:schemeClr val="dk1"/>
              </a:solidFill>
              <a:latin typeface="Calibri"/>
              <a:ea typeface="Calibri"/>
              <a:cs typeface="Calibri"/>
              <a:sym typeface="Calibri"/>
            </a:endParaRPr>
          </a:p>
        </p:txBody>
      </p:sp>
      <p:sp>
        <p:nvSpPr>
          <p:cNvPr id="187" name="Google Shape;187;p10"/>
          <p:cNvSpPr/>
          <p:nvPr/>
        </p:nvSpPr>
        <p:spPr>
          <a:xfrm>
            <a:off x="411480" y="2697480"/>
            <a:ext cx="265176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taille du chunk</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(caractères)</a:t>
            </a:r>
            <a:endParaRPr b="0" i="0" sz="1100" u="none" cap="none" strike="noStrike">
              <a:solidFill>
                <a:schemeClr val="dk1"/>
              </a:solidFill>
              <a:latin typeface="Calibri"/>
              <a:ea typeface="Calibri"/>
              <a:cs typeface="Calibri"/>
              <a:sym typeface="Calibri"/>
            </a:endParaRPr>
          </a:p>
        </p:txBody>
      </p:sp>
      <p:sp>
        <p:nvSpPr>
          <p:cNvPr id="188" name="Google Shape;188;p10"/>
          <p:cNvSpPr/>
          <p:nvPr/>
        </p:nvSpPr>
        <p:spPr>
          <a:xfrm>
            <a:off x="3246120" y="1920240"/>
            <a:ext cx="2651760" cy="1371600"/>
          </a:xfrm>
          <a:prstGeom prst="rect">
            <a:avLst/>
          </a:prstGeom>
          <a:solidFill>
            <a:srgbClr val="134E4A"/>
          </a:solidFill>
          <a:ln cap="flat" cmpd="sng" w="12700">
            <a:solidFill>
              <a:srgbClr val="134E4A"/>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0"/>
          <p:cNvSpPr/>
          <p:nvPr/>
        </p:nvSpPr>
        <p:spPr>
          <a:xfrm>
            <a:off x="3246120" y="1920240"/>
            <a:ext cx="2651760" cy="77724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4200"/>
              <a:buFont typeface="Calibri"/>
              <a:buNone/>
            </a:pPr>
            <a:r>
              <a:rPr b="1" i="0" lang="en-US" sz="4200" u="none" cap="none" strike="noStrike">
                <a:solidFill>
                  <a:srgbClr val="FFFFFF"/>
                </a:solidFill>
                <a:latin typeface="Calibri"/>
                <a:ea typeface="Calibri"/>
                <a:cs typeface="Calibri"/>
                <a:sym typeface="Calibri"/>
              </a:rPr>
              <a:t>384</a:t>
            </a:r>
            <a:endParaRPr b="0" i="0" sz="4200" u="none" cap="none" strike="noStrike">
              <a:solidFill>
                <a:schemeClr val="dk1"/>
              </a:solidFill>
              <a:latin typeface="Calibri"/>
              <a:ea typeface="Calibri"/>
              <a:cs typeface="Calibri"/>
              <a:sym typeface="Calibri"/>
            </a:endParaRPr>
          </a:p>
        </p:txBody>
      </p:sp>
      <p:sp>
        <p:nvSpPr>
          <p:cNvPr id="190" name="Google Shape;190;p10"/>
          <p:cNvSpPr/>
          <p:nvPr/>
        </p:nvSpPr>
        <p:spPr>
          <a:xfrm>
            <a:off x="3246120" y="2697480"/>
            <a:ext cx="265176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taille du vecteur</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(toujours fixe)</a:t>
            </a:r>
            <a:endParaRPr b="0" i="0" sz="1100" u="none" cap="none" strike="noStrike">
              <a:solidFill>
                <a:schemeClr val="dk1"/>
              </a:solidFill>
              <a:latin typeface="Calibri"/>
              <a:ea typeface="Calibri"/>
              <a:cs typeface="Calibri"/>
              <a:sym typeface="Calibri"/>
            </a:endParaRPr>
          </a:p>
        </p:txBody>
      </p:sp>
      <p:sp>
        <p:nvSpPr>
          <p:cNvPr id="191" name="Google Shape;191;p10"/>
          <p:cNvSpPr/>
          <p:nvPr/>
        </p:nvSpPr>
        <p:spPr>
          <a:xfrm>
            <a:off x="6080760" y="1920240"/>
            <a:ext cx="2651760" cy="1371600"/>
          </a:xfrm>
          <a:prstGeom prst="rect">
            <a:avLst/>
          </a:prstGeom>
          <a:solidFill>
            <a:srgbClr val="0D9488"/>
          </a:solidFill>
          <a:ln cap="flat" cmpd="sng" w="12700">
            <a:solidFill>
              <a:srgbClr val="0D9488"/>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0"/>
          <p:cNvSpPr/>
          <p:nvPr/>
        </p:nvSpPr>
        <p:spPr>
          <a:xfrm>
            <a:off x="6080760" y="1920240"/>
            <a:ext cx="2651760" cy="777240"/>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FFFFF"/>
              </a:buClr>
              <a:buSzPts val="4200"/>
              <a:buFont typeface="Calibri"/>
              <a:buNone/>
            </a:pPr>
            <a:r>
              <a:rPr b="1" i="0" lang="en-US" sz="4200" u="none" cap="none" strike="noStrike">
                <a:solidFill>
                  <a:srgbClr val="FFFFFF"/>
                </a:solidFill>
                <a:latin typeface="Calibri"/>
                <a:ea typeface="Calibri"/>
                <a:cs typeface="Calibri"/>
                <a:sym typeface="Calibri"/>
              </a:rPr>
              <a:t>971</a:t>
            </a:r>
            <a:endParaRPr b="0" i="0" sz="4200" u="none" cap="none" strike="noStrike">
              <a:solidFill>
                <a:schemeClr val="dk1"/>
              </a:solidFill>
              <a:latin typeface="Calibri"/>
              <a:ea typeface="Calibri"/>
              <a:cs typeface="Calibri"/>
              <a:sym typeface="Calibri"/>
            </a:endParaRPr>
          </a:p>
        </p:txBody>
      </p:sp>
      <p:sp>
        <p:nvSpPr>
          <p:cNvPr id="193" name="Google Shape;193;p10"/>
          <p:cNvSpPr/>
          <p:nvPr/>
        </p:nvSpPr>
        <p:spPr>
          <a:xfrm>
            <a:off x="6080760" y="2697480"/>
            <a:ext cx="2651760"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chunks indexés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CFBF1"/>
              </a:buClr>
              <a:buSzPts val="1100"/>
              <a:buFont typeface="Calibri"/>
              <a:buNone/>
            </a:pPr>
            <a:r>
              <a:rPr b="0" i="0" lang="en-US" sz="1100" u="none" cap="none" strike="noStrike">
                <a:solidFill>
                  <a:srgbClr val="CCFBF1"/>
                </a:solidFill>
                <a:latin typeface="Calibri"/>
                <a:ea typeface="Calibri"/>
                <a:cs typeface="Calibri"/>
                <a:sym typeface="Calibri"/>
              </a:rPr>
              <a:t>au total</a:t>
            </a:r>
            <a:endParaRPr b="0" i="0" sz="1100" u="none" cap="none" strike="noStrike">
              <a:solidFill>
                <a:schemeClr val="dk1"/>
              </a:solidFill>
              <a:latin typeface="Calibri"/>
              <a:ea typeface="Calibri"/>
              <a:cs typeface="Calibri"/>
              <a:sym typeface="Calibri"/>
            </a:endParaRPr>
          </a:p>
        </p:txBody>
      </p:sp>
      <p:sp>
        <p:nvSpPr>
          <p:cNvPr id="194" name="Google Shape;194;p10"/>
          <p:cNvSpPr/>
          <p:nvPr/>
        </p:nvSpPr>
        <p:spPr>
          <a:xfrm>
            <a:off x="457200" y="3474720"/>
            <a:ext cx="73152" cy="64008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0"/>
          <p:cNvSpPr/>
          <p:nvPr/>
        </p:nvSpPr>
        <p:spPr>
          <a:xfrm>
            <a:off x="530352" y="3474720"/>
            <a:ext cx="8156448"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0"/>
          <p:cNvSpPr/>
          <p:nvPr/>
        </p:nvSpPr>
        <p:spPr>
          <a:xfrm>
            <a:off x="685800" y="3474720"/>
            <a:ext cx="79552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0" i="1" lang="en-US" sz="1400" u="none" cap="none" strike="noStrike">
                <a:solidFill>
                  <a:srgbClr val="0F766E"/>
                </a:solidFill>
                <a:latin typeface="Calibri"/>
                <a:ea typeface="Calibri"/>
                <a:cs typeface="Calibri"/>
                <a:sym typeface="Calibri"/>
              </a:rPr>
              <a:t>"fièvre" et "température élevée" → vecteurs proches, même avec des mots différents.</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01" name="Shape 201"/>
        <p:cNvGrpSpPr/>
        <p:nvPr/>
      </p:nvGrpSpPr>
      <p:grpSpPr>
        <a:xfrm>
          <a:off x="0" y="0"/>
          <a:ext cx="0" cy="0"/>
          <a:chOff x="0" y="0"/>
          <a:chExt cx="0" cy="0"/>
        </a:xfrm>
      </p:grpSpPr>
      <p:sp>
        <p:nvSpPr>
          <p:cNvPr id="202" name="Google Shape;202;p11"/>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1"/>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1"/>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05" name="Google Shape;205;p11"/>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Étape 2 — Répondre à une question (RAG en action)</a:t>
            </a:r>
            <a:endParaRPr b="0" i="0" sz="2200" u="none" cap="none" strike="noStrike">
              <a:solidFill>
                <a:schemeClr val="dk1"/>
              </a:solidFill>
              <a:latin typeface="Calibri"/>
              <a:ea typeface="Calibri"/>
              <a:cs typeface="Calibri"/>
              <a:sym typeface="Calibri"/>
            </a:endParaRPr>
          </a:p>
        </p:txBody>
      </p:sp>
      <p:sp>
        <p:nvSpPr>
          <p:cNvPr id="206" name="Google Shape;206;p11"/>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11</a:t>
            </a:r>
            <a:endParaRPr b="0" i="0" sz="1000" u="none" cap="none" strike="noStrike">
              <a:solidFill>
                <a:schemeClr val="dk1"/>
              </a:solidFill>
              <a:latin typeface="Calibri"/>
              <a:ea typeface="Calibri"/>
              <a:cs typeface="Calibri"/>
              <a:sym typeface="Calibri"/>
            </a:endParaRPr>
          </a:p>
        </p:txBody>
      </p:sp>
      <p:sp>
        <p:nvSpPr>
          <p:cNvPr id="207" name="Google Shape;207;p11"/>
          <p:cNvSpPr/>
          <p:nvPr/>
        </p:nvSpPr>
        <p:spPr>
          <a:xfrm>
            <a:off x="457200" y="1170432"/>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1"/>
          <p:cNvSpPr/>
          <p:nvPr/>
        </p:nvSpPr>
        <p:spPr>
          <a:xfrm>
            <a:off x="457200" y="117043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cxnSp>
        <p:nvCxnSpPr>
          <p:cNvPr id="209" name="Google Shape;209;p11"/>
          <p:cNvCxnSpPr/>
          <p:nvPr/>
        </p:nvCxnSpPr>
        <p:spPr>
          <a:xfrm>
            <a:off x="685800" y="1627632"/>
            <a:ext cx="0" cy="274320"/>
          </a:xfrm>
          <a:prstGeom prst="straightConnector1">
            <a:avLst/>
          </a:prstGeom>
          <a:noFill/>
          <a:ln cap="flat" cmpd="sng" w="19050">
            <a:solidFill>
              <a:srgbClr val="14B8A6"/>
            </a:solidFill>
            <a:prstDash val="solid"/>
            <a:round/>
            <a:headEnd len="sm" w="sm" type="none"/>
            <a:tailEnd len="sm" w="sm" type="none"/>
          </a:ln>
        </p:spPr>
      </p:cxnSp>
      <p:sp>
        <p:nvSpPr>
          <p:cNvPr id="210" name="Google Shape;210;p11"/>
          <p:cNvSpPr/>
          <p:nvPr/>
        </p:nvSpPr>
        <p:spPr>
          <a:xfrm>
            <a:off x="1097280" y="1097280"/>
            <a:ext cx="7589520" cy="603504"/>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1"/>
          <p:cNvSpPr/>
          <p:nvPr/>
        </p:nvSpPr>
        <p:spPr>
          <a:xfrm>
            <a:off x="1261872" y="1097280"/>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Question du patient → convertie en vecteur (même MiniLM)</a:t>
            </a:r>
            <a:endParaRPr b="0" i="0" sz="1400" u="none" cap="none" strike="noStrike">
              <a:solidFill>
                <a:schemeClr val="dk1"/>
              </a:solidFill>
              <a:latin typeface="Calibri"/>
              <a:ea typeface="Calibri"/>
              <a:cs typeface="Calibri"/>
              <a:sym typeface="Calibri"/>
            </a:endParaRPr>
          </a:p>
        </p:txBody>
      </p:sp>
      <p:sp>
        <p:nvSpPr>
          <p:cNvPr id="212" name="Google Shape;212;p11"/>
          <p:cNvSpPr/>
          <p:nvPr/>
        </p:nvSpPr>
        <p:spPr>
          <a:xfrm>
            <a:off x="457200" y="1920240"/>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1"/>
          <p:cNvSpPr/>
          <p:nvPr/>
        </p:nvSpPr>
        <p:spPr>
          <a:xfrm>
            <a:off x="457200" y="19202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cxnSp>
        <p:nvCxnSpPr>
          <p:cNvPr id="214" name="Google Shape;214;p11"/>
          <p:cNvCxnSpPr/>
          <p:nvPr/>
        </p:nvCxnSpPr>
        <p:spPr>
          <a:xfrm>
            <a:off x="685800" y="2377440"/>
            <a:ext cx="0" cy="274320"/>
          </a:xfrm>
          <a:prstGeom prst="straightConnector1">
            <a:avLst/>
          </a:prstGeom>
          <a:noFill/>
          <a:ln cap="flat" cmpd="sng" w="19050">
            <a:solidFill>
              <a:srgbClr val="14B8A6"/>
            </a:solidFill>
            <a:prstDash val="solid"/>
            <a:round/>
            <a:headEnd len="sm" w="sm" type="none"/>
            <a:tailEnd len="sm" w="sm" type="none"/>
          </a:ln>
        </p:spPr>
      </p:cxnSp>
      <p:sp>
        <p:nvSpPr>
          <p:cNvPr id="215" name="Google Shape;215;p11"/>
          <p:cNvSpPr/>
          <p:nvPr/>
        </p:nvSpPr>
        <p:spPr>
          <a:xfrm>
            <a:off x="1097280" y="1847088"/>
            <a:ext cx="7589520" cy="603504"/>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1"/>
          <p:cNvSpPr/>
          <p:nvPr/>
        </p:nvSpPr>
        <p:spPr>
          <a:xfrm>
            <a:off x="1261872" y="1847088"/>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ChromaDB cherche les 4 chunks les plus proches par sens</a:t>
            </a:r>
            <a:endParaRPr b="0" i="0" sz="1400" u="none" cap="none" strike="noStrike">
              <a:solidFill>
                <a:schemeClr val="dk1"/>
              </a:solidFill>
              <a:latin typeface="Calibri"/>
              <a:ea typeface="Calibri"/>
              <a:cs typeface="Calibri"/>
              <a:sym typeface="Calibri"/>
            </a:endParaRPr>
          </a:p>
        </p:txBody>
      </p:sp>
      <p:sp>
        <p:nvSpPr>
          <p:cNvPr id="217" name="Google Shape;217;p11"/>
          <p:cNvSpPr/>
          <p:nvPr/>
        </p:nvSpPr>
        <p:spPr>
          <a:xfrm>
            <a:off x="457200" y="2670048"/>
            <a:ext cx="457200" cy="457200"/>
          </a:xfrm>
          <a:prstGeom prst="ellipse">
            <a:avLst/>
          </a:prstGeom>
          <a:solidFill>
            <a:srgbClr val="D97706"/>
          </a:solidFill>
          <a:ln cap="flat" cmpd="sng" w="12700">
            <a:solidFill>
              <a:srgbClr val="D9770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1"/>
          <p:cNvSpPr/>
          <p:nvPr/>
        </p:nvSpPr>
        <p:spPr>
          <a:xfrm>
            <a:off x="457200" y="267004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cxnSp>
        <p:nvCxnSpPr>
          <p:cNvPr id="219" name="Google Shape;219;p11"/>
          <p:cNvCxnSpPr/>
          <p:nvPr/>
        </p:nvCxnSpPr>
        <p:spPr>
          <a:xfrm>
            <a:off x="685800" y="3127248"/>
            <a:ext cx="0" cy="274320"/>
          </a:xfrm>
          <a:prstGeom prst="straightConnector1">
            <a:avLst/>
          </a:prstGeom>
          <a:noFill/>
          <a:ln cap="flat" cmpd="sng" w="19050">
            <a:solidFill>
              <a:srgbClr val="14B8A6"/>
            </a:solidFill>
            <a:prstDash val="solid"/>
            <a:round/>
            <a:headEnd len="sm" w="sm" type="none"/>
            <a:tailEnd len="sm" w="sm" type="none"/>
          </a:ln>
        </p:spPr>
      </p:cxnSp>
      <p:sp>
        <p:nvSpPr>
          <p:cNvPr id="220" name="Google Shape;220;p11"/>
          <p:cNvSpPr/>
          <p:nvPr/>
        </p:nvSpPr>
        <p:spPr>
          <a:xfrm>
            <a:off x="1097280" y="2596896"/>
            <a:ext cx="7589520" cy="603504"/>
          </a:xfrm>
          <a:prstGeom prst="rect">
            <a:avLst/>
          </a:prstGeom>
          <a:solidFill>
            <a:srgbClr val="FEF3C7"/>
          </a:solidFill>
          <a:ln cap="flat" cmpd="sng" w="12700">
            <a:solidFill>
              <a:srgbClr val="FCD3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1"/>
          <p:cNvSpPr/>
          <p:nvPr/>
        </p:nvSpPr>
        <p:spPr>
          <a:xfrm>
            <a:off x="1261872" y="2596896"/>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400E"/>
              </a:buClr>
              <a:buSzPts val="1400"/>
              <a:buFont typeface="Calibri"/>
              <a:buNone/>
            </a:pPr>
            <a:r>
              <a:rPr b="0" i="0" lang="en-US" sz="1400" u="none" cap="none" strike="noStrike">
                <a:solidFill>
                  <a:srgbClr val="92400E"/>
                </a:solidFill>
                <a:latin typeface="Calibri"/>
                <a:ea typeface="Calibri"/>
                <a:cs typeface="Calibri"/>
                <a:sym typeface="Calibri"/>
              </a:rPr>
              <a:t>Mauvais score → hors périmètre des PDF → bascule sur la recherche web</a:t>
            </a:r>
            <a:endParaRPr b="0" i="0" sz="1400" u="none" cap="none" strike="noStrike">
              <a:solidFill>
                <a:schemeClr val="dk1"/>
              </a:solidFill>
              <a:latin typeface="Calibri"/>
              <a:ea typeface="Calibri"/>
              <a:cs typeface="Calibri"/>
              <a:sym typeface="Calibri"/>
            </a:endParaRPr>
          </a:p>
        </p:txBody>
      </p:sp>
      <p:sp>
        <p:nvSpPr>
          <p:cNvPr id="222" name="Google Shape;222;p11"/>
          <p:cNvSpPr/>
          <p:nvPr/>
        </p:nvSpPr>
        <p:spPr>
          <a:xfrm>
            <a:off x="457200" y="3419856"/>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1"/>
          <p:cNvSpPr/>
          <p:nvPr/>
        </p:nvSpPr>
        <p:spPr>
          <a:xfrm>
            <a:off x="457200" y="3419856"/>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cxnSp>
        <p:nvCxnSpPr>
          <p:cNvPr id="224" name="Google Shape;224;p11"/>
          <p:cNvCxnSpPr/>
          <p:nvPr/>
        </p:nvCxnSpPr>
        <p:spPr>
          <a:xfrm>
            <a:off x="685800" y="3877056"/>
            <a:ext cx="0" cy="274320"/>
          </a:xfrm>
          <a:prstGeom prst="straightConnector1">
            <a:avLst/>
          </a:prstGeom>
          <a:noFill/>
          <a:ln cap="flat" cmpd="sng" w="19050">
            <a:solidFill>
              <a:srgbClr val="14B8A6"/>
            </a:solidFill>
            <a:prstDash val="solid"/>
            <a:round/>
            <a:headEnd len="sm" w="sm" type="none"/>
            <a:tailEnd len="sm" w="sm" type="none"/>
          </a:ln>
        </p:spPr>
      </p:cxnSp>
      <p:sp>
        <p:nvSpPr>
          <p:cNvPr id="225" name="Google Shape;225;p11"/>
          <p:cNvSpPr/>
          <p:nvPr/>
        </p:nvSpPr>
        <p:spPr>
          <a:xfrm>
            <a:off x="1097280" y="3346704"/>
            <a:ext cx="7589520" cy="603504"/>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1"/>
          <p:cNvSpPr/>
          <p:nvPr/>
        </p:nvSpPr>
        <p:spPr>
          <a:xfrm>
            <a:off x="1261872" y="3346704"/>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Contexte (chunks + historique) assemblé dans un prompt</a:t>
            </a:r>
            <a:endParaRPr b="0" i="0" sz="1400" u="none" cap="none" strike="noStrike">
              <a:solidFill>
                <a:schemeClr val="dk1"/>
              </a:solidFill>
              <a:latin typeface="Calibri"/>
              <a:ea typeface="Calibri"/>
              <a:cs typeface="Calibri"/>
              <a:sym typeface="Calibri"/>
            </a:endParaRPr>
          </a:p>
        </p:txBody>
      </p:sp>
      <p:sp>
        <p:nvSpPr>
          <p:cNvPr id="227" name="Google Shape;227;p11"/>
          <p:cNvSpPr/>
          <p:nvPr/>
        </p:nvSpPr>
        <p:spPr>
          <a:xfrm>
            <a:off x="457200" y="4169664"/>
            <a:ext cx="457200" cy="457200"/>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1"/>
          <p:cNvSpPr/>
          <p:nvPr/>
        </p:nvSpPr>
        <p:spPr>
          <a:xfrm>
            <a:off x="457200" y="416966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229" name="Google Shape;229;p11"/>
          <p:cNvSpPr/>
          <p:nvPr/>
        </p:nvSpPr>
        <p:spPr>
          <a:xfrm>
            <a:off x="1097280" y="4096512"/>
            <a:ext cx="7589520" cy="603504"/>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1"/>
          <p:cNvSpPr/>
          <p:nvPr/>
        </p:nvSpPr>
        <p:spPr>
          <a:xfrm>
            <a:off x="1261872" y="4096512"/>
            <a:ext cx="7315200" cy="60350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Le LLM lit ce prompt et rédige la réponse finale</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35" name="Shape 235"/>
        <p:cNvGrpSpPr/>
        <p:nvPr/>
      </p:nvGrpSpPr>
      <p:grpSpPr>
        <a:xfrm>
          <a:off x="0" y="0"/>
          <a:ext cx="0" cy="0"/>
          <a:chOff x="0" y="0"/>
          <a:chExt cx="0" cy="0"/>
        </a:xfrm>
      </p:grpSpPr>
      <p:sp>
        <p:nvSpPr>
          <p:cNvPr id="236" name="Google Shape;236;p12"/>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2"/>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2"/>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39" name="Google Shape;239;p12"/>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La similarité : comment on compare deux vecteurs</a:t>
            </a:r>
            <a:endParaRPr b="0" i="0" sz="2200" u="none" cap="none" strike="noStrike">
              <a:solidFill>
                <a:schemeClr val="dk1"/>
              </a:solidFill>
              <a:latin typeface="Calibri"/>
              <a:ea typeface="Calibri"/>
              <a:cs typeface="Calibri"/>
              <a:sym typeface="Calibri"/>
            </a:endParaRPr>
          </a:p>
        </p:txBody>
      </p:sp>
      <p:sp>
        <p:nvSpPr>
          <p:cNvPr id="240" name="Google Shape;240;p12"/>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12</a:t>
            </a:r>
            <a:endParaRPr b="0" i="0" sz="1000" u="none" cap="none" strike="noStrike">
              <a:solidFill>
                <a:schemeClr val="dk1"/>
              </a:solidFill>
              <a:latin typeface="Calibri"/>
              <a:ea typeface="Calibri"/>
              <a:cs typeface="Calibri"/>
              <a:sym typeface="Calibri"/>
            </a:endParaRPr>
          </a:p>
        </p:txBody>
      </p:sp>
      <p:sp>
        <p:nvSpPr>
          <p:cNvPr id="241" name="Google Shape;241;p12"/>
          <p:cNvSpPr/>
          <p:nvPr/>
        </p:nvSpPr>
        <p:spPr>
          <a:xfrm>
            <a:off x="457200" y="105156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Score = distance L2 (ChromaDB)</a:t>
            </a:r>
            <a:r>
              <a:rPr b="0" i="0" lang="en-US" sz="1500" u="none" cap="none" strike="noStrike">
                <a:solidFill>
                  <a:srgbClr val="0F172A"/>
                </a:solidFill>
                <a:latin typeface="Calibri"/>
                <a:ea typeface="Calibri"/>
                <a:cs typeface="Calibri"/>
                <a:sym typeface="Calibri"/>
              </a:rPr>
              <a:t> — plus le score est bas, plus le chunk est pertinent</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(inverse d'un score de similarité classique)</a:t>
            </a:r>
            <a:endParaRPr b="0" i="0" sz="1500" u="none" cap="none" strike="noStrike">
              <a:solidFill>
                <a:schemeClr val="dk1"/>
              </a:solidFill>
              <a:latin typeface="Calibri"/>
              <a:ea typeface="Calibri"/>
              <a:cs typeface="Calibri"/>
              <a:sym typeface="Calibri"/>
            </a:endParaRPr>
          </a:p>
        </p:txBody>
      </p:sp>
      <p:sp>
        <p:nvSpPr>
          <p:cNvPr id="242" name="Google Shape;242;p12"/>
          <p:cNvSpPr/>
          <p:nvPr/>
        </p:nvSpPr>
        <p:spPr>
          <a:xfrm>
            <a:off x="457200" y="1828800"/>
            <a:ext cx="8229600" cy="109728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2"/>
          <p:cNvSpPr/>
          <p:nvPr/>
        </p:nvSpPr>
        <p:spPr>
          <a:xfrm>
            <a:off x="640080" y="1828800"/>
            <a:ext cx="786384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CD34D"/>
              </a:buClr>
              <a:buSzPts val="1300"/>
              <a:buFont typeface="Consolas"/>
              <a:buNone/>
            </a:pPr>
            <a:r>
              <a:rPr b="0" i="0" lang="en-US" sz="1300" u="none" cap="none" strike="noStrike">
                <a:solidFill>
                  <a:srgbClr val="FCD34D"/>
                </a:solidFill>
                <a:latin typeface="Consolas"/>
                <a:ea typeface="Consolas"/>
                <a:cs typeface="Consolas"/>
                <a:sym typeface="Consolas"/>
              </a:rPr>
              <a:t>hits</a:t>
            </a:r>
            <a:r>
              <a:rPr b="0" i="0" lang="en-US" sz="1300" u="none" cap="none" strike="noStrike">
                <a:solidFill>
                  <a:srgbClr val="FFFFFF"/>
                </a:solidFill>
                <a:latin typeface="Consolas"/>
                <a:ea typeface="Consolas"/>
                <a:cs typeface="Consolas"/>
                <a:sym typeface="Consolas"/>
              </a:rPr>
              <a:t> = vectorstore.</a:t>
            </a:r>
            <a:r>
              <a:rPr b="0" i="0" lang="en-US" sz="1300" u="none" cap="none" strike="noStrike">
                <a:solidFill>
                  <a:srgbClr val="14B8A6"/>
                </a:solidFill>
                <a:latin typeface="Consolas"/>
                <a:ea typeface="Consolas"/>
                <a:cs typeface="Consolas"/>
                <a:sym typeface="Consolas"/>
              </a:rPr>
              <a:t>similarity_search_with_score</a:t>
            </a:r>
            <a:r>
              <a:rPr b="0" i="0" lang="en-US" sz="1300" u="none" cap="none" strike="noStrike">
                <a:solidFill>
                  <a:srgbClr val="FFFFFF"/>
                </a:solidFill>
                <a:latin typeface="Consolas"/>
                <a:ea typeface="Consolas"/>
                <a:cs typeface="Consolas"/>
                <a:sym typeface="Consolas"/>
              </a:rPr>
              <a:t>(question, k=</a:t>
            </a:r>
            <a:r>
              <a:rPr b="0" i="0" lang="en-US" sz="1300" u="none" cap="none" strike="noStrike">
                <a:solidFill>
                  <a:srgbClr val="FCD34D"/>
                </a:solidFill>
                <a:latin typeface="Consolas"/>
                <a:ea typeface="Consolas"/>
                <a:cs typeface="Consolas"/>
                <a:sym typeface="Consolas"/>
              </a:rPr>
              <a:t>4</a:t>
            </a:r>
            <a:r>
              <a:rPr b="0" i="0" lang="en-US" sz="1300" u="none" cap="none" strike="noStrike">
                <a:solidFill>
                  <a:srgbClr val="FFFFFF"/>
                </a:solidFill>
                <a:latin typeface="Consolas"/>
                <a:ea typeface="Consolas"/>
                <a:cs typeface="Consolas"/>
                <a:sym typeface="Consolas"/>
              </a:rPr>
              <a:t>)</a:t>
            </a:r>
            <a:br>
              <a:rPr b="0" i="0" lang="en-US" sz="1300" u="none" cap="none" strike="noStrike">
                <a:solidFill>
                  <a:srgbClr val="FFFFFF"/>
                </a:solidFill>
                <a:latin typeface="Consolas"/>
                <a:ea typeface="Consolas"/>
                <a:cs typeface="Consolas"/>
                <a:sym typeface="Consolas"/>
              </a:rPr>
            </a:br>
            <a:r>
              <a:rPr b="0" i="0" lang="en-US" sz="1300" u="none" cap="none" strike="noStrike">
                <a:solidFill>
                  <a:srgbClr val="FCD34D"/>
                </a:solidFill>
                <a:latin typeface="Consolas"/>
                <a:ea typeface="Consolas"/>
                <a:cs typeface="Consolas"/>
                <a:sym typeface="Consolas"/>
              </a:rPr>
              <a:t>needs_web_search</a:t>
            </a:r>
            <a:r>
              <a:rPr b="0" i="0" lang="en-US" sz="1300" u="none" cap="none" strike="noStrike">
                <a:solidFill>
                  <a:srgbClr val="FFFFFF"/>
                </a:solidFill>
                <a:latin typeface="Consolas"/>
                <a:ea typeface="Consolas"/>
                <a:cs typeface="Consolas"/>
                <a:sym typeface="Consolas"/>
              </a:rPr>
              <a:t> = </a:t>
            </a:r>
            <a:r>
              <a:rPr b="0" i="0" lang="en-US" sz="1300" u="none" cap="none" strike="noStrike">
                <a:solidFill>
                  <a:srgbClr val="14B8A6"/>
                </a:solidFill>
                <a:latin typeface="Consolas"/>
                <a:ea typeface="Consolas"/>
                <a:cs typeface="Consolas"/>
                <a:sym typeface="Consolas"/>
              </a:rPr>
              <a:t>min</a:t>
            </a:r>
            <a:r>
              <a:rPr b="0" i="0" lang="en-US" sz="1300" u="none" cap="none" strike="noStrike">
                <a:solidFill>
                  <a:srgbClr val="FFFFFF"/>
                </a:solidFill>
                <a:latin typeface="Consolas"/>
                <a:ea typeface="Consolas"/>
                <a:cs typeface="Consolas"/>
                <a:sym typeface="Consolas"/>
              </a:rPr>
              <a:t>(score </a:t>
            </a:r>
            <a:r>
              <a:rPr b="0" i="0" lang="en-US" sz="1300" u="none" cap="none" strike="noStrike">
                <a:solidFill>
                  <a:srgbClr val="14B8A6"/>
                </a:solidFill>
                <a:latin typeface="Consolas"/>
                <a:ea typeface="Consolas"/>
                <a:cs typeface="Consolas"/>
                <a:sym typeface="Consolas"/>
              </a:rPr>
              <a:t>for</a:t>
            </a:r>
            <a:r>
              <a:rPr b="0" i="0" lang="en-US" sz="1300" u="none" cap="none" strike="noStrike">
                <a:solidFill>
                  <a:srgbClr val="FFFFFF"/>
                </a:solidFill>
                <a:latin typeface="Consolas"/>
                <a:ea typeface="Consolas"/>
                <a:cs typeface="Consolas"/>
                <a:sym typeface="Consolas"/>
              </a:rPr>
              <a:t> _, score </a:t>
            </a:r>
            <a:r>
              <a:rPr b="0" i="0" lang="en-US" sz="1300" u="none" cap="none" strike="noStrike">
                <a:solidFill>
                  <a:srgbClr val="14B8A6"/>
                </a:solidFill>
                <a:latin typeface="Consolas"/>
                <a:ea typeface="Consolas"/>
                <a:cs typeface="Consolas"/>
                <a:sym typeface="Consolas"/>
              </a:rPr>
              <a:t>in</a:t>
            </a:r>
            <a:r>
              <a:rPr b="0" i="0" lang="en-US" sz="1300" u="none" cap="none" strike="noStrike">
                <a:solidFill>
                  <a:srgbClr val="FFFFFF"/>
                </a:solidFill>
                <a:latin typeface="Consolas"/>
                <a:ea typeface="Consolas"/>
                <a:cs typeface="Consolas"/>
                <a:sym typeface="Consolas"/>
              </a:rPr>
              <a:t> hits) &gt; </a:t>
            </a:r>
            <a:r>
              <a:rPr b="0" i="0" lang="en-US" sz="1300" u="none" cap="none" strike="noStrike">
                <a:solidFill>
                  <a:srgbClr val="FCD34D"/>
                </a:solidFill>
                <a:latin typeface="Consolas"/>
                <a:ea typeface="Consolas"/>
                <a:cs typeface="Consolas"/>
                <a:sym typeface="Consolas"/>
              </a:rPr>
              <a:t>RELEVANCE_THRESHOLD</a:t>
            </a:r>
            <a:endParaRPr b="0" i="0" sz="1300" u="none" cap="none" strike="noStrike">
              <a:solidFill>
                <a:schemeClr val="dk1"/>
              </a:solidFill>
              <a:latin typeface="Calibri"/>
              <a:ea typeface="Calibri"/>
              <a:cs typeface="Calibri"/>
              <a:sym typeface="Calibri"/>
            </a:endParaRPr>
          </a:p>
        </p:txBody>
      </p:sp>
      <p:sp>
        <p:nvSpPr>
          <p:cNvPr id="244" name="Google Shape;244;p12"/>
          <p:cNvSpPr/>
          <p:nvPr/>
        </p:nvSpPr>
        <p:spPr>
          <a:xfrm>
            <a:off x="457200" y="301752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1" i="0" lang="en-US" sz="1400" u="none" cap="none" strike="noStrike">
                <a:solidFill>
                  <a:srgbClr val="0F766E"/>
                </a:solidFill>
                <a:latin typeface="Calibri"/>
                <a:ea typeface="Calibri"/>
                <a:cs typeface="Calibri"/>
                <a:sym typeface="Calibri"/>
              </a:rPr>
              <a:t>RELEVANCE_THRESHOLD = 0.9</a:t>
            </a:r>
            <a:r>
              <a:rPr b="0" i="0" lang="en-US" sz="1400" u="none" cap="none" strike="noStrike">
                <a:solidFill>
                  <a:srgbClr val="0F172A"/>
                </a:solidFill>
                <a:latin typeface="Calibri"/>
                <a:ea typeface="Calibri"/>
                <a:cs typeface="Calibri"/>
                <a:sym typeface="Calibri"/>
              </a:rPr>
              <a:t> : au-delà, aucun chunk n'est assez pertinent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 on bascule sur le web plutôt que de répondre "à côté"</a:t>
            </a:r>
            <a:endParaRPr b="0" i="0" sz="1400" u="none" cap="none" strike="noStrike">
              <a:solidFill>
                <a:schemeClr val="dk1"/>
              </a:solidFill>
              <a:latin typeface="Calibri"/>
              <a:ea typeface="Calibri"/>
              <a:cs typeface="Calibri"/>
              <a:sym typeface="Calibri"/>
            </a:endParaRPr>
          </a:p>
        </p:txBody>
      </p:sp>
      <p:sp>
        <p:nvSpPr>
          <p:cNvPr id="245" name="Google Shape;245;p12"/>
          <p:cNvSpPr/>
          <p:nvPr/>
        </p:nvSpPr>
        <p:spPr>
          <a:xfrm>
            <a:off x="457200" y="3794760"/>
            <a:ext cx="73152" cy="64008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2"/>
          <p:cNvSpPr/>
          <p:nvPr/>
        </p:nvSpPr>
        <p:spPr>
          <a:xfrm>
            <a:off x="530352" y="3794760"/>
            <a:ext cx="8156448" cy="64008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2"/>
          <p:cNvSpPr/>
          <p:nvPr/>
        </p:nvSpPr>
        <p:spPr>
          <a:xfrm>
            <a:off x="685800" y="3794760"/>
            <a:ext cx="795528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Distance L2 = racine de Σ(a_i − b_i)² sur 384 dimensions — mesure géométrique entre deux vecteurs.</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252" name="Shape 252"/>
        <p:cNvGrpSpPr/>
        <p:nvPr/>
      </p:nvGrpSpPr>
      <p:grpSpPr>
        <a:xfrm>
          <a:off x="0" y="0"/>
          <a:ext cx="0" cy="0"/>
          <a:chOff x="0" y="0"/>
          <a:chExt cx="0" cy="0"/>
        </a:xfrm>
      </p:grpSpPr>
      <p:sp>
        <p:nvSpPr>
          <p:cNvPr id="253" name="Google Shape;253;p13"/>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3"/>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3"/>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3</a:t>
            </a:r>
            <a:endParaRPr b="0" i="0" sz="1200" u="none" cap="none" strike="noStrike">
              <a:solidFill>
                <a:schemeClr val="dk1"/>
              </a:solidFill>
              <a:latin typeface="Calibri"/>
              <a:ea typeface="Calibri"/>
              <a:cs typeface="Calibri"/>
              <a:sym typeface="Calibri"/>
            </a:endParaRPr>
          </a:p>
        </p:txBody>
      </p:sp>
      <p:sp>
        <p:nvSpPr>
          <p:cNvPr id="256" name="Google Shape;256;p13"/>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Comparaison des encodeurs</a:t>
            </a:r>
            <a:endParaRPr b="0" i="0" sz="3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&amp; Bonus DuckDuckGo</a:t>
            </a:r>
            <a:endParaRPr b="0" i="0" sz="3200" u="none" cap="none" strike="noStrike">
              <a:solidFill>
                <a:schemeClr val="dk1"/>
              </a:solidFill>
              <a:latin typeface="Calibri"/>
              <a:ea typeface="Calibri"/>
              <a:cs typeface="Calibri"/>
              <a:sym typeface="Calibri"/>
            </a:endParaRPr>
          </a:p>
        </p:txBody>
      </p:sp>
      <p:sp>
        <p:nvSpPr>
          <p:cNvPr id="257" name="Google Shape;257;p13"/>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3"/>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Imane</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63" name="Shape 263"/>
        <p:cNvGrpSpPr/>
        <p:nvPr/>
      </p:nvGrpSpPr>
      <p:grpSpPr>
        <a:xfrm>
          <a:off x="0" y="0"/>
          <a:ext cx="0" cy="0"/>
          <a:chOff x="0" y="0"/>
          <a:chExt cx="0" cy="0"/>
        </a:xfrm>
      </p:grpSpPr>
      <p:sp>
        <p:nvSpPr>
          <p:cNvPr id="264" name="Google Shape;264;p14"/>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4"/>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4"/>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67" name="Google Shape;267;p14"/>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Pourquoi comparer plusieurs encodeurs ?</a:t>
            </a:r>
            <a:endParaRPr b="0" i="0" sz="2200" u="none" cap="none" strike="noStrike">
              <a:solidFill>
                <a:schemeClr val="dk1"/>
              </a:solidFill>
              <a:latin typeface="Calibri"/>
              <a:ea typeface="Calibri"/>
              <a:cs typeface="Calibri"/>
              <a:sym typeface="Calibri"/>
            </a:endParaRPr>
          </a:p>
        </p:txBody>
      </p:sp>
      <p:sp>
        <p:nvSpPr>
          <p:cNvPr id="268" name="Google Shape;268;p14"/>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14</a:t>
            </a:r>
            <a:endParaRPr b="0" i="0" sz="1000" u="none" cap="none" strike="noStrike">
              <a:solidFill>
                <a:schemeClr val="dk1"/>
              </a:solidFill>
              <a:latin typeface="Calibri"/>
              <a:ea typeface="Calibri"/>
              <a:cs typeface="Calibri"/>
              <a:sym typeface="Calibri"/>
            </a:endParaRPr>
          </a:p>
        </p:txBody>
      </p:sp>
      <p:sp>
        <p:nvSpPr>
          <p:cNvPr id="269" name="Google Shape;269;p14"/>
          <p:cNvSpPr/>
          <p:nvPr/>
        </p:nvSpPr>
        <p:spPr>
          <a:xfrm>
            <a:off x="457200" y="1051560"/>
            <a:ext cx="82296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Le choix de l'encodeur change la </a:t>
            </a:r>
            <a:r>
              <a:rPr b="1" i="0" lang="en-US" sz="1500" u="none" cap="none" strike="noStrike">
                <a:solidFill>
                  <a:srgbClr val="0F766E"/>
                </a:solidFill>
                <a:latin typeface="Calibri"/>
                <a:ea typeface="Calibri"/>
                <a:cs typeface="Calibri"/>
                <a:sym typeface="Calibri"/>
              </a:rPr>
              <a:t>qualité de la recherche sémantique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 exigence explicite de la SAE : "tester et comparer plusieurs encodeurs"</a:t>
            </a:r>
            <a:endParaRPr b="0" i="0" sz="1500" u="none" cap="none" strike="noStrike">
              <a:solidFill>
                <a:schemeClr val="dk1"/>
              </a:solidFill>
              <a:latin typeface="Calibri"/>
              <a:ea typeface="Calibri"/>
              <a:cs typeface="Calibri"/>
              <a:sym typeface="Calibri"/>
            </a:endParaRPr>
          </a:p>
        </p:txBody>
      </p:sp>
      <p:graphicFrame>
        <p:nvGraphicFramePr>
          <p:cNvPr id="270" name="Google Shape;270;p14"/>
          <p:cNvGraphicFramePr/>
          <p:nvPr/>
        </p:nvGraphicFramePr>
        <p:xfrm>
          <a:off x="457200" y="1920240"/>
          <a:ext cx="3000000" cy="3000000"/>
        </p:xfrm>
        <a:graphic>
          <a:graphicData uri="http://schemas.openxmlformats.org/drawingml/2006/table">
            <a:tbl>
              <a:tblPr>
                <a:noFill/>
                <a:tableStyleId>{C3374D3B-CAC8-4FC6-B79D-81F7425B36E4}</a:tableStyleId>
              </a:tblPr>
              <a:tblGrid>
                <a:gridCol w="3474725"/>
                <a:gridCol w="1097275"/>
                <a:gridCol w="3657600"/>
              </a:tblGrid>
              <a:tr h="571500">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Encodeur</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rPr>
                        <a:t>Dim.</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Spécialité</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r>
              <a:tr h="57150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all-MiniLM-L6-v2</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0F172A"/>
                        </a:buClr>
                        <a:buSzPts val="1200"/>
                        <a:buFont typeface="Calibri"/>
                        <a:buNone/>
                      </a:pPr>
                      <a:r>
                        <a:rPr lang="en-US" sz="1200" u="none" cap="none" strike="noStrike">
                          <a:solidFill>
                            <a:srgbClr val="0F172A"/>
                          </a:solidFill>
                        </a:rPr>
                        <a:t>384</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Généraliste multilingue, très léger</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571500">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sentence-camembert-base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0F172A"/>
                        </a:buClr>
                        <a:buSzPts val="1200"/>
                        <a:buFont typeface="Calibri"/>
                        <a:buNone/>
                      </a:pPr>
                      <a:r>
                        <a:rPr lang="en-US" sz="1200" u="none" cap="none" strike="noStrike">
                          <a:solidFill>
                            <a:srgbClr val="0F172A"/>
                          </a:solidFill>
                        </a:rPr>
                        <a:t>768</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Spécialisé français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571500">
                <a:tc>
                  <a:txBody>
                    <a:bodyPr/>
                    <a:lstStyle/>
                    <a:p>
                      <a:pPr indent="0" lvl="0" marL="0" marR="0" rtl="0" algn="l">
                        <a:spcBef>
                          <a:spcPts val="0"/>
                        </a:spcBef>
                        <a:spcAft>
                          <a:spcPts val="0"/>
                        </a:spcAft>
                        <a:buClr>
                          <a:srgbClr val="0F172A"/>
                        </a:buClr>
                        <a:buSzPts val="1100"/>
                        <a:buFont typeface="Calibri"/>
                        <a:buNone/>
                      </a:pPr>
                      <a:r>
                        <a:rPr lang="en-US" sz="1100" u="none" cap="none" strike="noStrike">
                          <a:solidFill>
                            <a:srgbClr val="0F172A"/>
                          </a:solidFill>
                        </a:rPr>
                        <a:t>paraphrase-multilingual-mpnet-base-v2</a:t>
                      </a:r>
                      <a:endParaRPr sz="11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0F172A"/>
                        </a:buClr>
                        <a:buSzPts val="1200"/>
                        <a:buFont typeface="Calibri"/>
                        <a:buNone/>
                      </a:pPr>
                      <a:r>
                        <a:rPr lang="en-US" sz="1200" u="none" cap="none" strike="noStrike">
                          <a:solidFill>
                            <a:srgbClr val="0F172A"/>
                          </a:solidFill>
                        </a:rPr>
                        <a:t>768</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Multilingue haute qualité</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bl>
          </a:graphicData>
        </a:graphic>
      </p:graphicFrame>
      <p:sp>
        <p:nvSpPr>
          <p:cNvPr id="271" name="Google Shape;271;p14"/>
          <p:cNvSpPr/>
          <p:nvPr/>
        </p:nvSpPr>
        <p:spPr>
          <a:xfrm>
            <a:off x="457200" y="4315968"/>
            <a:ext cx="822960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300"/>
              <a:buFont typeface="Calibri"/>
              <a:buNone/>
            </a:pPr>
            <a:r>
              <a:rPr b="0" i="1" lang="en-US" sz="1300" u="none" cap="none" strike="noStrike">
                <a:solidFill>
                  <a:srgbClr val="94A3B8"/>
                </a:solidFill>
                <a:latin typeface="Calibri"/>
                <a:ea typeface="Calibri"/>
                <a:cs typeface="Calibri"/>
                <a:sym typeface="Calibri"/>
              </a:rPr>
              <a:t>3 modèles testés sur les mêmes 5 PDF, indexés séparément.</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76" name="Shape 276"/>
        <p:cNvGrpSpPr/>
        <p:nvPr/>
      </p:nvGrpSpPr>
      <p:grpSpPr>
        <a:xfrm>
          <a:off x="0" y="0"/>
          <a:ext cx="0" cy="0"/>
          <a:chOff x="0" y="0"/>
          <a:chExt cx="0" cy="0"/>
        </a:xfrm>
      </p:grpSpPr>
      <p:sp>
        <p:nvSpPr>
          <p:cNvPr id="277" name="Google Shape;277;p15"/>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5"/>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80" name="Google Shape;280;p15"/>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Résultats de la comparaison</a:t>
            </a:r>
            <a:endParaRPr b="0" i="0" sz="2200" u="none" cap="none" strike="noStrike">
              <a:solidFill>
                <a:schemeClr val="dk1"/>
              </a:solidFill>
              <a:latin typeface="Calibri"/>
              <a:ea typeface="Calibri"/>
              <a:cs typeface="Calibri"/>
              <a:sym typeface="Calibri"/>
            </a:endParaRPr>
          </a:p>
        </p:txBody>
      </p:sp>
      <p:sp>
        <p:nvSpPr>
          <p:cNvPr id="281" name="Google Shape;281;p15"/>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15</a:t>
            </a:r>
            <a:endParaRPr b="0" i="0" sz="1000" u="none" cap="none" strike="noStrike">
              <a:solidFill>
                <a:schemeClr val="dk1"/>
              </a:solidFill>
              <a:latin typeface="Calibri"/>
              <a:ea typeface="Calibri"/>
              <a:cs typeface="Calibri"/>
              <a:sym typeface="Calibri"/>
            </a:endParaRPr>
          </a:p>
        </p:txBody>
      </p:sp>
      <p:graphicFrame>
        <p:nvGraphicFramePr>
          <p:cNvPr id="282" name="Google Shape;282;p15"/>
          <p:cNvGraphicFramePr/>
          <p:nvPr/>
        </p:nvGraphicFramePr>
        <p:xfrm>
          <a:off x="457200" y="1051560"/>
          <a:ext cx="3000000" cy="3000000"/>
        </p:xfrm>
        <a:graphic>
          <a:graphicData uri="http://schemas.openxmlformats.org/drawingml/2006/table">
            <a:tbl>
              <a:tblPr>
                <a:noFill/>
                <a:tableStyleId>{C3374D3B-CAC8-4FC6-B79D-81F7425B36E4}</a:tableStyleId>
              </a:tblPr>
              <a:tblGrid>
                <a:gridCol w="2468875"/>
                <a:gridCol w="1828800"/>
                <a:gridCol w="3931925"/>
              </a:tblGrid>
              <a:tr h="548650">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Encodeur</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Vitesse (971 chunks)</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c>
                  <a:txBody>
                    <a:bodyPr/>
                    <a:lstStyle/>
                    <a:p>
                      <a:pPr indent="0" lvl="0" marL="0" marR="0" rtl="0" algn="l">
                        <a:spcBef>
                          <a:spcPts val="0"/>
                        </a:spcBef>
                        <a:spcAft>
                          <a:spcPts val="0"/>
                        </a:spcAft>
                        <a:buClr>
                          <a:srgbClr val="FFFFFF"/>
                        </a:buClr>
                        <a:buSzPts val="1300"/>
                        <a:buFont typeface="Calibri"/>
                        <a:buNone/>
                      </a:pPr>
                      <a:r>
                        <a:rPr b="1" lang="en-US" sz="1300" u="none" cap="none" strike="noStrike">
                          <a:solidFill>
                            <a:srgbClr val="FFFFFF"/>
                          </a:solidFill>
                        </a:rPr>
                        <a:t>Qualité observée</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134E4A"/>
                    </a:solidFill>
                  </a:tcPr>
                </a:tc>
              </a:tr>
              <a:tr h="548650">
                <a:tc>
                  <a:txBody>
                    <a:bodyPr/>
                    <a:lstStyle/>
                    <a:p>
                      <a:pPr indent="0" lvl="0" marL="0" marR="0" rtl="0" algn="l">
                        <a:spcBef>
                          <a:spcPts val="0"/>
                        </a:spcBef>
                        <a:spcAft>
                          <a:spcPts val="0"/>
                        </a:spcAft>
                        <a:buClr>
                          <a:srgbClr val="0F766E"/>
                        </a:buClr>
                        <a:buSzPts val="1200"/>
                        <a:buFont typeface="Calibri"/>
                        <a:buNone/>
                      </a:pPr>
                      <a:r>
                        <a:rPr b="1" lang="en-US" sz="1200" u="none" cap="none" strike="noStrike">
                          <a:solidFill>
                            <a:srgbClr val="0F766E"/>
                          </a:solidFill>
                        </a:rPr>
                        <a:t>MiniLM (retenu)</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0F766E"/>
                        </a:buClr>
                        <a:buSzPts val="1400"/>
                        <a:buFont typeface="Calibri"/>
                        <a:buNone/>
                      </a:pPr>
                      <a:r>
                        <a:rPr b="1" lang="en-US" sz="1400" u="none" cap="none" strike="noStrike">
                          <a:solidFill>
                            <a:srgbClr val="0F766E"/>
                          </a:solidFill>
                        </a:rPr>
                        <a:t>71s</a:t>
                      </a:r>
                      <a:endParaRPr sz="14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Bonne, parfois distraite par du bruit (citations)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r h="548650">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CamemBERT</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475569"/>
                        </a:buClr>
                        <a:buSzPts val="1300"/>
                        <a:buFont typeface="Calibri"/>
                        <a:buNone/>
                      </a:pPr>
                      <a:r>
                        <a:rPr lang="en-US" sz="1300" u="none" cap="none" strike="noStrike">
                          <a:solidFill>
                            <a:srgbClr val="475569"/>
                          </a:solidFill>
                        </a:rPr>
                        <a:t>270s</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Capte mieux le sens médical en français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FFFFFF"/>
                    </a:solidFill>
                  </a:tcPr>
                </a:tc>
              </a:tr>
              <a:tr h="548650">
                <a:tc>
                  <a:txBody>
                    <a:bodyPr/>
                    <a:lstStyle/>
                    <a:p>
                      <a:pPr indent="0" lvl="0" marL="0" marR="0" rtl="0" algn="l">
                        <a:spcBef>
                          <a:spcPts val="0"/>
                        </a:spcBef>
                        <a:spcAft>
                          <a:spcPts val="0"/>
                        </a:spcAft>
                        <a:buClr>
                          <a:srgbClr val="0F172A"/>
                        </a:buClr>
                        <a:buSzPts val="1200"/>
                        <a:buFont typeface="Calibri"/>
                        <a:buNone/>
                      </a:pPr>
                      <a:r>
                        <a:rPr lang="en-US" sz="1200" u="none" cap="none" strike="noStrike">
                          <a:solidFill>
                            <a:srgbClr val="0F172A"/>
                          </a:solidFill>
                        </a:rPr>
                        <a:t>mpnet multilingue</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ctr">
                        <a:spcBef>
                          <a:spcPts val="0"/>
                        </a:spcBef>
                        <a:spcAft>
                          <a:spcPts val="0"/>
                        </a:spcAft>
                        <a:buClr>
                          <a:srgbClr val="475569"/>
                        </a:buClr>
                        <a:buSzPts val="1300"/>
                        <a:buFont typeface="Calibri"/>
                        <a:buNone/>
                      </a:pPr>
                      <a:r>
                        <a:rPr lang="en-US" sz="1300" u="none" cap="none" strike="noStrike">
                          <a:solidFill>
                            <a:srgbClr val="475569"/>
                          </a:solidFill>
                        </a:rPr>
                        <a:t>244s</a:t>
                      </a:r>
                      <a:endParaRPr sz="13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c>
                  <a:txBody>
                    <a:bodyPr/>
                    <a:lstStyle/>
                    <a:p>
                      <a:pPr indent="0" lvl="0" marL="0" marR="0" rtl="0" algn="l">
                        <a:spcBef>
                          <a:spcPts val="0"/>
                        </a:spcBef>
                        <a:spcAft>
                          <a:spcPts val="0"/>
                        </a:spcAft>
                        <a:buClr>
                          <a:srgbClr val="134E4A"/>
                        </a:buClr>
                        <a:buSzPts val="1200"/>
                        <a:buFont typeface="Calibri"/>
                        <a:buNone/>
                      </a:pPr>
                      <a:r>
                        <a:rPr b="1" lang="en-US" sz="1200" u="none" cap="none" strike="noStrike">
                          <a:solidFill>
                            <a:srgbClr val="134E4A"/>
                          </a:solidFill>
                        </a:rPr>
                        <a:t>Le plus pertinent des 3 sur nos tests</a:t>
                      </a:r>
                      <a:endParaRPr sz="1200" u="none" cap="none" strike="noStrike"/>
                    </a:p>
                  </a:txBody>
                  <a:tcPr marT="45725" marB="45725" marR="91450" marL="91450">
                    <a:lnL cap="flat" cmpd="sng" w="9525">
                      <a:solidFill>
                        <a:srgbClr val="E2E8F0"/>
                      </a:solidFill>
                      <a:prstDash val="solid"/>
                      <a:round/>
                      <a:headEnd len="sm" w="sm" type="none"/>
                      <a:tailEnd len="sm" w="sm" type="none"/>
                    </a:lnL>
                    <a:lnR cap="flat" cmpd="sng" w="9525">
                      <a:solidFill>
                        <a:srgbClr val="E2E8F0"/>
                      </a:solidFill>
                      <a:prstDash val="solid"/>
                      <a:round/>
                      <a:headEnd len="sm" w="sm" type="none"/>
                      <a:tailEnd len="sm" w="sm" type="none"/>
                    </a:lnR>
                    <a:lnT cap="flat" cmpd="sng" w="9525">
                      <a:solidFill>
                        <a:srgbClr val="E2E8F0"/>
                      </a:solidFill>
                      <a:prstDash val="solid"/>
                      <a:round/>
                      <a:headEnd len="sm" w="sm" type="none"/>
                      <a:tailEnd len="sm" w="sm" type="none"/>
                    </a:lnT>
                    <a:lnB cap="flat" cmpd="sng" w="9525">
                      <a:solidFill>
                        <a:srgbClr val="E2E8F0"/>
                      </a:solidFill>
                      <a:prstDash val="solid"/>
                      <a:round/>
                      <a:headEnd len="sm" w="sm" type="none"/>
                      <a:tailEnd len="sm" w="sm" type="none"/>
                    </a:lnB>
                    <a:solidFill>
                      <a:srgbClr val="CCFBF1"/>
                    </a:solidFill>
                  </a:tcPr>
                </a:tc>
              </a:tr>
            </a:tbl>
          </a:graphicData>
        </a:graphic>
      </p:graphicFrame>
      <p:sp>
        <p:nvSpPr>
          <p:cNvPr id="283" name="Google Shape;283;p15"/>
          <p:cNvSpPr/>
          <p:nvPr/>
        </p:nvSpPr>
        <p:spPr>
          <a:xfrm>
            <a:off x="457200" y="3383280"/>
            <a:ext cx="8229600" cy="141732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5"/>
          <p:cNvSpPr/>
          <p:nvPr/>
        </p:nvSpPr>
        <p:spPr>
          <a:xfrm>
            <a:off x="640080" y="3383280"/>
            <a:ext cx="7863840" cy="1417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500"/>
              <a:buFont typeface="Calibri"/>
              <a:buNone/>
            </a:pPr>
            <a:r>
              <a:rPr b="1" i="0" lang="en-US" sz="1500" u="none" cap="none" strike="noStrike">
                <a:solidFill>
                  <a:srgbClr val="CCFBF1"/>
                </a:solidFill>
                <a:latin typeface="Calibri"/>
                <a:ea typeface="Calibri"/>
                <a:cs typeface="Calibri"/>
                <a:sym typeface="Calibri"/>
              </a:rPr>
              <a:t>Décision : </a:t>
            </a:r>
            <a:r>
              <a:rPr b="0" i="0" lang="en-US" sz="1400" u="none" cap="none" strike="noStrike">
                <a:solidFill>
                  <a:srgbClr val="FFFFFF"/>
                </a:solidFill>
                <a:latin typeface="Calibri"/>
                <a:ea typeface="Calibri"/>
                <a:cs typeface="Calibri"/>
                <a:sym typeface="Calibri"/>
              </a:rPr>
              <a:t>MiniLM gardé en prod — rapidité d'indexation (4× plus rapide que CamemBERT/mpnet)</a:t>
            </a:r>
            <a:br>
              <a:rPr b="0" i="0" lang="en-US" sz="1400" u="none" cap="none" strike="noStrike">
                <a:solidFill>
                  <a:srgbClr val="FFFFFF"/>
                </a:solidFill>
                <a:latin typeface="Calibri"/>
                <a:ea typeface="Calibri"/>
                <a:cs typeface="Calibri"/>
                <a:sym typeface="Calibri"/>
              </a:rPr>
            </a:br>
            <a:r>
              <a:rPr b="0" i="0" lang="en-US" sz="1300" u="none" cap="none" strike="noStrike">
                <a:solidFill>
                  <a:srgbClr val="14B8A6"/>
                </a:solidFill>
                <a:latin typeface="Calibri"/>
                <a:ea typeface="Calibri"/>
                <a:cs typeface="Calibri"/>
                <a:sym typeface="Calibri"/>
              </a:rPr>
              <a:t>Les 2 autres documentés comme alternatives plus précises mais plus lentes.</a:t>
            </a:r>
            <a:br>
              <a:rPr b="0" i="0" lang="en-US" sz="1300" u="none" cap="none" strike="noStrike">
                <a:solidFill>
                  <a:srgbClr val="14B8A6"/>
                </a:solidFill>
                <a:latin typeface="Calibri"/>
                <a:ea typeface="Calibri"/>
                <a:cs typeface="Calibri"/>
                <a:sym typeface="Calibri"/>
              </a:rPr>
            </a:br>
            <a:r>
              <a:rPr b="0" i="1" lang="en-US" sz="1300" u="none" cap="none" strike="noStrike">
                <a:solidFill>
                  <a:srgbClr val="CCFBF1"/>
                </a:solidFill>
                <a:latin typeface="Calibri"/>
                <a:ea typeface="Calibri"/>
                <a:cs typeface="Calibri"/>
                <a:sym typeface="Calibri"/>
              </a:rPr>
              <a:t>→ Répond à l'exigence "comparer" sans sacrifier les contraintes de déploiement.</a:t>
            </a:r>
            <a:endParaRPr b="0" i="0" sz="15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289" name="Shape 289"/>
        <p:cNvGrpSpPr/>
        <p:nvPr/>
      </p:nvGrpSpPr>
      <p:grpSpPr>
        <a:xfrm>
          <a:off x="0" y="0"/>
          <a:ext cx="0" cy="0"/>
          <a:chOff x="0" y="0"/>
          <a:chExt cx="0" cy="0"/>
        </a:xfrm>
      </p:grpSpPr>
      <p:sp>
        <p:nvSpPr>
          <p:cNvPr id="290" name="Google Shape;290;p16"/>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6"/>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6"/>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293" name="Google Shape;293;p16"/>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Bonus — Recherche web DuckDuckGo</a:t>
            </a:r>
            <a:endParaRPr b="0" i="0" sz="2200" u="none" cap="none" strike="noStrike">
              <a:solidFill>
                <a:schemeClr val="dk1"/>
              </a:solidFill>
              <a:latin typeface="Calibri"/>
              <a:ea typeface="Calibri"/>
              <a:cs typeface="Calibri"/>
              <a:sym typeface="Calibri"/>
            </a:endParaRPr>
          </a:p>
        </p:txBody>
      </p:sp>
      <p:sp>
        <p:nvSpPr>
          <p:cNvPr id="294" name="Google Shape;294;p16"/>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16</a:t>
            </a:r>
            <a:endParaRPr b="0" i="0" sz="1000" u="none" cap="none" strike="noStrike">
              <a:solidFill>
                <a:schemeClr val="dk1"/>
              </a:solidFill>
              <a:latin typeface="Calibri"/>
              <a:ea typeface="Calibri"/>
              <a:cs typeface="Calibri"/>
              <a:sym typeface="Calibri"/>
            </a:endParaRPr>
          </a:p>
        </p:txBody>
      </p:sp>
      <p:sp>
        <p:nvSpPr>
          <p:cNvPr id="295" name="Google Shape;295;p16"/>
          <p:cNvSpPr/>
          <p:nvPr/>
        </p:nvSpPr>
        <p:spPr>
          <a:xfrm>
            <a:off x="457200" y="1051560"/>
            <a:ext cx="82296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Quand le RAG ne couvre pas la question (score &gt; seuil), on enrichit la réponse</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avec une recherche web — pour ne pas répondre "à côté".</a:t>
            </a:r>
            <a:endParaRPr b="0" i="0" sz="1500" u="none" cap="none" strike="noStrike">
              <a:solidFill>
                <a:schemeClr val="dk1"/>
              </a:solidFill>
              <a:latin typeface="Calibri"/>
              <a:ea typeface="Calibri"/>
              <a:cs typeface="Calibri"/>
              <a:sym typeface="Calibri"/>
            </a:endParaRPr>
          </a:p>
        </p:txBody>
      </p:sp>
      <p:sp>
        <p:nvSpPr>
          <p:cNvPr id="296" name="Google Shape;296;p16"/>
          <p:cNvSpPr/>
          <p:nvPr/>
        </p:nvSpPr>
        <p:spPr>
          <a:xfrm>
            <a:off x="457200" y="1828800"/>
            <a:ext cx="8229600" cy="146304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6"/>
          <p:cNvSpPr/>
          <p:nvPr/>
        </p:nvSpPr>
        <p:spPr>
          <a:xfrm>
            <a:off x="640080" y="1828800"/>
            <a:ext cx="786384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B8A6"/>
              </a:buClr>
              <a:buSzPts val="1200"/>
              <a:buFont typeface="Consolas"/>
              <a:buNone/>
            </a:pPr>
            <a:r>
              <a:rPr b="0" i="0" lang="en-US" sz="1200" u="none" cap="none" strike="noStrike">
                <a:solidFill>
                  <a:srgbClr val="14B8A6"/>
                </a:solidFill>
                <a:latin typeface="Consolas"/>
                <a:ea typeface="Consolas"/>
                <a:cs typeface="Consolas"/>
                <a:sym typeface="Consolas"/>
              </a:rPr>
              <a:t>def </a:t>
            </a:r>
            <a:r>
              <a:rPr b="0" i="0" lang="en-US" sz="1200" u="none" cap="none" strike="noStrike">
                <a:solidFill>
                  <a:srgbClr val="FCD34D"/>
                </a:solidFill>
                <a:latin typeface="Consolas"/>
                <a:ea typeface="Consolas"/>
                <a:cs typeface="Consolas"/>
                <a:sym typeface="Consolas"/>
              </a:rPr>
              <a:t>web_search</a:t>
            </a:r>
            <a:r>
              <a:rPr b="0" i="0" lang="en-US" sz="1200" u="none" cap="none" strike="noStrike">
                <a:solidFill>
                  <a:srgbClr val="FFFFFF"/>
                </a:solidFill>
                <a:latin typeface="Consolas"/>
                <a:ea typeface="Consolas"/>
                <a:cs typeface="Consolas"/>
                <a:sym typeface="Consolas"/>
              </a:rPr>
              <a:t>(question, max_results=</a:t>
            </a:r>
            <a:r>
              <a:rPr b="0" i="0" lang="en-US" sz="1200" u="none" cap="none" strike="noStrike">
                <a:solidFill>
                  <a:srgbClr val="FCD34D"/>
                </a:solidFill>
                <a:latin typeface="Consolas"/>
                <a:ea typeface="Consolas"/>
                <a:cs typeface="Consolas"/>
                <a:sym typeface="Consolas"/>
              </a:rPr>
              <a:t>3</a:t>
            </a:r>
            <a:r>
              <a:rPr b="0" i="0" lang="en-US" sz="1200" u="none" cap="none" strike="noStrike">
                <a:solidFill>
                  <a:srgbClr val="FFFFFF"/>
                </a:solidFill>
                <a:latin typeface="Consolas"/>
                <a:ea typeface="Consolas"/>
                <a:cs typeface="Consolas"/>
                <a:sym typeface="Consolas"/>
              </a:rPr>
              <a:t>):</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    query = reformulate_search_query(question)</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    results = DDGS().text(query, max_results=max_results)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    </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4B8A6"/>
              </a:buClr>
              <a:buSzPts val="1200"/>
              <a:buFont typeface="Consolas"/>
              <a:buNone/>
            </a:pPr>
            <a:r>
              <a:rPr b="0" i="0" lang="en-US" sz="1200" u="none" cap="none" strike="noStrike">
                <a:solidFill>
                  <a:srgbClr val="14B8A6"/>
                </a:solidFill>
                <a:latin typeface="Consolas"/>
                <a:ea typeface="Consolas"/>
                <a:cs typeface="Consolas"/>
                <a:sym typeface="Consolas"/>
              </a:rPr>
              <a:t>return</a:t>
            </a:r>
            <a:r>
              <a:rPr b="0" i="0" lang="en-US" sz="1200" u="none" cap="none" strike="noStrike">
                <a:solidFill>
                  <a:srgbClr val="FFFFFF"/>
                </a:solidFill>
                <a:latin typeface="Consolas"/>
                <a:ea typeface="Consolas"/>
                <a:cs typeface="Consolas"/>
                <a:sym typeface="Consolas"/>
              </a:rPr>
              <a:t> "\n\n".join(f"{r['title']} : {r['body']} (source: {r['href']})" for r in results)</a:t>
            </a:r>
            <a:endParaRPr b="0" i="0" sz="1200" u="none" cap="none" strike="noStrike">
              <a:solidFill>
                <a:schemeClr val="dk1"/>
              </a:solidFill>
              <a:latin typeface="Calibri"/>
              <a:ea typeface="Calibri"/>
              <a:cs typeface="Calibri"/>
              <a:sym typeface="Calibri"/>
            </a:endParaRPr>
          </a:p>
        </p:txBody>
      </p:sp>
      <p:sp>
        <p:nvSpPr>
          <p:cNvPr id="298" name="Google Shape;298;p16"/>
          <p:cNvSpPr/>
          <p:nvPr/>
        </p:nvSpPr>
        <p:spPr>
          <a:xfrm>
            <a:off x="457200" y="3429000"/>
            <a:ext cx="73152" cy="7315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530352" y="3429000"/>
            <a:ext cx="8156448" cy="73152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685800" y="3429000"/>
            <a:ext cx="79552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400"/>
              <a:buFont typeface="Calibri"/>
              <a:buNone/>
            </a:pPr>
            <a:r>
              <a:rPr b="1" i="0" lang="en-US" sz="1400" u="none" cap="none" strike="noStrike">
                <a:solidFill>
                  <a:srgbClr val="134E4A"/>
                </a:solidFill>
                <a:latin typeface="Calibri"/>
                <a:ea typeface="Calibri"/>
                <a:cs typeface="Calibri"/>
                <a:sym typeface="Calibri"/>
              </a:rPr>
              <a:t>Web = filet de sécurité</a:t>
            </a:r>
            <a:r>
              <a:rPr b="0" i="0" lang="en-US" sz="1400" u="none" cap="none" strike="noStrike">
                <a:solidFill>
                  <a:srgbClr val="0F172A"/>
                </a:solidFill>
                <a:latin typeface="Calibri"/>
                <a:ea typeface="Calibri"/>
                <a:cs typeface="Calibri"/>
                <a:sym typeface="Calibri"/>
              </a:rPr>
              <a:t>, jamais une source par défaut.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72A"/>
              </a:buClr>
              <a:buSzPts val="1400"/>
              <a:buFont typeface="Calibri"/>
              <a:buNone/>
            </a:pPr>
            <a:r>
              <a:rPr b="0" i="0" lang="en-US" sz="1400" u="none" cap="none" strike="noStrike">
                <a:solidFill>
                  <a:srgbClr val="0F172A"/>
                </a:solidFill>
                <a:latin typeface="Calibri"/>
                <a:ea typeface="Calibri"/>
                <a:cs typeface="Calibri"/>
                <a:sym typeface="Calibri"/>
              </a:rPr>
              <a:t>Le LLM signale explicitement quand une info vient du web, pas des PDF.</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05" name="Shape 305"/>
        <p:cNvGrpSpPr/>
        <p:nvPr/>
      </p:nvGrpSpPr>
      <p:grpSpPr>
        <a:xfrm>
          <a:off x="0" y="0"/>
          <a:ext cx="0" cy="0"/>
          <a:chOff x="0" y="0"/>
          <a:chExt cx="0" cy="0"/>
        </a:xfrm>
      </p:grpSpPr>
      <p:sp>
        <p:nvSpPr>
          <p:cNvPr id="306" name="Google Shape;306;p17"/>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7"/>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7"/>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09" name="Google Shape;309;p17"/>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Bug rencontré et corrigé (DuckDuckGo)</a:t>
            </a:r>
            <a:endParaRPr b="0" i="0" sz="2200" u="none" cap="none" strike="noStrike">
              <a:solidFill>
                <a:schemeClr val="dk1"/>
              </a:solidFill>
              <a:latin typeface="Calibri"/>
              <a:ea typeface="Calibri"/>
              <a:cs typeface="Calibri"/>
              <a:sym typeface="Calibri"/>
            </a:endParaRPr>
          </a:p>
        </p:txBody>
      </p:sp>
      <p:sp>
        <p:nvSpPr>
          <p:cNvPr id="310" name="Google Shape;310;p17"/>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17</a:t>
            </a:r>
            <a:endParaRPr b="0" i="0" sz="1000" u="none" cap="none" strike="noStrike">
              <a:solidFill>
                <a:schemeClr val="dk1"/>
              </a:solidFill>
              <a:latin typeface="Calibri"/>
              <a:ea typeface="Calibri"/>
              <a:cs typeface="Calibri"/>
              <a:sym typeface="Calibri"/>
            </a:endParaRPr>
          </a:p>
        </p:txBody>
      </p:sp>
      <p:sp>
        <p:nvSpPr>
          <p:cNvPr id="311" name="Google Shape;311;p17"/>
          <p:cNvSpPr/>
          <p:nvPr/>
        </p:nvSpPr>
        <p:spPr>
          <a:xfrm>
            <a:off x="457200" y="1097280"/>
            <a:ext cx="73152" cy="82296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530352" y="1097280"/>
            <a:ext cx="8156448" cy="822960"/>
          </a:xfrm>
          <a:prstGeom prst="rect">
            <a:avLst/>
          </a:prstGeom>
          <a:solidFill>
            <a:srgbClr val="CCFBF1"/>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7"/>
          <p:cNvSpPr/>
          <p:nvPr/>
        </p:nvSpPr>
        <p:spPr>
          <a:xfrm>
            <a:off x="685800" y="1143000"/>
            <a:ext cx="1645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300"/>
              <a:buFont typeface="Calibri"/>
              <a:buNone/>
            </a:pPr>
            <a:r>
              <a:rPr b="1" i="0" lang="en-US" sz="1300" u="none" cap="none" strike="noStrike">
                <a:solidFill>
                  <a:srgbClr val="134E4A"/>
                </a:solidFill>
                <a:latin typeface="Calibri"/>
                <a:ea typeface="Calibri"/>
                <a:cs typeface="Calibri"/>
                <a:sym typeface="Calibri"/>
              </a:rPr>
              <a:t>Symptôme</a:t>
            </a:r>
            <a:endParaRPr b="0" i="0" sz="1300" u="none" cap="none" strike="noStrike">
              <a:solidFill>
                <a:schemeClr val="dk1"/>
              </a:solidFill>
              <a:latin typeface="Calibri"/>
              <a:ea typeface="Calibri"/>
              <a:cs typeface="Calibri"/>
              <a:sym typeface="Calibri"/>
            </a:endParaRPr>
          </a:p>
        </p:txBody>
      </p:sp>
      <p:sp>
        <p:nvSpPr>
          <p:cNvPr id="314" name="Google Shape;314;p17"/>
          <p:cNvSpPr/>
          <p:nvPr/>
        </p:nvSpPr>
        <p:spPr>
          <a:xfrm>
            <a:off x="685800" y="1444752"/>
            <a:ext cx="7863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0" i="0" lang="en-US" sz="1300" u="none" cap="none" strike="noStrike">
                <a:solidFill>
                  <a:srgbClr val="0F172A"/>
                </a:solidFill>
                <a:latin typeface="Calibri"/>
                <a:ea typeface="Calibri"/>
                <a:cs typeface="Calibri"/>
                <a:sym typeface="Calibri"/>
              </a:rPr>
              <a:t>"j'ai de la fièvre" interprété comme une demande de traduction → résultats Reverso / Collins, pas d'info médicale.</a:t>
            </a:r>
            <a:endParaRPr b="0" i="0" sz="13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2103120"/>
            <a:ext cx="73152" cy="822960"/>
          </a:xfrm>
          <a:prstGeom prst="rect">
            <a:avLst/>
          </a:prstGeom>
          <a:solidFill>
            <a:srgbClr val="5B21B6"/>
          </a:solidFill>
          <a:ln cap="flat" cmpd="sng" w="12700">
            <a:solidFill>
              <a:srgbClr val="5B21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7"/>
          <p:cNvSpPr/>
          <p:nvPr/>
        </p:nvSpPr>
        <p:spPr>
          <a:xfrm>
            <a:off x="530352" y="2103120"/>
            <a:ext cx="8156448" cy="82296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7"/>
          <p:cNvSpPr/>
          <p:nvPr/>
        </p:nvSpPr>
        <p:spPr>
          <a:xfrm>
            <a:off x="685800" y="2148840"/>
            <a:ext cx="1645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21B6"/>
              </a:buClr>
              <a:buSzPts val="1300"/>
              <a:buFont typeface="Calibri"/>
              <a:buNone/>
            </a:pPr>
            <a:r>
              <a:rPr b="1" i="0" lang="en-US" sz="1300" u="none" cap="none" strike="noStrike">
                <a:solidFill>
                  <a:srgbClr val="5B21B6"/>
                </a:solidFill>
                <a:latin typeface="Calibri"/>
                <a:ea typeface="Calibri"/>
                <a:cs typeface="Calibri"/>
                <a:sym typeface="Calibri"/>
              </a:rPr>
              <a:t>Cause</a:t>
            </a:r>
            <a:endParaRPr b="0" i="0" sz="1300" u="none" cap="none" strike="noStrike">
              <a:solidFill>
                <a:schemeClr val="dk1"/>
              </a:solidFill>
              <a:latin typeface="Calibri"/>
              <a:ea typeface="Calibri"/>
              <a:cs typeface="Calibri"/>
              <a:sym typeface="Calibri"/>
            </a:endParaRPr>
          </a:p>
        </p:txBody>
      </p:sp>
      <p:sp>
        <p:nvSpPr>
          <p:cNvPr id="318" name="Google Shape;318;p17"/>
          <p:cNvSpPr/>
          <p:nvPr/>
        </p:nvSpPr>
        <p:spPr>
          <a:xfrm>
            <a:off x="685800" y="2450592"/>
            <a:ext cx="7863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0" i="0" lang="en-US" sz="1300" u="none" cap="none" strike="noStrike">
                <a:solidFill>
                  <a:srgbClr val="0F172A"/>
                </a:solidFill>
                <a:latin typeface="Calibri"/>
                <a:ea typeface="Calibri"/>
                <a:cs typeface="Calibri"/>
                <a:sym typeface="Calibri"/>
              </a:rPr>
              <a:t>La phrase patient brute ressemble à une phrase de manuel de langue.</a:t>
            </a:r>
            <a:endParaRPr b="0" i="0" sz="1300" u="none" cap="none" strike="noStrike">
              <a:solidFill>
                <a:schemeClr val="dk1"/>
              </a:solidFill>
              <a:latin typeface="Calibri"/>
              <a:ea typeface="Calibri"/>
              <a:cs typeface="Calibri"/>
              <a:sym typeface="Calibri"/>
            </a:endParaRPr>
          </a:p>
        </p:txBody>
      </p:sp>
      <p:sp>
        <p:nvSpPr>
          <p:cNvPr id="319" name="Google Shape;319;p17"/>
          <p:cNvSpPr/>
          <p:nvPr/>
        </p:nvSpPr>
        <p:spPr>
          <a:xfrm>
            <a:off x="457200" y="3108960"/>
            <a:ext cx="73152" cy="822960"/>
          </a:xfrm>
          <a:prstGeom prst="rect">
            <a:avLst/>
          </a:prstGeom>
          <a:solidFill>
            <a:srgbClr val="065F46"/>
          </a:solidFill>
          <a:ln cap="flat" cmpd="sng" w="12700">
            <a:solidFill>
              <a:srgbClr val="065F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7"/>
          <p:cNvSpPr/>
          <p:nvPr/>
        </p:nvSpPr>
        <p:spPr>
          <a:xfrm>
            <a:off x="530352" y="3108960"/>
            <a:ext cx="8156448" cy="822960"/>
          </a:xfrm>
          <a:prstGeom prst="rect">
            <a:avLst/>
          </a:prstGeom>
          <a:solidFill>
            <a:srgbClr val="CCFBF1"/>
          </a:solidFill>
          <a:ln cap="flat" cmpd="sng" w="12700">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7"/>
          <p:cNvSpPr/>
          <p:nvPr/>
        </p:nvSpPr>
        <p:spPr>
          <a:xfrm>
            <a:off x="685800" y="3154680"/>
            <a:ext cx="164592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65F46"/>
              </a:buClr>
              <a:buSzPts val="1300"/>
              <a:buFont typeface="Calibri"/>
              <a:buNone/>
            </a:pPr>
            <a:r>
              <a:rPr b="1" i="0" lang="en-US" sz="1300" u="none" cap="none" strike="noStrike">
                <a:solidFill>
                  <a:srgbClr val="065F46"/>
                </a:solidFill>
                <a:latin typeface="Calibri"/>
                <a:ea typeface="Calibri"/>
                <a:cs typeface="Calibri"/>
                <a:sym typeface="Calibri"/>
              </a:rPr>
              <a:t>Fix</a:t>
            </a:r>
            <a:endParaRPr b="0" i="0" sz="1300" u="none" cap="none" strike="noStrike">
              <a:solidFill>
                <a:schemeClr val="dk1"/>
              </a:solidFill>
              <a:latin typeface="Calibri"/>
              <a:ea typeface="Calibri"/>
              <a:cs typeface="Calibri"/>
              <a:sym typeface="Calibri"/>
            </a:endParaRPr>
          </a:p>
        </p:txBody>
      </p:sp>
      <p:sp>
        <p:nvSpPr>
          <p:cNvPr id="322" name="Google Shape;322;p17"/>
          <p:cNvSpPr/>
          <p:nvPr/>
        </p:nvSpPr>
        <p:spPr>
          <a:xfrm>
            <a:off x="685800" y="3456432"/>
            <a:ext cx="7863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300"/>
              <a:buFont typeface="Calibri"/>
              <a:buNone/>
            </a:pPr>
            <a:r>
              <a:rPr b="0" i="0" lang="en-US" sz="1300" u="none" cap="none" strike="noStrike">
                <a:solidFill>
                  <a:srgbClr val="0F172A"/>
                </a:solidFill>
                <a:latin typeface="Calibri"/>
                <a:ea typeface="Calibri"/>
                <a:cs typeface="Calibri"/>
                <a:sym typeface="Calibri"/>
              </a:rPr>
              <a:t>reformulate_search_query() — un appel LLM reformule la phrase en requête médicale propre avant DuckDuckGo.</a:t>
            </a:r>
            <a:endParaRPr b="0" i="0" sz="1300" u="none" cap="none" strike="noStrike">
              <a:solidFill>
                <a:schemeClr val="dk1"/>
              </a:solidFill>
              <a:latin typeface="Calibri"/>
              <a:ea typeface="Calibri"/>
              <a:cs typeface="Calibri"/>
              <a:sym typeface="Calibri"/>
            </a:endParaRPr>
          </a:p>
        </p:txBody>
      </p:sp>
      <p:sp>
        <p:nvSpPr>
          <p:cNvPr id="323" name="Google Shape;323;p17"/>
          <p:cNvSpPr/>
          <p:nvPr/>
        </p:nvSpPr>
        <p:spPr>
          <a:xfrm>
            <a:off x="457200" y="4160520"/>
            <a:ext cx="8229600" cy="566928"/>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7"/>
          <p:cNvSpPr/>
          <p:nvPr/>
        </p:nvSpPr>
        <p:spPr>
          <a:xfrm>
            <a:off x="640080" y="4160520"/>
            <a:ext cx="78638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onsolas"/>
              <a:buNone/>
            </a:pPr>
            <a:r>
              <a:rPr b="0" i="0" lang="en-US" sz="1200" u="none" cap="none" strike="noStrike">
                <a:solidFill>
                  <a:srgbClr val="FFFFFF"/>
                </a:solidFill>
                <a:latin typeface="Consolas"/>
                <a:ea typeface="Consolas"/>
                <a:cs typeface="Consolas"/>
                <a:sym typeface="Consolas"/>
              </a:rPr>
              <a:t>"j'ai de la fièvre"  →  "fievre symptomes causes traitement"  →  résultats médicaux réels ✓</a:t>
            </a:r>
            <a:endParaRPr b="0" i="0" sz="12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329" name="Shape 329"/>
        <p:cNvGrpSpPr/>
        <p:nvPr/>
      </p:nvGrpSpPr>
      <p:grpSpPr>
        <a:xfrm>
          <a:off x="0" y="0"/>
          <a:ext cx="0" cy="0"/>
          <a:chOff x="0" y="0"/>
          <a:chExt cx="0" cy="0"/>
        </a:xfrm>
      </p:grpSpPr>
      <p:sp>
        <p:nvSpPr>
          <p:cNvPr id="330" name="Google Shape;330;p18"/>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8"/>
          <p:cNvSpPr/>
          <p:nvPr/>
        </p:nvSpPr>
        <p:spPr>
          <a:xfrm>
            <a:off x="1371600" y="1280160"/>
            <a:ext cx="6400800" cy="2560320"/>
          </a:xfrm>
          <a:prstGeom prst="rect">
            <a:avLst/>
          </a:prstGeom>
          <a:solidFill>
            <a:srgbClr val="0F766E">
              <a:alpha val="45098"/>
            </a:srgbClr>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8"/>
          <p:cNvSpPr/>
          <p:nvPr/>
        </p:nvSpPr>
        <p:spPr>
          <a:xfrm>
            <a:off x="1371600" y="1463040"/>
            <a:ext cx="64008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1" i="0" lang="en-US" sz="1200" u="none" cap="none" strike="noStrike">
                <a:solidFill>
                  <a:srgbClr val="14B8A6"/>
                </a:solidFill>
                <a:latin typeface="Calibri"/>
                <a:ea typeface="Calibri"/>
                <a:cs typeface="Calibri"/>
                <a:sym typeface="Calibri"/>
              </a:rPr>
              <a:t>PARTIE 4</a:t>
            </a:r>
            <a:endParaRPr b="0" i="0" sz="1200" u="none" cap="none" strike="noStrike">
              <a:solidFill>
                <a:schemeClr val="dk1"/>
              </a:solidFill>
              <a:latin typeface="Calibri"/>
              <a:ea typeface="Calibri"/>
              <a:cs typeface="Calibri"/>
              <a:sym typeface="Calibri"/>
            </a:endParaRPr>
          </a:p>
        </p:txBody>
      </p:sp>
      <p:sp>
        <p:nvSpPr>
          <p:cNvPr id="333" name="Google Shape;333;p18"/>
          <p:cNvSpPr/>
          <p:nvPr/>
        </p:nvSpPr>
        <p:spPr>
          <a:xfrm>
            <a:off x="1371600" y="1874520"/>
            <a:ext cx="6400800" cy="1325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Hermes, Déploiement</a:t>
            </a:r>
            <a:endParaRPr b="0" i="0" sz="3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3200"/>
              <a:buFont typeface="Calibri"/>
              <a:buNone/>
            </a:pPr>
            <a:r>
              <a:rPr b="1" i="0" lang="en-US" sz="3200" u="none" cap="none" strike="noStrike">
                <a:solidFill>
                  <a:srgbClr val="FFFFFF"/>
                </a:solidFill>
                <a:latin typeface="Calibri"/>
                <a:ea typeface="Calibri"/>
                <a:cs typeface="Calibri"/>
                <a:sym typeface="Calibri"/>
              </a:rPr>
              <a:t>&amp; Démo</a:t>
            </a:r>
            <a:endParaRPr b="0" i="0" sz="3200" u="none" cap="none" strike="noStrike">
              <a:solidFill>
                <a:schemeClr val="dk1"/>
              </a:solidFill>
              <a:latin typeface="Calibri"/>
              <a:ea typeface="Calibri"/>
              <a:cs typeface="Calibri"/>
              <a:sym typeface="Calibri"/>
            </a:endParaRPr>
          </a:p>
        </p:txBody>
      </p:sp>
      <p:sp>
        <p:nvSpPr>
          <p:cNvPr id="334" name="Google Shape;334;p18"/>
          <p:cNvSpPr/>
          <p:nvPr/>
        </p:nvSpPr>
        <p:spPr>
          <a:xfrm>
            <a:off x="3200400" y="3291840"/>
            <a:ext cx="274320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8"/>
          <p:cNvSpPr/>
          <p:nvPr/>
        </p:nvSpPr>
        <p:spPr>
          <a:xfrm>
            <a:off x="1371600" y="3383280"/>
            <a:ext cx="640080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400"/>
              <a:buFont typeface="Calibri"/>
              <a:buNone/>
            </a:pPr>
            <a:r>
              <a:rPr b="0" i="0" lang="en-US" sz="1400" u="none" cap="none" strike="noStrike">
                <a:solidFill>
                  <a:srgbClr val="CCFBF1"/>
                </a:solidFill>
                <a:latin typeface="Calibri"/>
                <a:ea typeface="Calibri"/>
                <a:cs typeface="Calibri"/>
                <a:sym typeface="Calibri"/>
              </a:rPr>
              <a:t>Yannis</a:t>
            </a:r>
            <a:endParaRPr b="0" i="0" sz="14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40" name="Shape 340"/>
        <p:cNvGrpSpPr/>
        <p:nvPr/>
      </p:nvGrpSpPr>
      <p:grpSpPr>
        <a:xfrm>
          <a:off x="0" y="0"/>
          <a:ext cx="0" cy="0"/>
          <a:chOff x="0" y="0"/>
          <a:chExt cx="0" cy="0"/>
        </a:xfrm>
      </p:grpSpPr>
      <p:sp>
        <p:nvSpPr>
          <p:cNvPr id="341" name="Google Shape;341;p19"/>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9"/>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9"/>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44" name="Google Shape;344;p19"/>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Bonus — Hermes, orchestrateur multi-agents</a:t>
            </a:r>
            <a:endParaRPr b="0" i="0" sz="2200" u="none" cap="none" strike="noStrike">
              <a:solidFill>
                <a:schemeClr val="dk1"/>
              </a:solidFill>
              <a:latin typeface="Calibri"/>
              <a:ea typeface="Calibri"/>
              <a:cs typeface="Calibri"/>
              <a:sym typeface="Calibri"/>
            </a:endParaRPr>
          </a:p>
        </p:txBody>
      </p:sp>
      <p:sp>
        <p:nvSpPr>
          <p:cNvPr id="345" name="Google Shape;345;p19"/>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19</a:t>
            </a:r>
            <a:endParaRPr b="0" i="0" sz="1000" u="none" cap="none" strike="noStrike">
              <a:solidFill>
                <a:schemeClr val="dk1"/>
              </a:solidFill>
              <a:latin typeface="Calibri"/>
              <a:ea typeface="Calibri"/>
              <a:cs typeface="Calibri"/>
              <a:sym typeface="Calibri"/>
            </a:endParaRPr>
          </a:p>
        </p:txBody>
      </p:sp>
      <p:sp>
        <p:nvSpPr>
          <p:cNvPr id="346" name="Google Shape;346;p19"/>
          <p:cNvSpPr/>
          <p:nvPr/>
        </p:nvSpPr>
        <p:spPr>
          <a:xfrm>
            <a:off x="457200" y="105156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Après une réponse du chatbot, le patient peut demander à voir un spécialiste.</a:t>
            </a:r>
            <a:endParaRPr b="0" i="0" sz="1500" u="none" cap="none" strike="noStrike">
              <a:solidFill>
                <a:schemeClr val="dk1"/>
              </a:solidFill>
              <a:latin typeface="Calibri"/>
              <a:ea typeface="Calibri"/>
              <a:cs typeface="Calibri"/>
              <a:sym typeface="Calibri"/>
            </a:endParaRPr>
          </a:p>
        </p:txBody>
      </p:sp>
      <p:sp>
        <p:nvSpPr>
          <p:cNvPr id="347" name="Google Shape;347;p19"/>
          <p:cNvSpPr/>
          <p:nvPr/>
        </p:nvSpPr>
        <p:spPr>
          <a:xfrm>
            <a:off x="457200" y="162763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9"/>
          <p:cNvSpPr/>
          <p:nvPr/>
        </p:nvSpPr>
        <p:spPr>
          <a:xfrm>
            <a:off x="457200" y="162763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sp>
        <p:nvSpPr>
          <p:cNvPr id="349" name="Google Shape;349;p19"/>
          <p:cNvSpPr/>
          <p:nvPr/>
        </p:nvSpPr>
        <p:spPr>
          <a:xfrm>
            <a:off x="1097280" y="153619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9"/>
          <p:cNvSpPr/>
          <p:nvPr/>
        </p:nvSpPr>
        <p:spPr>
          <a:xfrm>
            <a:off x="1261872" y="158191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recommend_specialist</a:t>
            </a:r>
            <a:endParaRPr b="0" i="0" sz="1300" u="none" cap="none" strike="noStrike">
              <a:solidFill>
                <a:schemeClr val="dk1"/>
              </a:solidFill>
              <a:latin typeface="Calibri"/>
              <a:ea typeface="Calibri"/>
              <a:cs typeface="Calibri"/>
              <a:sym typeface="Calibri"/>
            </a:endParaRPr>
          </a:p>
        </p:txBody>
      </p:sp>
      <p:sp>
        <p:nvSpPr>
          <p:cNvPr id="351" name="Google Shape;351;p19"/>
          <p:cNvSpPr/>
          <p:nvPr/>
        </p:nvSpPr>
        <p:spPr>
          <a:xfrm>
            <a:off x="1261872" y="192024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Quel type de médecin consulter — analyse la conversation complète</a:t>
            </a:r>
            <a:endParaRPr b="0" i="0" sz="1300" u="none" cap="none" strike="noStrike">
              <a:solidFill>
                <a:schemeClr val="dk1"/>
              </a:solidFill>
              <a:latin typeface="Calibri"/>
              <a:ea typeface="Calibri"/>
              <a:cs typeface="Calibri"/>
              <a:sym typeface="Calibri"/>
            </a:endParaRPr>
          </a:p>
        </p:txBody>
      </p:sp>
      <p:sp>
        <p:nvSpPr>
          <p:cNvPr id="352" name="Google Shape;352;p19"/>
          <p:cNvSpPr/>
          <p:nvPr/>
        </p:nvSpPr>
        <p:spPr>
          <a:xfrm>
            <a:off x="457200" y="258775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9"/>
          <p:cNvSpPr/>
          <p:nvPr/>
        </p:nvSpPr>
        <p:spPr>
          <a:xfrm>
            <a:off x="457200" y="258775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sp>
        <p:nvSpPr>
          <p:cNvPr id="354" name="Google Shape;354;p19"/>
          <p:cNvSpPr/>
          <p:nvPr/>
        </p:nvSpPr>
        <p:spPr>
          <a:xfrm>
            <a:off x="1097280" y="2496312"/>
            <a:ext cx="7589520" cy="749808"/>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9"/>
          <p:cNvSpPr/>
          <p:nvPr/>
        </p:nvSpPr>
        <p:spPr>
          <a:xfrm>
            <a:off x="1261872" y="254203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list_available_doctors</a:t>
            </a:r>
            <a:endParaRPr b="0" i="0" sz="1300" u="none" cap="none" strike="noStrike">
              <a:solidFill>
                <a:schemeClr val="dk1"/>
              </a:solidFill>
              <a:latin typeface="Calibri"/>
              <a:ea typeface="Calibri"/>
              <a:cs typeface="Calibri"/>
              <a:sym typeface="Calibri"/>
            </a:endParaRPr>
          </a:p>
        </p:txBody>
      </p:sp>
      <p:sp>
        <p:nvSpPr>
          <p:cNvPr id="356" name="Google Shape;356;p19"/>
          <p:cNvSpPr/>
          <p:nvPr/>
        </p:nvSpPr>
        <p:spPr>
          <a:xfrm>
            <a:off x="1261872" y="288036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Liste les créneaux disponibles (5 médecins de démo)</a:t>
            </a:r>
            <a:endParaRPr b="0" i="0" sz="1300" u="none" cap="none" strike="noStrike">
              <a:solidFill>
                <a:schemeClr val="dk1"/>
              </a:solidFill>
              <a:latin typeface="Calibri"/>
              <a:ea typeface="Calibri"/>
              <a:cs typeface="Calibri"/>
              <a:sym typeface="Calibri"/>
            </a:endParaRPr>
          </a:p>
        </p:txBody>
      </p:sp>
      <p:sp>
        <p:nvSpPr>
          <p:cNvPr id="357" name="Google Shape;357;p19"/>
          <p:cNvSpPr/>
          <p:nvPr/>
        </p:nvSpPr>
        <p:spPr>
          <a:xfrm>
            <a:off x="457200" y="354787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9"/>
          <p:cNvSpPr/>
          <p:nvPr/>
        </p:nvSpPr>
        <p:spPr>
          <a:xfrm>
            <a:off x="457200" y="354787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sp>
        <p:nvSpPr>
          <p:cNvPr id="359" name="Google Shape;359;p19"/>
          <p:cNvSpPr/>
          <p:nvPr/>
        </p:nvSpPr>
        <p:spPr>
          <a:xfrm>
            <a:off x="1097280" y="345643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9"/>
          <p:cNvSpPr/>
          <p:nvPr/>
        </p:nvSpPr>
        <p:spPr>
          <a:xfrm>
            <a:off x="1261872" y="350215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book_appointment</a:t>
            </a:r>
            <a:endParaRPr b="0" i="0" sz="1300" u="none" cap="none" strike="noStrike">
              <a:solidFill>
                <a:schemeClr val="dk1"/>
              </a:solidFill>
              <a:latin typeface="Calibri"/>
              <a:ea typeface="Calibri"/>
              <a:cs typeface="Calibri"/>
              <a:sym typeface="Calibri"/>
            </a:endParaRPr>
          </a:p>
        </p:txBody>
      </p:sp>
      <p:sp>
        <p:nvSpPr>
          <p:cNvPr id="361" name="Google Shape;361;p19"/>
          <p:cNvSpPr/>
          <p:nvPr/>
        </p:nvSpPr>
        <p:spPr>
          <a:xfrm>
            <a:off x="1261872" y="384048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Réserve le RDV et le retire des disponibilités du médecin</a:t>
            </a:r>
            <a:endParaRPr b="0" i="0" sz="1300" u="none" cap="none" strike="noStrike">
              <a:solidFill>
                <a:schemeClr val="dk1"/>
              </a:solidFill>
              <a:latin typeface="Calibri"/>
              <a:ea typeface="Calibri"/>
              <a:cs typeface="Calibri"/>
              <a:sym typeface="Calibri"/>
            </a:endParaRPr>
          </a:p>
        </p:txBody>
      </p:sp>
      <p:sp>
        <p:nvSpPr>
          <p:cNvPr id="362" name="Google Shape;362;p19"/>
          <p:cNvSpPr/>
          <p:nvPr/>
        </p:nvSpPr>
        <p:spPr>
          <a:xfrm>
            <a:off x="457200" y="448056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100"/>
              <a:buFont typeface="Calibri"/>
              <a:buNone/>
            </a:pPr>
            <a:r>
              <a:rPr b="0" i="1" lang="en-US" sz="1100" u="none" cap="none" strike="noStrike">
                <a:solidFill>
                  <a:srgbClr val="94A3B8"/>
                </a:solidFill>
                <a:latin typeface="Calibri"/>
                <a:ea typeface="Calibri"/>
                <a:cs typeface="Calibri"/>
                <a:sym typeface="Calibri"/>
              </a:rPr>
              <a:t>Modèle : Hermes 405B via OpenRouter, avec fallback automatique vers Llama 70B / GPT-OSS.</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41" name="Google Shape;341;p19"/>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9"/>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9"/>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44" name="Google Shape;344;p19"/>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Bonus++ — Hermes côté praticien (Telegram)</a:t>
            </a:r>
            <a:endParaRPr b="0" i="0" sz="2200" u="none" cap="none" strike="noStrike">
              <a:solidFill>
                <a:schemeClr val="dk1"/>
              </a:solidFill>
              <a:latin typeface="Calibri"/>
              <a:ea typeface="Calibri"/>
              <a:cs typeface="Calibri"/>
              <a:sym typeface="Calibri"/>
            </a:endParaRPr>
          </a:p>
        </p:txBody>
      </p:sp>
      <p:sp>
        <p:nvSpPr>
          <p:cNvPr id="345" name="Google Shape;345;p19"/>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20</a:t>
            </a:r>
            <a:endParaRPr b="0" i="0" sz="1000" u="none" cap="none" strike="noStrike">
              <a:solidFill>
                <a:schemeClr val="dk1"/>
              </a:solidFill>
              <a:latin typeface="Calibri"/>
              <a:ea typeface="Calibri"/>
              <a:cs typeface="Calibri"/>
              <a:sym typeface="Calibri"/>
            </a:endParaRPr>
          </a:p>
        </p:txBody>
      </p:sp>
      <p:sp>
        <p:nvSpPr>
          <p:cNvPr id="346" name="Google Shape;346;p19"/>
          <p:cNvSpPr/>
          <p:nvPr/>
        </p:nvSpPr>
        <p:spPr>
          <a:xfrm>
            <a:off x="457200" y="105156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72A"/>
              </a:buClr>
              <a:buSzPts val="1500"/>
              <a:buFont typeface="Calibri"/>
              <a:buNone/>
            </a:pPr>
            <a:r>
              <a:rPr b="0" i="0" lang="en-US" sz="1500" u="none" cap="none" strike="noStrike">
                <a:solidFill>
                  <a:srgbClr val="0F172A"/>
                </a:solidFill>
                <a:latin typeface="Calibri"/>
                <a:ea typeface="Calibri"/>
                <a:cs typeface="Calibri"/>
                <a:sym typeface="Calibri"/>
              </a:rPr>
              <a:t>Une fois le RDV pris, le praticien reçoit + peut interagir via son groupe Telegram.</a:t>
            </a:r>
            <a:endParaRPr b="0" i="0" sz="1500" u="none" cap="none" strike="noStrike">
              <a:solidFill>
                <a:schemeClr val="dk1"/>
              </a:solidFill>
              <a:latin typeface="Calibri"/>
              <a:ea typeface="Calibri"/>
              <a:cs typeface="Calibri"/>
              <a:sym typeface="Calibri"/>
            </a:endParaRPr>
          </a:p>
        </p:txBody>
      </p:sp>
      <p:sp>
        <p:nvSpPr>
          <p:cNvPr id="347" name="Google Shape;347;p19"/>
          <p:cNvSpPr/>
          <p:nvPr/>
        </p:nvSpPr>
        <p:spPr>
          <a:xfrm>
            <a:off x="457200" y="162763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9"/>
          <p:cNvSpPr/>
          <p:nvPr/>
        </p:nvSpPr>
        <p:spPr>
          <a:xfrm>
            <a:off x="457200" y="162763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sp>
        <p:nvSpPr>
          <p:cNvPr id="349" name="Google Shape;349;p19"/>
          <p:cNvSpPr/>
          <p:nvPr/>
        </p:nvSpPr>
        <p:spPr>
          <a:xfrm>
            <a:off x="1097280" y="153619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9"/>
          <p:cNvSpPr/>
          <p:nvPr/>
        </p:nvSpPr>
        <p:spPr>
          <a:xfrm>
            <a:off x="1261872" y="158191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 Notif sortante</a:t>
            </a:r>
            <a:endParaRPr b="0" i="0" sz="1300" u="none" cap="none" strike="noStrike">
              <a:solidFill>
                <a:schemeClr val="dk1"/>
              </a:solidFill>
              <a:latin typeface="Calibri"/>
              <a:ea typeface="Calibri"/>
              <a:cs typeface="Calibri"/>
              <a:sym typeface="Calibri"/>
            </a:endParaRPr>
          </a:p>
        </p:txBody>
      </p:sp>
      <p:sp>
        <p:nvSpPr>
          <p:cNvPr id="351" name="Google Shape;351;p19"/>
          <p:cNvSpPr/>
          <p:nvPr/>
        </p:nvSpPr>
        <p:spPr>
          <a:xfrm>
            <a:off x="1261872" y="192024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Nouvelle réservation → message automatique dans le groupe du Dr.</a:t>
            </a:r>
            <a:endParaRPr b="0" i="0" sz="1300" u="none" cap="none" strike="noStrike">
              <a:solidFill>
                <a:schemeClr val="dk1"/>
              </a:solidFill>
              <a:latin typeface="Calibri"/>
              <a:ea typeface="Calibri"/>
              <a:cs typeface="Calibri"/>
              <a:sym typeface="Calibri"/>
            </a:endParaRPr>
          </a:p>
        </p:txBody>
      </p:sp>
      <p:sp>
        <p:nvSpPr>
          <p:cNvPr id="352" name="Google Shape;352;p19"/>
          <p:cNvSpPr/>
          <p:nvPr/>
        </p:nvSpPr>
        <p:spPr>
          <a:xfrm>
            <a:off x="457200" y="258775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9"/>
          <p:cNvSpPr/>
          <p:nvPr/>
        </p:nvSpPr>
        <p:spPr>
          <a:xfrm>
            <a:off x="457200" y="258775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sp>
        <p:nvSpPr>
          <p:cNvPr id="354" name="Google Shape;354;p19"/>
          <p:cNvSpPr/>
          <p:nvPr/>
        </p:nvSpPr>
        <p:spPr>
          <a:xfrm>
            <a:off x="1097280" y="2496312"/>
            <a:ext cx="7589520" cy="749808"/>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9"/>
          <p:cNvSpPr/>
          <p:nvPr/>
        </p:nvSpPr>
        <p:spPr>
          <a:xfrm>
            <a:off x="1261872" y="254203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 Commandes entrantes</a:t>
            </a:r>
            <a:endParaRPr b="0" i="0" sz="1300" u="none" cap="none" strike="noStrike">
              <a:solidFill>
                <a:schemeClr val="dk1"/>
              </a:solidFill>
              <a:latin typeface="Calibri"/>
              <a:ea typeface="Calibri"/>
              <a:cs typeface="Calibri"/>
              <a:sym typeface="Calibri"/>
            </a:endParaRPr>
          </a:p>
        </p:txBody>
      </p:sp>
      <p:sp>
        <p:nvSpPr>
          <p:cNvPr id="356" name="Google Shape;356;p19"/>
          <p:cNvSpPr/>
          <p:nvPr/>
        </p:nvSpPr>
        <p:spPr>
          <a:xfrm>
            <a:off x="1261872" y="288036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/aide  /rdv_aujourdhui  /rdv_demain  /rdv  + langage naturel via Gemini</a:t>
            </a:r>
            <a:endParaRPr b="0" i="0" sz="1300" u="none" cap="none" strike="noStrike">
              <a:solidFill>
                <a:schemeClr val="dk1"/>
              </a:solidFill>
              <a:latin typeface="Calibri"/>
              <a:ea typeface="Calibri"/>
              <a:cs typeface="Calibri"/>
              <a:sym typeface="Calibri"/>
            </a:endParaRPr>
          </a:p>
        </p:txBody>
      </p:sp>
      <p:sp>
        <p:nvSpPr>
          <p:cNvPr id="357" name="Google Shape;357;p19"/>
          <p:cNvSpPr/>
          <p:nvPr/>
        </p:nvSpPr>
        <p:spPr>
          <a:xfrm>
            <a:off x="457200" y="3547872"/>
            <a:ext cx="475488" cy="475488"/>
          </a:xfrm>
          <a:prstGeom prst="ellipse">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9"/>
          <p:cNvSpPr/>
          <p:nvPr/>
        </p:nvSpPr>
        <p:spPr>
          <a:xfrm>
            <a:off x="457200" y="3547872"/>
            <a:ext cx="475488"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sp>
        <p:nvSpPr>
          <p:cNvPr id="359" name="Google Shape;359;p19"/>
          <p:cNvSpPr/>
          <p:nvPr/>
        </p:nvSpPr>
        <p:spPr>
          <a:xfrm>
            <a:off x="1097280" y="3456432"/>
            <a:ext cx="7589520" cy="749808"/>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9"/>
          <p:cNvSpPr/>
          <p:nvPr/>
        </p:nvSpPr>
        <p:spPr>
          <a:xfrm>
            <a:off x="1261872" y="3502152"/>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onsolas"/>
              <a:buNone/>
            </a:pPr>
            <a:r>
              <a:rPr b="1" i="0" lang="en-US" sz="1300" u="none" cap="none" strike="noStrike">
                <a:solidFill>
                  <a:srgbClr val="0F766E"/>
                </a:solidFill>
                <a:latin typeface="Consolas"/>
                <a:ea typeface="Consolas"/>
                <a:cs typeface="Consolas"/>
                <a:sym typeface="Consolas"/>
              </a:rPr>
              <a:t>🔐 Cloisonnement</a:t>
            </a:r>
            <a:endParaRPr b="0" i="0" sz="1300" u="none" cap="none" strike="noStrike">
              <a:solidFill>
                <a:schemeClr val="dk1"/>
              </a:solidFill>
              <a:latin typeface="Calibri"/>
              <a:ea typeface="Calibri"/>
              <a:cs typeface="Calibri"/>
              <a:sym typeface="Calibri"/>
            </a:endParaRPr>
          </a:p>
        </p:txBody>
      </p:sp>
      <p:sp>
        <p:nvSpPr>
          <p:cNvPr id="361" name="Google Shape;361;p19"/>
          <p:cNvSpPr/>
          <p:nvPr/>
        </p:nvSpPr>
        <p:spPr>
          <a:xfrm>
            <a:off x="1261872" y="3840480"/>
            <a:ext cx="73152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1 groupe Telegram = 1 médecin (mapping Doctor.telegram_chat_id)</a:t>
            </a:r>
            <a:endParaRPr b="0" i="0" sz="1300" u="none" cap="none" strike="noStrike">
              <a:solidFill>
                <a:schemeClr val="dk1"/>
              </a:solidFill>
              <a:latin typeface="Calibri"/>
              <a:ea typeface="Calibri"/>
              <a:cs typeface="Calibri"/>
              <a:sym typeface="Calibri"/>
            </a:endParaRPr>
          </a:p>
        </p:txBody>
      </p:sp>
      <p:sp>
        <p:nvSpPr>
          <p:cNvPr id="362" name="Google Shape;362;p19"/>
          <p:cNvSpPr/>
          <p:nvPr/>
        </p:nvSpPr>
        <p:spPr>
          <a:xfrm>
            <a:off x="457200" y="448056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4A3B8"/>
              </a:buClr>
              <a:buSzPts val="1100"/>
              <a:buFont typeface="Calibri"/>
              <a:buNone/>
            </a:pPr>
            <a:r>
              <a:rPr b="0" i="1" lang="en-US" sz="1100" u="none" cap="none" strike="noStrike">
                <a:solidFill>
                  <a:srgbClr val="94A3B8"/>
                </a:solidFill>
                <a:latin typeface="Calibri"/>
                <a:ea typeface="Calibri"/>
                <a:cs typeface="Calibri"/>
                <a:sym typeface="Calibri"/>
              </a:rPr>
              <a:t>Démo SAE : 2 groupes (Dr. Lefebvre, Dr. Benyahia). Infra prête pour N praticiens.</a:t>
            </a:r>
            <a:endParaRPr b="0" i="0" sz="11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67" name="Shape 367"/>
        <p:cNvGrpSpPr/>
        <p:nvPr/>
      </p:nvGrpSpPr>
      <p:grpSpPr>
        <a:xfrm>
          <a:off x="0" y="0"/>
          <a:ext cx="0" cy="0"/>
          <a:chOff x="0" y="0"/>
          <a:chExt cx="0" cy="0"/>
        </a:xfrm>
      </p:grpSpPr>
      <p:sp>
        <p:nvSpPr>
          <p:cNvPr id="368" name="Google Shape;368;p20"/>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20"/>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20"/>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71" name="Google Shape;371;p20"/>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Sécurité &amp; limites assumées</a:t>
            </a:r>
            <a:endParaRPr b="0" i="0" sz="2200" u="none" cap="none" strike="noStrike">
              <a:solidFill>
                <a:schemeClr val="dk1"/>
              </a:solidFill>
              <a:latin typeface="Calibri"/>
              <a:ea typeface="Calibri"/>
              <a:cs typeface="Calibri"/>
              <a:sym typeface="Calibri"/>
            </a:endParaRPr>
          </a:p>
        </p:txBody>
      </p:sp>
      <p:sp>
        <p:nvSpPr>
          <p:cNvPr id="372" name="Google Shape;372;p20"/>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21</a:t>
            </a:r>
            <a:endParaRPr b="0" i="0" sz="1000" u="none" cap="none" strike="noStrike">
              <a:solidFill>
                <a:schemeClr val="dk1"/>
              </a:solidFill>
              <a:latin typeface="Calibri"/>
              <a:ea typeface="Calibri"/>
              <a:cs typeface="Calibri"/>
              <a:sym typeface="Calibri"/>
            </a:endParaRPr>
          </a:p>
        </p:txBody>
      </p:sp>
      <p:sp>
        <p:nvSpPr>
          <p:cNvPr id="373" name="Google Shape;373;p20"/>
          <p:cNvSpPr/>
          <p:nvPr/>
        </p:nvSpPr>
        <p:spPr>
          <a:xfrm>
            <a:off x="457200" y="1143000"/>
            <a:ext cx="73152" cy="96012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20"/>
          <p:cNvSpPr/>
          <p:nvPr/>
        </p:nvSpPr>
        <p:spPr>
          <a:xfrm>
            <a:off x="530352" y="1143000"/>
            <a:ext cx="8156448" cy="96012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20"/>
          <p:cNvSpPr/>
          <p:nvPr/>
        </p:nvSpPr>
        <p:spPr>
          <a:xfrm>
            <a:off x="685800" y="1197864"/>
            <a:ext cx="78638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400"/>
              <a:buFont typeface="Calibri"/>
              <a:buNone/>
            </a:pPr>
            <a:r>
              <a:rPr b="1" i="0" lang="en-US" sz="1400" u="none" cap="none" strike="noStrike">
                <a:solidFill>
                  <a:srgbClr val="134E4A"/>
                </a:solidFill>
                <a:latin typeface="Calibri"/>
                <a:ea typeface="Calibri"/>
                <a:cs typeface="Calibri"/>
                <a:sym typeface="Calibri"/>
              </a:rPr>
              <a:t>Pas de diagnostic</a:t>
            </a:r>
            <a:endParaRPr b="0" i="0" sz="1400" u="none" cap="none" strike="noStrike">
              <a:solidFill>
                <a:schemeClr val="dk1"/>
              </a:solidFill>
              <a:latin typeface="Calibri"/>
              <a:ea typeface="Calibri"/>
              <a:cs typeface="Calibri"/>
              <a:sym typeface="Calibri"/>
            </a:endParaRPr>
          </a:p>
        </p:txBody>
      </p:sp>
      <p:sp>
        <p:nvSpPr>
          <p:cNvPr id="376" name="Google Shape;376;p20"/>
          <p:cNvSpPr/>
          <p:nvPr/>
        </p:nvSpPr>
        <p:spPr>
          <a:xfrm>
            <a:off x="685800" y="1545336"/>
            <a:ext cx="78638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Le chatbot n'est pas un médecin — rappel explicite dans chaque prompt envoyé au LLM.</a:t>
            </a:r>
            <a:endParaRPr b="0" i="0" sz="1300" u="none" cap="none" strike="noStrike">
              <a:solidFill>
                <a:schemeClr val="dk1"/>
              </a:solidFill>
              <a:latin typeface="Calibri"/>
              <a:ea typeface="Calibri"/>
              <a:cs typeface="Calibri"/>
              <a:sym typeface="Calibri"/>
            </a:endParaRPr>
          </a:p>
        </p:txBody>
      </p:sp>
      <p:sp>
        <p:nvSpPr>
          <p:cNvPr id="377" name="Google Shape;377;p20"/>
          <p:cNvSpPr/>
          <p:nvPr/>
        </p:nvSpPr>
        <p:spPr>
          <a:xfrm>
            <a:off x="457200" y="2331720"/>
            <a:ext cx="73152" cy="960120"/>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530352" y="2331720"/>
            <a:ext cx="8156448" cy="96012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685800" y="2386584"/>
            <a:ext cx="78638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400"/>
              <a:buFont typeface="Calibri"/>
              <a:buNone/>
            </a:pPr>
            <a:r>
              <a:rPr b="1" i="0" lang="en-US" sz="1400" u="none" cap="none" strike="noStrike">
                <a:solidFill>
                  <a:srgbClr val="0F766E"/>
                </a:solidFill>
                <a:latin typeface="Calibri"/>
                <a:ea typeface="Calibri"/>
                <a:cs typeface="Calibri"/>
                <a:sym typeface="Calibri"/>
              </a:rPr>
              <a:t>Traçabilité des sources</a:t>
            </a:r>
            <a:endParaRPr b="0" i="0" sz="1400" u="none" cap="none" strike="noStrike">
              <a:solidFill>
                <a:schemeClr val="dk1"/>
              </a:solidFill>
              <a:latin typeface="Calibri"/>
              <a:ea typeface="Calibri"/>
              <a:cs typeface="Calibri"/>
              <a:sym typeface="Calibri"/>
            </a:endParaRPr>
          </a:p>
        </p:txBody>
      </p:sp>
      <p:sp>
        <p:nvSpPr>
          <p:cNvPr id="380" name="Google Shape;380;p20"/>
          <p:cNvSpPr/>
          <p:nvPr/>
        </p:nvSpPr>
        <p:spPr>
          <a:xfrm>
            <a:off x="685800" y="2734056"/>
            <a:ext cx="78638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Badge "documents officiels" vs "web" sur chaque réponse — l'utilisateur sait toujours d'où vient l'info.</a:t>
            </a:r>
            <a:endParaRPr b="0" i="0" sz="13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3520440"/>
            <a:ext cx="73152" cy="960120"/>
          </a:xfrm>
          <a:prstGeom prst="rect">
            <a:avLst/>
          </a:prstGeom>
          <a:solidFill>
            <a:srgbClr val="0D9488"/>
          </a:solidFill>
          <a:ln cap="flat" cmpd="sng" w="12700">
            <a:solidFill>
              <a:srgbClr val="0D94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0"/>
          <p:cNvSpPr/>
          <p:nvPr/>
        </p:nvSpPr>
        <p:spPr>
          <a:xfrm>
            <a:off x="530352" y="3520440"/>
            <a:ext cx="8156448" cy="96012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685800" y="3575304"/>
            <a:ext cx="78638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D9488"/>
              </a:buClr>
              <a:buSzPts val="1400"/>
              <a:buFont typeface="Calibri"/>
              <a:buNone/>
            </a:pPr>
            <a:r>
              <a:rPr b="1" i="0" lang="en-US" sz="1400" u="none" cap="none" strike="noStrike">
                <a:solidFill>
                  <a:srgbClr val="0D9488"/>
                </a:solidFill>
                <a:latin typeface="Calibri"/>
                <a:ea typeface="Calibri"/>
                <a:cs typeface="Calibri"/>
                <a:sym typeface="Calibri"/>
              </a:rPr>
              <a:t>Limites de déploiement assumées</a:t>
            </a:r>
            <a:endParaRPr b="0" i="0" sz="1400" u="none" cap="none" strike="noStrike">
              <a:solidFill>
                <a:schemeClr val="dk1"/>
              </a:solidFill>
              <a:latin typeface="Calibri"/>
              <a:ea typeface="Calibri"/>
              <a:cs typeface="Calibri"/>
              <a:sym typeface="Calibri"/>
            </a:endParaRPr>
          </a:p>
        </p:txBody>
      </p:sp>
      <p:sp>
        <p:nvSpPr>
          <p:cNvPr id="384" name="Google Shape;384;p20"/>
          <p:cNvSpPr/>
          <p:nvPr/>
        </p:nvSpPr>
        <p:spPr>
          <a:xfrm>
            <a:off x="685800" y="3922776"/>
            <a:ext cx="78638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75569"/>
              </a:buClr>
              <a:buSzPts val="1300"/>
              <a:buFont typeface="Calibri"/>
              <a:buNone/>
            </a:pPr>
            <a:r>
              <a:rPr b="0" i="0" lang="en-US" sz="1300" u="none" cap="none" strike="noStrike">
                <a:solidFill>
                  <a:srgbClr val="475569"/>
                </a:solidFill>
                <a:latin typeface="Calibri"/>
                <a:ea typeface="Calibri"/>
                <a:cs typeface="Calibri"/>
                <a:sym typeface="Calibri"/>
              </a:rPr>
              <a:t>Périmètre limité à 3 pathologies. Quota LLM free tier ~1000 req/jour. ChromaDB et SQLite sur volume Docker persistant — pas de perte au redéploiement.</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389" name="Shape 389"/>
        <p:cNvGrpSpPr/>
        <p:nvPr/>
      </p:nvGrpSpPr>
      <p:grpSpPr>
        <a:xfrm>
          <a:off x="0" y="0"/>
          <a:ext cx="0" cy="0"/>
          <a:chOff x="0" y="0"/>
          <a:chExt cx="0" cy="0"/>
        </a:xfrm>
      </p:grpSpPr>
      <p:sp>
        <p:nvSpPr>
          <p:cNvPr id="390" name="Google Shape;390;p21"/>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1"/>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21"/>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93" name="Google Shape;393;p21"/>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Déploiement en production</a:t>
            </a:r>
            <a:endParaRPr b="0" i="0" sz="2200" u="none" cap="none" strike="noStrike">
              <a:solidFill>
                <a:schemeClr val="dk1"/>
              </a:solidFill>
              <a:latin typeface="Calibri"/>
              <a:ea typeface="Calibri"/>
              <a:cs typeface="Calibri"/>
              <a:sym typeface="Calibri"/>
            </a:endParaRPr>
          </a:p>
        </p:txBody>
      </p:sp>
      <p:sp>
        <p:nvSpPr>
          <p:cNvPr id="394" name="Google Shape;394;p21"/>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22</a:t>
            </a:r>
            <a:endParaRPr b="0" i="0" sz="1000" u="none" cap="none" strike="noStrike">
              <a:solidFill>
                <a:schemeClr val="dk1"/>
              </a:solidFill>
              <a:latin typeface="Calibri"/>
              <a:ea typeface="Calibri"/>
              <a:cs typeface="Calibri"/>
              <a:sym typeface="Calibri"/>
            </a:endParaRPr>
          </a:p>
        </p:txBody>
      </p:sp>
      <p:sp>
        <p:nvSpPr>
          <p:cNvPr id="395" name="Google Shape;395;p21"/>
          <p:cNvSpPr/>
          <p:nvPr/>
        </p:nvSpPr>
        <p:spPr>
          <a:xfrm>
            <a:off x="457200" y="1051560"/>
            <a:ext cx="8229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600"/>
              <a:buFont typeface="Calibri"/>
              <a:buNone/>
            </a:pPr>
            <a:r>
              <a:rPr b="1" i="0" lang="en-US" sz="1600" u="none" cap="none" strike="noStrike">
                <a:solidFill>
                  <a:srgbClr val="0F766E"/>
                </a:solidFill>
                <a:latin typeface="Calibri"/>
                <a:ea typeface="Calibri"/>
                <a:cs typeface="Calibri"/>
                <a:sym typeface="Calibri"/>
              </a:rPr>
              <a:t>https://sae.amanawebagency.com</a:t>
            </a:r>
            <a:endParaRPr b="0" i="0" sz="1600" u="none" cap="none" strike="noStrike">
              <a:solidFill>
                <a:schemeClr val="dk1"/>
              </a:solidFill>
              <a:latin typeface="Calibri"/>
              <a:ea typeface="Calibri"/>
              <a:cs typeface="Calibri"/>
              <a:sym typeface="Calibri"/>
            </a:endParaRPr>
          </a:p>
        </p:txBody>
      </p:sp>
      <p:sp>
        <p:nvSpPr>
          <p:cNvPr id="396" name="Google Shape;396;p21"/>
          <p:cNvSpPr/>
          <p:nvPr/>
        </p:nvSpPr>
        <p:spPr>
          <a:xfrm>
            <a:off x="1828800" y="1536192"/>
            <a:ext cx="5486400" cy="603504"/>
          </a:xfrm>
          <a:prstGeom prst="rect">
            <a:avLst/>
          </a:prstGeom>
          <a:solidFill>
            <a:srgbClr val="134E4A"/>
          </a:solidFill>
          <a:ln cap="flat" cmpd="sng" w="12700">
            <a:solidFill>
              <a:srgbClr val="134E4A"/>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21"/>
          <p:cNvSpPr/>
          <p:nvPr/>
        </p:nvSpPr>
        <p:spPr>
          <a:xfrm>
            <a:off x="1828800" y="1536192"/>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Caddy</a:t>
            </a:r>
            <a:r>
              <a:rPr b="0" i="0" lang="en-US" sz="1200" u="none" cap="none" strike="noStrike">
                <a:solidFill>
                  <a:srgbClr val="FFFFFF"/>
                </a:solidFill>
                <a:latin typeface="Calibri"/>
                <a:ea typeface="Calibri"/>
                <a:cs typeface="Calibri"/>
                <a:sym typeface="Calibri"/>
              </a:rPr>
              <a:t>  —  HTTPS automatique — Let's Encrypt</a:t>
            </a:r>
            <a:endParaRPr b="0" i="0" sz="1400" u="none" cap="none" strike="noStrike">
              <a:solidFill>
                <a:schemeClr val="dk1"/>
              </a:solidFill>
              <a:latin typeface="Calibri"/>
              <a:ea typeface="Calibri"/>
              <a:cs typeface="Calibri"/>
              <a:sym typeface="Calibri"/>
            </a:endParaRPr>
          </a:p>
        </p:txBody>
      </p:sp>
      <p:cxnSp>
        <p:nvCxnSpPr>
          <p:cNvPr id="398" name="Google Shape;398;p21"/>
          <p:cNvCxnSpPr/>
          <p:nvPr/>
        </p:nvCxnSpPr>
        <p:spPr>
          <a:xfrm>
            <a:off x="4572000" y="2139696"/>
            <a:ext cx="0" cy="164592"/>
          </a:xfrm>
          <a:prstGeom prst="straightConnector1">
            <a:avLst/>
          </a:prstGeom>
          <a:noFill/>
          <a:ln cap="flat" cmpd="sng" w="25400">
            <a:solidFill>
              <a:srgbClr val="14B8A6"/>
            </a:solidFill>
            <a:prstDash val="solid"/>
            <a:round/>
            <a:headEnd len="sm" w="sm" type="none"/>
            <a:tailEnd len="sm" w="sm" type="none"/>
          </a:ln>
        </p:spPr>
      </p:cxnSp>
      <p:sp>
        <p:nvSpPr>
          <p:cNvPr id="399" name="Google Shape;399;p21"/>
          <p:cNvSpPr/>
          <p:nvPr/>
        </p:nvSpPr>
        <p:spPr>
          <a:xfrm>
            <a:off x="1828800" y="2304288"/>
            <a:ext cx="5486400" cy="603504"/>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828800" y="2304288"/>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Streamlit</a:t>
            </a:r>
            <a:r>
              <a:rPr b="0" i="0" lang="en-US" sz="1200" u="none" cap="none" strike="noStrike">
                <a:solidFill>
                  <a:srgbClr val="FFFFFF"/>
                </a:solidFill>
                <a:latin typeface="Calibri"/>
                <a:ea typeface="Calibri"/>
                <a:cs typeface="Calibri"/>
                <a:sym typeface="Calibri"/>
              </a:rPr>
              <a:t>  —  Container Docker — Interface chat (/app/)</a:t>
            </a:r>
            <a:endParaRPr b="0" i="0" sz="1400" u="none" cap="none" strike="noStrike">
              <a:solidFill>
                <a:schemeClr val="dk1"/>
              </a:solidFill>
              <a:latin typeface="Calibri"/>
              <a:ea typeface="Calibri"/>
              <a:cs typeface="Calibri"/>
              <a:sym typeface="Calibri"/>
            </a:endParaRPr>
          </a:p>
        </p:txBody>
      </p:sp>
      <p:cxnSp>
        <p:nvCxnSpPr>
          <p:cNvPr id="401" name="Google Shape;401;p21"/>
          <p:cNvCxnSpPr/>
          <p:nvPr/>
        </p:nvCxnSpPr>
        <p:spPr>
          <a:xfrm>
            <a:off x="4572000" y="2907792"/>
            <a:ext cx="0" cy="164592"/>
          </a:xfrm>
          <a:prstGeom prst="straightConnector1">
            <a:avLst/>
          </a:prstGeom>
          <a:noFill/>
          <a:ln cap="flat" cmpd="sng" w="25400">
            <a:solidFill>
              <a:srgbClr val="14B8A6"/>
            </a:solidFill>
            <a:prstDash val="solid"/>
            <a:round/>
            <a:headEnd len="sm" w="sm" type="none"/>
            <a:tailEnd len="sm" w="sm" type="none"/>
          </a:ln>
        </p:spPr>
      </p:cxnSp>
      <p:sp>
        <p:nvSpPr>
          <p:cNvPr id="402" name="Google Shape;402;p21"/>
          <p:cNvSpPr/>
          <p:nvPr/>
        </p:nvSpPr>
        <p:spPr>
          <a:xfrm>
            <a:off x="1828800" y="3072384"/>
            <a:ext cx="5486400" cy="603504"/>
          </a:xfrm>
          <a:prstGeom prst="rect">
            <a:avLst/>
          </a:prstGeom>
          <a:solidFill>
            <a:srgbClr val="0F766E"/>
          </a:solidFill>
          <a:ln cap="flat" cmpd="sng" w="12700">
            <a:solidFill>
              <a:srgbClr val="0F766E"/>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21"/>
          <p:cNvSpPr/>
          <p:nvPr/>
        </p:nvSpPr>
        <p:spPr>
          <a:xfrm>
            <a:off x="1828800" y="3072384"/>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FastAPI</a:t>
            </a:r>
            <a:r>
              <a:rPr b="0" i="0" lang="en-US" sz="1200" u="none" cap="none" strike="noStrike">
                <a:solidFill>
                  <a:srgbClr val="FFFFFF"/>
                </a:solidFill>
                <a:latin typeface="Calibri"/>
                <a:ea typeface="Calibri"/>
                <a:cs typeface="Calibri"/>
                <a:sym typeface="Calibri"/>
              </a:rPr>
              <a:t>  —  Container Docker — Réseau interne (non exposé)</a:t>
            </a:r>
            <a:endParaRPr b="0" i="0" sz="1400" u="none" cap="none" strike="noStrike">
              <a:solidFill>
                <a:schemeClr val="dk1"/>
              </a:solidFill>
              <a:latin typeface="Calibri"/>
              <a:ea typeface="Calibri"/>
              <a:cs typeface="Calibri"/>
              <a:sym typeface="Calibri"/>
            </a:endParaRPr>
          </a:p>
        </p:txBody>
      </p:sp>
      <p:cxnSp>
        <p:nvCxnSpPr>
          <p:cNvPr id="404" name="Google Shape;404;p21"/>
          <p:cNvCxnSpPr/>
          <p:nvPr/>
        </p:nvCxnSpPr>
        <p:spPr>
          <a:xfrm>
            <a:off x="4572000" y="3675888"/>
            <a:ext cx="0" cy="164592"/>
          </a:xfrm>
          <a:prstGeom prst="straightConnector1">
            <a:avLst/>
          </a:prstGeom>
          <a:noFill/>
          <a:ln cap="flat" cmpd="sng" w="25400">
            <a:solidFill>
              <a:srgbClr val="14B8A6"/>
            </a:solidFill>
            <a:prstDash val="solid"/>
            <a:round/>
            <a:headEnd len="sm" w="sm" type="none"/>
            <a:tailEnd len="sm" w="sm" type="none"/>
          </a:ln>
        </p:spPr>
      </p:cxnSp>
      <p:sp>
        <p:nvSpPr>
          <p:cNvPr id="405" name="Google Shape;405;p21"/>
          <p:cNvSpPr/>
          <p:nvPr/>
        </p:nvSpPr>
        <p:spPr>
          <a:xfrm>
            <a:off x="1828800" y="3840480"/>
            <a:ext cx="5486400" cy="603504"/>
          </a:xfrm>
          <a:prstGeom prst="rect">
            <a:avLst/>
          </a:prstGeom>
          <a:solidFill>
            <a:srgbClr val="0369A1"/>
          </a:solidFill>
          <a:ln cap="flat" cmpd="sng" w="12700">
            <a:solidFill>
              <a:srgbClr val="0369A1"/>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21"/>
          <p:cNvSpPr/>
          <p:nvPr/>
        </p:nvSpPr>
        <p:spPr>
          <a:xfrm>
            <a:off x="1828800" y="3840480"/>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ChromaDB + SQLite</a:t>
            </a:r>
            <a:r>
              <a:rPr b="0" i="0" lang="en-US" sz="1200" u="none" cap="none" strike="noStrike">
                <a:solidFill>
                  <a:srgbClr val="FFFFFF"/>
                </a:solidFill>
                <a:latin typeface="Calibri"/>
                <a:ea typeface="Calibri"/>
                <a:cs typeface="Calibri"/>
                <a:sym typeface="Calibri"/>
              </a:rPr>
              <a:t>  —  Volume persistant Docker</a:t>
            </a:r>
            <a:endParaRPr b="0" i="0" sz="1400" u="none" cap="none" strike="noStrike">
              <a:solidFill>
                <a:schemeClr val="dk1"/>
              </a:solidFill>
              <a:latin typeface="Calibri"/>
              <a:ea typeface="Calibri"/>
              <a:cs typeface="Calibri"/>
              <a:sym typeface="Calibri"/>
            </a:endParaRPr>
          </a:p>
        </p:txBody>
      </p:sp>
      <p:sp>
        <p:nvSpPr>
          <p:cNvPr id="407" name="Google Shape;407;p21"/>
          <p:cNvSpPr/>
          <p:nvPr/>
        </p:nvSpPr>
        <p:spPr>
          <a:xfrm>
            <a:off x="457200" y="4754880"/>
            <a:ext cx="82296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4A3B8"/>
              </a:buClr>
              <a:buSzPts val="1200"/>
              <a:buFont typeface="Calibri"/>
              <a:buNone/>
            </a:pPr>
            <a:r>
              <a:rPr b="0" i="1" lang="en-US" sz="1200" u="none" cap="none" strike="noStrike">
                <a:solidFill>
                  <a:srgbClr val="94A3B8"/>
                </a:solidFill>
                <a:latin typeface="Calibri"/>
                <a:ea typeface="Calibri"/>
                <a:cs typeface="Calibri"/>
                <a:sym typeface="Calibri"/>
              </a:rPr>
              <a:t>3 containers Docker (landing /, chat /app/, API interne) — infra réelle de production Amana</a:t>
            </a:r>
            <a:endParaRPr b="0" i="0" sz="12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90" name="Google Shape;390;p21"/>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1"/>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21"/>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393" name="Google Shape;393;p21"/>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Intégration site + chatbot</a:t>
            </a:r>
            <a:endParaRPr b="0" i="0" sz="2200" u="none" cap="none" strike="noStrike">
              <a:solidFill>
                <a:schemeClr val="dk1"/>
              </a:solidFill>
              <a:latin typeface="Calibri"/>
              <a:ea typeface="Calibri"/>
              <a:cs typeface="Calibri"/>
              <a:sym typeface="Calibri"/>
            </a:endParaRPr>
          </a:p>
        </p:txBody>
      </p:sp>
      <p:sp>
        <p:nvSpPr>
          <p:cNvPr id="394" name="Google Shape;394;p21"/>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23</a:t>
            </a:r>
            <a:endParaRPr b="0" i="0" sz="1000" u="none" cap="none" strike="noStrike">
              <a:solidFill>
                <a:schemeClr val="dk1"/>
              </a:solidFill>
              <a:latin typeface="Calibri"/>
              <a:ea typeface="Calibri"/>
              <a:cs typeface="Calibri"/>
              <a:sym typeface="Calibri"/>
            </a:endParaRPr>
          </a:p>
        </p:txBody>
      </p:sp>
      <p:sp>
        <p:nvSpPr>
          <p:cNvPr id="395" name="Google Shape;395;p21"/>
          <p:cNvSpPr/>
          <p:nvPr/>
        </p:nvSpPr>
        <p:spPr>
          <a:xfrm>
            <a:off x="457200" y="1051560"/>
            <a:ext cx="8229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600"/>
              <a:buFont typeface="Calibri"/>
              <a:buNone/>
            </a:pPr>
            <a:r>
              <a:rPr b="1" i="0" lang="en-US" sz="1600" u="none" cap="none" strike="noStrike">
                <a:solidFill>
                  <a:srgbClr val="0F766E"/>
                </a:solidFill>
                <a:latin typeface="Calibri"/>
                <a:ea typeface="Calibri"/>
                <a:cs typeface="Calibri"/>
                <a:sym typeface="Calibri"/>
              </a:rPr>
              <a:t>L'utilisateur n'arrive jamais sur Streamlit nu</a:t>
            </a:r>
            <a:endParaRPr b="0" i="0" sz="1600" u="none" cap="none" strike="noStrike">
              <a:solidFill>
                <a:schemeClr val="dk1"/>
              </a:solidFill>
              <a:latin typeface="Calibri"/>
              <a:ea typeface="Calibri"/>
              <a:cs typeface="Calibri"/>
              <a:sym typeface="Calibri"/>
            </a:endParaRPr>
          </a:p>
        </p:txBody>
      </p:sp>
      <p:sp>
        <p:nvSpPr>
          <p:cNvPr id="396" name="Google Shape;396;p21"/>
          <p:cNvSpPr/>
          <p:nvPr/>
        </p:nvSpPr>
        <p:spPr>
          <a:xfrm>
            <a:off x="1828800" y="1536192"/>
            <a:ext cx="5486400" cy="603504"/>
          </a:xfrm>
          <a:prstGeom prst="rect">
            <a:avLst/>
          </a:prstGeom>
          <a:solidFill>
            <a:srgbClr val="134E4A"/>
          </a:solidFill>
          <a:ln cap="flat" cmpd="sng" w="12700">
            <a:solidFill>
              <a:srgbClr val="134E4A"/>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21"/>
          <p:cNvSpPr/>
          <p:nvPr/>
        </p:nvSpPr>
        <p:spPr>
          <a:xfrm>
            <a:off x="1828800" y="1536192"/>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Landing /</a:t>
            </a:r>
            <a:r>
              <a:rPr b="0" i="0" lang="en-US" sz="1200" u="none" cap="none" strike="noStrike">
                <a:solidFill>
                  <a:srgbClr val="FFFFFF"/>
                </a:solidFill>
                <a:latin typeface="Calibri"/>
                <a:ea typeface="Calibri"/>
                <a:cs typeface="Calibri"/>
                <a:sym typeface="Calibri"/>
              </a:rPr>
              <a:t>  —  Site MediGuide (HTML/CSS) — Présentation, sources, disclaimer</a:t>
            </a:r>
            <a:endParaRPr b="0" i="0" sz="1400" u="none" cap="none" strike="noStrike">
              <a:solidFill>
                <a:schemeClr val="dk1"/>
              </a:solidFill>
              <a:latin typeface="Calibri"/>
              <a:ea typeface="Calibri"/>
              <a:cs typeface="Calibri"/>
              <a:sym typeface="Calibri"/>
            </a:endParaRPr>
          </a:p>
        </p:txBody>
      </p:sp>
      <p:cxnSp>
        <p:nvCxnSpPr>
          <p:cNvPr id="398" name="Google Shape;398;p21"/>
          <p:cNvCxnSpPr/>
          <p:nvPr/>
        </p:nvCxnSpPr>
        <p:spPr>
          <a:xfrm>
            <a:off x="4572000" y="2139696"/>
            <a:ext cx="0" cy="164592"/>
          </a:xfrm>
          <a:prstGeom prst="straightConnector1">
            <a:avLst/>
          </a:prstGeom>
          <a:noFill/>
          <a:ln cap="flat" cmpd="sng" w="25400">
            <a:solidFill>
              <a:srgbClr val="14B8A6"/>
            </a:solidFill>
            <a:prstDash val="solid"/>
            <a:round/>
            <a:headEnd len="sm" w="sm" type="none"/>
            <a:tailEnd len="sm" w="sm" type="none"/>
          </a:ln>
        </p:spPr>
      </p:cxnSp>
      <p:sp>
        <p:nvSpPr>
          <p:cNvPr id="399" name="Google Shape;399;p21"/>
          <p:cNvSpPr/>
          <p:nvPr/>
        </p:nvSpPr>
        <p:spPr>
          <a:xfrm>
            <a:off x="1828800" y="2304288"/>
            <a:ext cx="5486400" cy="603504"/>
          </a:xfrm>
          <a:prstGeom prst="rect">
            <a:avLst/>
          </a:prstGeom>
          <a:solidFill>
            <a:srgbClr val="0D9488"/>
          </a:solidFill>
          <a:ln cap="flat" cmpd="sng" w="12700">
            <a:solidFill>
              <a:srgbClr val="0D9488"/>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828800" y="2304288"/>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Page /consulter</a:t>
            </a:r>
            <a:r>
              <a:rPr b="0" i="0" lang="en-US" sz="1200" u="none" cap="none" strike="noStrike">
                <a:solidFill>
                  <a:srgbClr val="FFFFFF"/>
                </a:solidFill>
                <a:latin typeface="Calibri"/>
                <a:ea typeface="Calibri"/>
                <a:cs typeface="Calibri"/>
                <a:sym typeface="Calibri"/>
              </a:rPr>
              <a:t>  —  iframe du chatbot dans le header MediGuide</a:t>
            </a:r>
            <a:endParaRPr b="0" i="0" sz="1400" u="none" cap="none" strike="noStrike">
              <a:solidFill>
                <a:schemeClr val="dk1"/>
              </a:solidFill>
              <a:latin typeface="Calibri"/>
              <a:ea typeface="Calibri"/>
              <a:cs typeface="Calibri"/>
              <a:sym typeface="Calibri"/>
            </a:endParaRPr>
          </a:p>
        </p:txBody>
      </p:sp>
      <p:cxnSp>
        <p:nvCxnSpPr>
          <p:cNvPr id="401" name="Google Shape;401;p21"/>
          <p:cNvCxnSpPr/>
          <p:nvPr/>
        </p:nvCxnSpPr>
        <p:spPr>
          <a:xfrm>
            <a:off x="4572000" y="2907792"/>
            <a:ext cx="0" cy="164592"/>
          </a:xfrm>
          <a:prstGeom prst="straightConnector1">
            <a:avLst/>
          </a:prstGeom>
          <a:noFill/>
          <a:ln cap="flat" cmpd="sng" w="25400">
            <a:solidFill>
              <a:srgbClr val="14B8A6"/>
            </a:solidFill>
            <a:prstDash val="solid"/>
            <a:round/>
            <a:headEnd len="sm" w="sm" type="none"/>
            <a:tailEnd len="sm" w="sm" type="none"/>
          </a:ln>
        </p:spPr>
      </p:cxnSp>
      <p:sp>
        <p:nvSpPr>
          <p:cNvPr id="402" name="Google Shape;402;p21"/>
          <p:cNvSpPr/>
          <p:nvPr/>
        </p:nvSpPr>
        <p:spPr>
          <a:xfrm>
            <a:off x="1828800" y="3072384"/>
            <a:ext cx="5486400" cy="603504"/>
          </a:xfrm>
          <a:prstGeom prst="rect">
            <a:avLst/>
          </a:prstGeom>
          <a:solidFill>
            <a:srgbClr val="0F766E"/>
          </a:solidFill>
          <a:ln cap="flat" cmpd="sng" w="12700">
            <a:solidFill>
              <a:srgbClr val="0F766E"/>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21"/>
          <p:cNvSpPr/>
          <p:nvPr/>
        </p:nvSpPr>
        <p:spPr>
          <a:xfrm>
            <a:off x="1828800" y="3072384"/>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Chatbot /app/</a:t>
            </a:r>
            <a:r>
              <a:rPr b="0" i="0" lang="en-US" sz="1200" u="none" cap="none" strike="noStrike">
                <a:solidFill>
                  <a:srgbClr val="FFFFFF"/>
                </a:solidFill>
                <a:latin typeface="Calibri"/>
                <a:ea typeface="Calibri"/>
                <a:cs typeface="Calibri"/>
                <a:sym typeface="Calibri"/>
              </a:rPr>
              <a:t>  —  Streamlit harmonisé (même palette teal, font Inter)</a:t>
            </a:r>
            <a:endParaRPr b="0" i="0" sz="1400" u="none" cap="none" strike="noStrike">
              <a:solidFill>
                <a:schemeClr val="dk1"/>
              </a:solidFill>
              <a:latin typeface="Calibri"/>
              <a:ea typeface="Calibri"/>
              <a:cs typeface="Calibri"/>
              <a:sym typeface="Calibri"/>
            </a:endParaRPr>
          </a:p>
        </p:txBody>
      </p:sp>
      <p:cxnSp>
        <p:nvCxnSpPr>
          <p:cNvPr id="404" name="Google Shape;404;p21"/>
          <p:cNvCxnSpPr/>
          <p:nvPr/>
        </p:nvCxnSpPr>
        <p:spPr>
          <a:xfrm>
            <a:off x="4572000" y="3675888"/>
            <a:ext cx="0" cy="164592"/>
          </a:xfrm>
          <a:prstGeom prst="straightConnector1">
            <a:avLst/>
          </a:prstGeom>
          <a:noFill/>
          <a:ln cap="flat" cmpd="sng" w="25400">
            <a:solidFill>
              <a:srgbClr val="14B8A6"/>
            </a:solidFill>
            <a:prstDash val="solid"/>
            <a:round/>
            <a:headEnd len="sm" w="sm" type="none"/>
            <a:tailEnd len="sm" w="sm" type="none"/>
          </a:ln>
        </p:spPr>
      </p:cxnSp>
      <p:sp>
        <p:nvSpPr>
          <p:cNvPr id="405" name="Google Shape;405;p21"/>
          <p:cNvSpPr/>
          <p:nvPr/>
        </p:nvSpPr>
        <p:spPr>
          <a:xfrm>
            <a:off x="1828800" y="3840480"/>
            <a:ext cx="5486400" cy="603504"/>
          </a:xfrm>
          <a:prstGeom prst="rect">
            <a:avLst/>
          </a:prstGeom>
          <a:solidFill>
            <a:srgbClr val="0369A1"/>
          </a:solidFill>
          <a:ln cap="flat" cmpd="sng" w="12700">
            <a:solidFill>
              <a:srgbClr val="0369A1"/>
            </a:solidFill>
            <a:prstDash val="solid"/>
            <a:round/>
            <a:headEnd len="sm" w="sm" type="none"/>
            <a:tailEnd len="sm" w="sm" type="none"/>
          </a:ln>
          <a:effectLst>
            <a:outerShdw blurRad="50800" rotWithShape="0" algn="bl" dir="8100000" dist="127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21"/>
          <p:cNvSpPr/>
          <p:nvPr/>
        </p:nvSpPr>
        <p:spPr>
          <a:xfrm>
            <a:off x="1828800" y="3840480"/>
            <a:ext cx="5486400" cy="6035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Cohérence visuelle</a:t>
            </a:r>
            <a:r>
              <a:rPr b="0" i="0" lang="en-US" sz="1200" u="none" cap="none" strike="noStrike">
                <a:solidFill>
                  <a:srgbClr val="FFFFFF"/>
                </a:solidFill>
                <a:latin typeface="Calibri"/>
                <a:ea typeface="Calibri"/>
                <a:cs typeface="Calibri"/>
                <a:sym typeface="Calibri"/>
              </a:rPr>
              <a:t>  —  Pages login + chat reprennent le style MediGuide</a:t>
            </a:r>
            <a:endParaRPr b="0" i="0" sz="1400" u="none" cap="none" strike="noStrike">
              <a:solidFill>
                <a:schemeClr val="dk1"/>
              </a:solidFill>
              <a:latin typeface="Calibri"/>
              <a:ea typeface="Calibri"/>
              <a:cs typeface="Calibri"/>
              <a:sym typeface="Calibri"/>
            </a:endParaRPr>
          </a:p>
        </p:txBody>
      </p:sp>
      <p:sp>
        <p:nvSpPr>
          <p:cNvPr id="407" name="Google Shape;407;p21"/>
          <p:cNvSpPr/>
          <p:nvPr/>
        </p:nvSpPr>
        <p:spPr>
          <a:xfrm>
            <a:off x="457200" y="4754880"/>
            <a:ext cx="822960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4A3B8"/>
              </a:buClr>
              <a:buSzPts val="1200"/>
              <a:buFont typeface="Calibri"/>
              <a:buNone/>
            </a:pPr>
            <a:r>
              <a:rPr b="0" i="1" lang="en-US" sz="1200" u="none" cap="none" strike="noStrike">
                <a:solidFill>
                  <a:srgbClr val="94A3B8"/>
                </a:solidFill>
                <a:latin typeface="Calibri"/>
                <a:ea typeface="Calibri"/>
                <a:cs typeface="Calibri"/>
                <a:sym typeface="Calibri"/>
              </a:rPr>
              <a:t>Site MediGuide → bouton « Consulter » → /consulter (iframe /app/) → chatbot dans le contexte de la marque</a:t>
            </a:r>
            <a:endParaRPr b="0" i="0" sz="12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412" name="Shape 412"/>
        <p:cNvGrpSpPr/>
        <p:nvPr/>
      </p:nvGrpSpPr>
      <p:grpSpPr>
        <a:xfrm>
          <a:off x="0" y="0"/>
          <a:ext cx="0" cy="0"/>
          <a:chOff x="0" y="0"/>
          <a:chExt cx="0" cy="0"/>
        </a:xfrm>
      </p:grpSpPr>
      <p:sp>
        <p:nvSpPr>
          <p:cNvPr id="413" name="Google Shape;413;p22"/>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22"/>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2"/>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16" name="Google Shape;416;p22"/>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Démo en direct</a:t>
            </a:r>
            <a:endParaRPr b="0" i="0" sz="2200" u="none" cap="none" strike="noStrike">
              <a:solidFill>
                <a:schemeClr val="dk1"/>
              </a:solidFill>
              <a:latin typeface="Calibri"/>
              <a:ea typeface="Calibri"/>
              <a:cs typeface="Calibri"/>
              <a:sym typeface="Calibri"/>
            </a:endParaRPr>
          </a:p>
        </p:txBody>
      </p:sp>
      <p:sp>
        <p:nvSpPr>
          <p:cNvPr id="417" name="Google Shape;417;p22"/>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24</a:t>
            </a:r>
            <a:endParaRPr b="0" i="0" sz="10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1097280"/>
            <a:ext cx="621792" cy="621792"/>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22"/>
          <p:cNvSpPr/>
          <p:nvPr/>
        </p:nvSpPr>
        <p:spPr>
          <a:xfrm>
            <a:off x="457200" y="1097280"/>
            <a:ext cx="621792" cy="6217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1</a:t>
            </a:r>
            <a:endParaRPr b="0" i="0" sz="2200" u="none" cap="none" strike="noStrike">
              <a:solidFill>
                <a:schemeClr val="dk1"/>
              </a:solidFill>
              <a:latin typeface="Calibri"/>
              <a:ea typeface="Calibri"/>
              <a:cs typeface="Calibri"/>
              <a:sym typeface="Calibri"/>
            </a:endParaRPr>
          </a:p>
        </p:txBody>
      </p:sp>
      <p:sp>
        <p:nvSpPr>
          <p:cNvPr id="420" name="Google Shape;420;p22"/>
          <p:cNvSpPr/>
          <p:nvPr/>
        </p:nvSpPr>
        <p:spPr>
          <a:xfrm>
            <a:off x="1234440" y="1097280"/>
            <a:ext cx="7452360" cy="100584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22"/>
          <p:cNvSpPr/>
          <p:nvPr/>
        </p:nvSpPr>
        <p:spPr>
          <a:xfrm>
            <a:off x="1371600" y="1152144"/>
            <a:ext cx="72237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Question dans le périmètre</a:t>
            </a:r>
            <a:r>
              <a:rPr b="0" i="0" lang="en-US" sz="1300" u="none" cap="none" strike="noStrike">
                <a:solidFill>
                  <a:srgbClr val="475569"/>
                </a:solidFill>
                <a:latin typeface="Calibri"/>
                <a:ea typeface="Calibri"/>
                <a:cs typeface="Calibri"/>
                <a:sym typeface="Calibri"/>
              </a:rPr>
              <a:t>  (diabète)</a:t>
            </a:r>
            <a:endParaRPr b="0" i="0" sz="1500" u="none" cap="none" strike="noStrike">
              <a:solidFill>
                <a:schemeClr val="dk1"/>
              </a:solidFill>
              <a:latin typeface="Calibri"/>
              <a:ea typeface="Calibri"/>
              <a:cs typeface="Calibri"/>
              <a:sym typeface="Calibri"/>
            </a:endParaRPr>
          </a:p>
        </p:txBody>
      </p:sp>
      <p:sp>
        <p:nvSpPr>
          <p:cNvPr id="422" name="Google Shape;422;p22"/>
          <p:cNvSpPr/>
          <p:nvPr/>
        </p:nvSpPr>
        <p:spPr>
          <a:xfrm>
            <a:off x="1371600" y="1591056"/>
            <a:ext cx="72237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 réponse basée sur HAS, badge "documents officiels"</a:t>
            </a:r>
            <a:endParaRPr b="0" i="0" sz="1300" u="none" cap="none" strike="noStrike">
              <a:solidFill>
                <a:schemeClr val="dk1"/>
              </a:solidFill>
              <a:latin typeface="Calibri"/>
              <a:ea typeface="Calibri"/>
              <a:cs typeface="Calibri"/>
              <a:sym typeface="Calibri"/>
            </a:endParaRPr>
          </a:p>
        </p:txBody>
      </p:sp>
      <p:sp>
        <p:nvSpPr>
          <p:cNvPr id="423" name="Google Shape;423;p22"/>
          <p:cNvSpPr/>
          <p:nvPr/>
        </p:nvSpPr>
        <p:spPr>
          <a:xfrm>
            <a:off x="457200" y="2286000"/>
            <a:ext cx="621792" cy="621792"/>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2"/>
          <p:cNvSpPr/>
          <p:nvPr/>
        </p:nvSpPr>
        <p:spPr>
          <a:xfrm>
            <a:off x="457200" y="2286000"/>
            <a:ext cx="621792" cy="6217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2</a:t>
            </a:r>
            <a:endParaRPr b="0" i="0" sz="2200" u="none" cap="none" strike="noStrike">
              <a:solidFill>
                <a:schemeClr val="dk1"/>
              </a:solidFill>
              <a:latin typeface="Calibri"/>
              <a:ea typeface="Calibri"/>
              <a:cs typeface="Calibri"/>
              <a:sym typeface="Calibri"/>
            </a:endParaRPr>
          </a:p>
        </p:txBody>
      </p:sp>
      <p:sp>
        <p:nvSpPr>
          <p:cNvPr id="425" name="Google Shape;425;p22"/>
          <p:cNvSpPr/>
          <p:nvPr/>
        </p:nvSpPr>
        <p:spPr>
          <a:xfrm>
            <a:off x="1234440" y="2286000"/>
            <a:ext cx="7452360" cy="1005840"/>
          </a:xfrm>
          <a:prstGeom prst="rect">
            <a:avLst/>
          </a:prstGeom>
          <a:solidFill>
            <a:srgbClr val="FFFFFF"/>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2"/>
          <p:cNvSpPr/>
          <p:nvPr/>
        </p:nvSpPr>
        <p:spPr>
          <a:xfrm>
            <a:off x="1371600" y="2340864"/>
            <a:ext cx="72237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Question hors périmètre</a:t>
            </a:r>
            <a:r>
              <a:rPr b="0" i="0" lang="en-US" sz="1300" u="none" cap="none" strike="noStrike">
                <a:solidFill>
                  <a:srgbClr val="475569"/>
                </a:solidFill>
                <a:latin typeface="Calibri"/>
                <a:ea typeface="Calibri"/>
                <a:cs typeface="Calibri"/>
                <a:sym typeface="Calibri"/>
              </a:rPr>
              <a:t>  (grippe)</a:t>
            </a:r>
            <a:endParaRPr b="0" i="0" sz="1500" u="none" cap="none" strike="noStrike">
              <a:solidFill>
                <a:schemeClr val="dk1"/>
              </a:solidFill>
              <a:latin typeface="Calibri"/>
              <a:ea typeface="Calibri"/>
              <a:cs typeface="Calibri"/>
              <a:sym typeface="Calibri"/>
            </a:endParaRPr>
          </a:p>
        </p:txBody>
      </p:sp>
      <p:sp>
        <p:nvSpPr>
          <p:cNvPr id="427" name="Google Shape;427;p22"/>
          <p:cNvSpPr/>
          <p:nvPr/>
        </p:nvSpPr>
        <p:spPr>
          <a:xfrm>
            <a:off x="1371600" y="2779776"/>
            <a:ext cx="72237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 bascule web, sources citées, badge "web"</a:t>
            </a:r>
            <a:endParaRPr b="0" i="0" sz="1300" u="none" cap="none" strike="noStrike">
              <a:solidFill>
                <a:schemeClr val="dk1"/>
              </a:solidFill>
              <a:latin typeface="Calibri"/>
              <a:ea typeface="Calibri"/>
              <a:cs typeface="Calibri"/>
              <a:sym typeface="Calibri"/>
            </a:endParaRPr>
          </a:p>
        </p:txBody>
      </p:sp>
      <p:sp>
        <p:nvSpPr>
          <p:cNvPr id="428" name="Google Shape;428;p22"/>
          <p:cNvSpPr/>
          <p:nvPr/>
        </p:nvSpPr>
        <p:spPr>
          <a:xfrm>
            <a:off x="457200" y="3474720"/>
            <a:ext cx="621792" cy="621792"/>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2"/>
          <p:cNvSpPr/>
          <p:nvPr/>
        </p:nvSpPr>
        <p:spPr>
          <a:xfrm>
            <a:off x="457200" y="3474720"/>
            <a:ext cx="621792" cy="6217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3</a:t>
            </a:r>
            <a:endParaRPr b="0" i="0" sz="2200" u="none" cap="none" strike="noStrike">
              <a:solidFill>
                <a:schemeClr val="dk1"/>
              </a:solidFill>
              <a:latin typeface="Calibri"/>
              <a:ea typeface="Calibri"/>
              <a:cs typeface="Calibri"/>
              <a:sym typeface="Calibri"/>
            </a:endParaRPr>
          </a:p>
        </p:txBody>
      </p:sp>
      <p:sp>
        <p:nvSpPr>
          <p:cNvPr id="430" name="Google Shape;430;p22"/>
          <p:cNvSpPr/>
          <p:nvPr/>
        </p:nvSpPr>
        <p:spPr>
          <a:xfrm>
            <a:off x="1234440" y="3474720"/>
            <a:ext cx="7452360" cy="1005840"/>
          </a:xfrm>
          <a:prstGeom prst="rect">
            <a:avLst/>
          </a:prstGeom>
          <a:solidFill>
            <a:srgbClr val="CCFBF1"/>
          </a:solidFill>
          <a:ln cap="flat" cmpd="sng" w="12700">
            <a:solidFill>
              <a:srgbClr val="D1FA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2"/>
          <p:cNvSpPr/>
          <p:nvPr/>
        </p:nvSpPr>
        <p:spPr>
          <a:xfrm>
            <a:off x="1371600" y="3529584"/>
            <a:ext cx="722376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4E4A"/>
              </a:buClr>
              <a:buSzPts val="1500"/>
              <a:buFont typeface="Calibri"/>
              <a:buNone/>
            </a:pPr>
            <a:r>
              <a:rPr b="1" i="0" lang="en-US" sz="1500" u="none" cap="none" strike="noStrike">
                <a:solidFill>
                  <a:srgbClr val="134E4A"/>
                </a:solidFill>
                <a:latin typeface="Calibri"/>
                <a:ea typeface="Calibri"/>
                <a:cs typeface="Calibri"/>
                <a:sym typeface="Calibri"/>
              </a:rPr>
              <a:t>Hermes</a:t>
            </a:r>
            <a:endParaRPr b="0" i="0" sz="1500" u="none" cap="none" strike="noStrike">
              <a:solidFill>
                <a:schemeClr val="dk1"/>
              </a:solidFill>
              <a:latin typeface="Calibri"/>
              <a:ea typeface="Calibri"/>
              <a:cs typeface="Calibri"/>
              <a:sym typeface="Calibri"/>
            </a:endParaRPr>
          </a:p>
        </p:txBody>
      </p:sp>
      <p:sp>
        <p:nvSpPr>
          <p:cNvPr id="432" name="Google Shape;432;p22"/>
          <p:cNvSpPr/>
          <p:nvPr/>
        </p:nvSpPr>
        <p:spPr>
          <a:xfrm>
            <a:off x="1371600" y="3968496"/>
            <a:ext cx="722376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766E"/>
              </a:buClr>
              <a:buSzPts val="1300"/>
              <a:buFont typeface="Calibri"/>
              <a:buNone/>
            </a:pPr>
            <a:r>
              <a:rPr b="0" i="1" lang="en-US" sz="1300" u="none" cap="none" strike="noStrike">
                <a:solidFill>
                  <a:srgbClr val="0F766E"/>
                </a:solidFill>
                <a:latin typeface="Calibri"/>
                <a:ea typeface="Calibri"/>
                <a:cs typeface="Calibri"/>
                <a:sym typeface="Calibri"/>
              </a:rPr>
              <a:t>→ recommandation spécialiste + prise de RDV</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38" name="Google Shape;438;p23"/>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3"/>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3"/>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41" name="Google Shape;441;p23"/>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Polish UX — les détails qui comptent</a:t>
            </a:r>
            <a:endParaRPr b="0" i="0" sz="2200" u="none" cap="none" strike="noStrike">
              <a:solidFill>
                <a:schemeClr val="dk1"/>
              </a:solidFill>
              <a:latin typeface="Calibri"/>
              <a:ea typeface="Calibri"/>
              <a:cs typeface="Calibri"/>
              <a:sym typeface="Calibri"/>
            </a:endParaRPr>
          </a:p>
        </p:txBody>
      </p:sp>
      <p:sp>
        <p:nvSpPr>
          <p:cNvPr id="442" name="Google Shape;442;p23"/>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25</a:t>
            </a:r>
            <a:endParaRPr b="0" i="0" sz="1000" u="none" cap="none" strike="noStrike">
              <a:solidFill>
                <a:schemeClr val="dk1"/>
              </a:solidFill>
              <a:latin typeface="Calibri"/>
              <a:ea typeface="Calibri"/>
              <a:cs typeface="Calibri"/>
              <a:sym typeface="Calibri"/>
            </a:endParaRPr>
          </a:p>
        </p:txBody>
      </p:sp>
      <p:sp>
        <p:nvSpPr>
          <p:cNvPr id="443" name="Google Shape;443;p23"/>
          <p:cNvSpPr/>
          <p:nvPr/>
        </p:nvSpPr>
        <p:spPr>
          <a:xfrm>
            <a:off x="365760" y="1097280"/>
            <a:ext cx="4114800" cy="1508760"/>
          </a:xfrm>
          <a:prstGeom prst="rect">
            <a:avLst/>
          </a:prstGeom>
          <a:solidFill>
            <a:srgbClr val="134E4A"/>
          </a:solidFill>
          <a:ln cap="flat" cmpd="sng" w="12700">
            <a:solidFill>
              <a:srgbClr val="134E4A"/>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3"/>
          <p:cNvSpPr/>
          <p:nvPr/>
        </p:nvSpPr>
        <p:spPr>
          <a:xfrm>
            <a:off x="5029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Cohérence visuelle</a:t>
            </a:r>
            <a:endParaRPr b="0" i="0" sz="1600" u="none" cap="none" strike="noStrike">
              <a:solidFill>
                <a:schemeClr val="dk1"/>
              </a:solidFill>
              <a:latin typeface="Calibri"/>
              <a:ea typeface="Calibri"/>
              <a:cs typeface="Calibri"/>
              <a:sym typeface="Calibri"/>
            </a:endParaRPr>
          </a:p>
        </p:txBody>
      </p:sp>
      <p:sp>
        <p:nvSpPr>
          <p:cNvPr id="445" name="Google Shape;445;p23"/>
          <p:cNvSpPr/>
          <p:nvPr/>
        </p:nvSpPr>
        <p:spPr>
          <a:xfrm>
            <a:off x="5029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Palette teal &amp; font Inter partagées entre site et chatbot</a:t>
            </a:r>
            <a:endParaRPr b="0" i="0" sz="1300" u="none" cap="none" strike="noStrike">
              <a:solidFill>
                <a:schemeClr val="dk1"/>
              </a:solidFill>
              <a:latin typeface="Calibri"/>
              <a:ea typeface="Calibri"/>
              <a:cs typeface="Calibri"/>
              <a:sym typeface="Calibri"/>
            </a:endParaRPr>
          </a:p>
        </p:txBody>
      </p:sp>
      <p:sp>
        <p:nvSpPr>
          <p:cNvPr id="446" name="Google Shape;446;p23"/>
          <p:cNvSpPr/>
          <p:nvPr/>
        </p:nvSpPr>
        <p:spPr>
          <a:xfrm>
            <a:off x="4709160" y="1097280"/>
            <a:ext cx="4114800" cy="1508760"/>
          </a:xfrm>
          <a:prstGeom prst="rect">
            <a:avLst/>
          </a:prstGeom>
          <a:solidFill>
            <a:srgbClr val="0F766E"/>
          </a:solidFill>
          <a:ln cap="flat" cmpd="sng" w="12700">
            <a:solidFill>
              <a:srgbClr val="0F766E"/>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3"/>
          <p:cNvSpPr/>
          <p:nvPr/>
        </p:nvSpPr>
        <p:spPr>
          <a:xfrm>
            <a:off x="48463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Badges de sources</a:t>
            </a:r>
            <a:endParaRPr b="0" i="0" sz="1600" u="none" cap="none" strike="noStrike">
              <a:solidFill>
                <a:schemeClr val="dk1"/>
              </a:solidFill>
              <a:latin typeface="Calibri"/>
              <a:ea typeface="Calibri"/>
              <a:cs typeface="Calibri"/>
              <a:sym typeface="Calibri"/>
            </a:endParaRPr>
          </a:p>
        </p:txBody>
      </p:sp>
      <p:sp>
        <p:nvSpPr>
          <p:cNvPr id="448" name="Google Shape;448;p23"/>
          <p:cNvSpPr/>
          <p:nvPr/>
        </p:nvSpPr>
        <p:spPr>
          <a:xfrm>
            <a:off x="48463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Chaque réponse affiche « Documents officiels HAS/INCa » ou « Recherche web »</a:t>
            </a:r>
            <a:endParaRPr b="0" i="0" sz="1300" u="none" cap="none" strike="noStrike">
              <a:solidFill>
                <a:schemeClr val="dk1"/>
              </a:solidFill>
              <a:latin typeface="Calibri"/>
              <a:ea typeface="Calibri"/>
              <a:cs typeface="Calibri"/>
              <a:sym typeface="Calibri"/>
            </a:endParaRPr>
          </a:p>
        </p:txBody>
      </p:sp>
      <p:sp>
        <p:nvSpPr>
          <p:cNvPr id="449" name="Google Shape;449;p23"/>
          <p:cNvSpPr/>
          <p:nvPr/>
        </p:nvSpPr>
        <p:spPr>
          <a:xfrm>
            <a:off x="365760" y="2834640"/>
            <a:ext cx="4114800" cy="1508760"/>
          </a:xfrm>
          <a:prstGeom prst="rect">
            <a:avLst/>
          </a:prstGeom>
          <a:solidFill>
            <a:srgbClr val="0D9488"/>
          </a:solidFill>
          <a:ln cap="flat" cmpd="sng" w="12700">
            <a:solidFill>
              <a:srgbClr val="0D9488"/>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3"/>
          <p:cNvSpPr/>
          <p:nvPr/>
        </p:nvSpPr>
        <p:spPr>
          <a:xfrm>
            <a:off x="5029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Mes rendez-vous</a:t>
            </a:r>
            <a:endParaRPr b="0" i="0" sz="1600" u="none" cap="none" strike="noStrike">
              <a:solidFill>
                <a:schemeClr val="dk1"/>
              </a:solidFill>
              <a:latin typeface="Calibri"/>
              <a:ea typeface="Calibri"/>
              <a:cs typeface="Calibri"/>
              <a:sym typeface="Calibri"/>
            </a:endParaRPr>
          </a:p>
        </p:txBody>
      </p:sp>
      <p:sp>
        <p:nvSpPr>
          <p:cNvPr id="451" name="Google Shape;451;p23"/>
          <p:cNvSpPr/>
          <p:nvPr/>
        </p:nvSpPr>
        <p:spPr>
          <a:xfrm>
            <a:off x="5029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Section permanente dans la sidebar — historique des RDV pris, toujours retrouvable</a:t>
            </a:r>
            <a:endParaRPr b="0" i="0" sz="1300" u="none" cap="none" strike="noStrike">
              <a:solidFill>
                <a:schemeClr val="dk1"/>
              </a:solidFill>
              <a:latin typeface="Calibri"/>
              <a:ea typeface="Calibri"/>
              <a:cs typeface="Calibri"/>
              <a:sym typeface="Calibri"/>
            </a:endParaRPr>
          </a:p>
        </p:txBody>
      </p:sp>
      <p:sp>
        <p:nvSpPr>
          <p:cNvPr id="452" name="Google Shape;452;p23"/>
          <p:cNvSpPr/>
          <p:nvPr/>
        </p:nvSpPr>
        <p:spPr>
          <a:xfrm>
            <a:off x="4709160" y="2834640"/>
            <a:ext cx="4114800" cy="1508760"/>
          </a:xfrm>
          <a:prstGeom prst="rect">
            <a:avLst/>
          </a:prstGeom>
          <a:solidFill>
            <a:srgbClr val="0369A1"/>
          </a:solidFill>
          <a:ln cap="flat" cmpd="sng" w="12700">
            <a:solidFill>
              <a:srgbClr val="0369A1"/>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3"/>
          <p:cNvSpPr/>
          <p:nvPr/>
        </p:nvSpPr>
        <p:spPr>
          <a:xfrm>
            <a:off x="48463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 Auto-rename des sessions</a:t>
            </a:r>
            <a:endParaRPr b="0" i="0" sz="1600" u="none" cap="none" strike="noStrike">
              <a:solidFill>
                <a:schemeClr val="dk1"/>
              </a:solidFill>
              <a:latin typeface="Calibri"/>
              <a:ea typeface="Calibri"/>
              <a:cs typeface="Calibri"/>
              <a:sym typeface="Calibri"/>
            </a:endParaRPr>
          </a:p>
        </p:txBody>
      </p:sp>
      <p:sp>
        <p:nvSpPr>
          <p:cNvPr id="454" name="Google Shape;454;p23"/>
          <p:cNvSpPr/>
          <p:nvPr/>
        </p:nvSpPr>
        <p:spPr>
          <a:xfrm>
            <a:off x="48463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Le titre devient les 60 premiers caractères du 1er message — sidebar lisible</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DFA"/>
        </a:solidFill>
      </p:bgPr>
    </p:bg>
    <p:spTree>
      <p:nvGrpSpPr>
        <p:cNvPr id="437" name="Shape 437"/>
        <p:cNvGrpSpPr/>
        <p:nvPr/>
      </p:nvGrpSpPr>
      <p:grpSpPr>
        <a:xfrm>
          <a:off x="0" y="0"/>
          <a:ext cx="0" cy="0"/>
          <a:chOff x="0" y="0"/>
          <a:chExt cx="0" cy="0"/>
        </a:xfrm>
      </p:grpSpPr>
      <p:sp>
        <p:nvSpPr>
          <p:cNvPr id="438" name="Google Shape;438;p23"/>
          <p:cNvSpPr/>
          <p:nvPr/>
        </p:nvSpPr>
        <p:spPr>
          <a:xfrm>
            <a:off x="0" y="0"/>
            <a:ext cx="9144000" cy="914400"/>
          </a:xfrm>
          <a:prstGeom prst="rect">
            <a:avLst/>
          </a:prstGeom>
          <a:solidFill>
            <a:srgbClr val="134E4A"/>
          </a:solidFill>
          <a:ln cap="flat" cmpd="sng" w="12700">
            <a:solidFill>
              <a:srgbClr val="134E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3"/>
          <p:cNvSpPr/>
          <p:nvPr/>
        </p:nvSpPr>
        <p:spPr>
          <a:xfrm>
            <a:off x="0" y="914400"/>
            <a:ext cx="9144000" cy="4572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3"/>
          <p:cNvSpPr/>
          <p:nvPr/>
        </p:nvSpPr>
        <p:spPr>
          <a:xfrm>
            <a:off x="365760" y="54864"/>
            <a:ext cx="85039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CCFBF1"/>
              </a:buClr>
              <a:buSzPts val="900"/>
              <a:buFont typeface="Calibri"/>
              <a:buNone/>
            </a:pPr>
            <a:r>
              <a:rPr b="0" i="0" lang="en-US" sz="900" u="none" cap="none" strike="noStrike">
                <a:solidFill>
                  <a:srgbClr val="CCFBF1"/>
                </a:solidFill>
                <a:latin typeface="Calibri"/>
                <a:ea typeface="Calibri"/>
                <a:cs typeface="Calibri"/>
                <a:sym typeface="Calibri"/>
              </a:rPr>
              <a:t>SAE BUT3 — Chatbot médical RAG</a:t>
            </a:r>
            <a:endParaRPr b="0" i="0" sz="900" u="none" cap="none" strike="noStrike">
              <a:solidFill>
                <a:schemeClr val="dk1"/>
              </a:solidFill>
              <a:latin typeface="Calibri"/>
              <a:ea typeface="Calibri"/>
              <a:cs typeface="Calibri"/>
              <a:sym typeface="Calibri"/>
            </a:endParaRPr>
          </a:p>
        </p:txBody>
      </p:sp>
      <p:sp>
        <p:nvSpPr>
          <p:cNvPr id="441" name="Google Shape;441;p23"/>
          <p:cNvSpPr/>
          <p:nvPr/>
        </p:nvSpPr>
        <p:spPr>
          <a:xfrm>
            <a:off x="365760" y="256032"/>
            <a:ext cx="8412480" cy="6217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Bilan des compétences mobilisées</a:t>
            </a:r>
            <a:endParaRPr b="0" i="0" sz="2200" u="none" cap="none" strike="noStrike">
              <a:solidFill>
                <a:schemeClr val="dk1"/>
              </a:solidFill>
              <a:latin typeface="Calibri"/>
              <a:ea typeface="Calibri"/>
              <a:cs typeface="Calibri"/>
              <a:sym typeface="Calibri"/>
            </a:endParaRPr>
          </a:p>
        </p:txBody>
      </p:sp>
      <p:sp>
        <p:nvSpPr>
          <p:cNvPr id="442" name="Google Shape;442;p23"/>
          <p:cNvSpPr/>
          <p:nvPr/>
        </p:nvSpPr>
        <p:spPr>
          <a:xfrm>
            <a:off x="8503920" y="4846320"/>
            <a:ext cx="5029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4B8A6"/>
              </a:buClr>
              <a:buSzPts val="1000"/>
              <a:buFont typeface="Calibri"/>
              <a:buNone/>
            </a:pPr>
            <a:r>
              <a:rPr b="0" i="0" lang="en-US" sz="1000" u="none" cap="none" strike="noStrike">
                <a:solidFill>
                  <a:srgbClr val="14B8A6"/>
                </a:solidFill>
                <a:latin typeface="Calibri"/>
                <a:ea typeface="Calibri"/>
                <a:cs typeface="Calibri"/>
                <a:sym typeface="Calibri"/>
              </a:rPr>
              <a:t>26</a:t>
            </a:r>
            <a:endParaRPr b="0" i="0" sz="1000" u="none" cap="none" strike="noStrike">
              <a:solidFill>
                <a:schemeClr val="dk1"/>
              </a:solidFill>
              <a:latin typeface="Calibri"/>
              <a:ea typeface="Calibri"/>
              <a:cs typeface="Calibri"/>
              <a:sym typeface="Calibri"/>
            </a:endParaRPr>
          </a:p>
        </p:txBody>
      </p:sp>
      <p:sp>
        <p:nvSpPr>
          <p:cNvPr id="443" name="Google Shape;443;p23"/>
          <p:cNvSpPr/>
          <p:nvPr/>
        </p:nvSpPr>
        <p:spPr>
          <a:xfrm>
            <a:off x="365760" y="1097280"/>
            <a:ext cx="4114800" cy="1508760"/>
          </a:xfrm>
          <a:prstGeom prst="rect">
            <a:avLst/>
          </a:prstGeom>
          <a:solidFill>
            <a:srgbClr val="134E4A"/>
          </a:solidFill>
          <a:ln cap="flat" cmpd="sng" w="12700">
            <a:solidFill>
              <a:srgbClr val="134E4A"/>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3"/>
          <p:cNvSpPr/>
          <p:nvPr/>
        </p:nvSpPr>
        <p:spPr>
          <a:xfrm>
            <a:off x="5029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Full Stack</a:t>
            </a:r>
            <a:endParaRPr b="0" i="0" sz="1600" u="none" cap="none" strike="noStrike">
              <a:solidFill>
                <a:schemeClr val="dk1"/>
              </a:solidFill>
              <a:latin typeface="Calibri"/>
              <a:ea typeface="Calibri"/>
              <a:cs typeface="Calibri"/>
              <a:sym typeface="Calibri"/>
            </a:endParaRPr>
          </a:p>
        </p:txBody>
      </p:sp>
      <p:sp>
        <p:nvSpPr>
          <p:cNvPr id="445" name="Google Shape;445;p23"/>
          <p:cNvSpPr/>
          <p:nvPr/>
        </p:nvSpPr>
        <p:spPr>
          <a:xfrm>
            <a:off x="5029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FastAPI + Streamlit + JWT + SQLAlchemy</a:t>
            </a:r>
            <a:endParaRPr b="0" i="0" sz="1300" u="none" cap="none" strike="noStrike">
              <a:solidFill>
                <a:schemeClr val="dk1"/>
              </a:solidFill>
              <a:latin typeface="Calibri"/>
              <a:ea typeface="Calibri"/>
              <a:cs typeface="Calibri"/>
              <a:sym typeface="Calibri"/>
            </a:endParaRPr>
          </a:p>
        </p:txBody>
      </p:sp>
      <p:sp>
        <p:nvSpPr>
          <p:cNvPr id="446" name="Google Shape;446;p23"/>
          <p:cNvSpPr/>
          <p:nvPr/>
        </p:nvSpPr>
        <p:spPr>
          <a:xfrm>
            <a:off x="4709160" y="1097280"/>
            <a:ext cx="4114800" cy="1508760"/>
          </a:xfrm>
          <a:prstGeom prst="rect">
            <a:avLst/>
          </a:prstGeom>
          <a:solidFill>
            <a:srgbClr val="0F766E"/>
          </a:solidFill>
          <a:ln cap="flat" cmpd="sng" w="12700">
            <a:solidFill>
              <a:srgbClr val="0F766E"/>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3"/>
          <p:cNvSpPr/>
          <p:nvPr/>
        </p:nvSpPr>
        <p:spPr>
          <a:xfrm>
            <a:off x="4846320" y="123444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IA / LLM</a:t>
            </a:r>
            <a:endParaRPr b="0" i="0" sz="1600" u="none" cap="none" strike="noStrike">
              <a:solidFill>
                <a:schemeClr val="dk1"/>
              </a:solidFill>
              <a:latin typeface="Calibri"/>
              <a:ea typeface="Calibri"/>
              <a:cs typeface="Calibri"/>
              <a:sym typeface="Calibri"/>
            </a:endParaRPr>
          </a:p>
        </p:txBody>
      </p:sp>
      <p:sp>
        <p:nvSpPr>
          <p:cNvPr id="448" name="Google Shape;448;p23"/>
          <p:cNvSpPr/>
          <p:nvPr/>
        </p:nvSpPr>
        <p:spPr>
          <a:xfrm>
            <a:off x="4846320" y="169164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RAG, embeddings, prompt engineering, comparaison de modèles</a:t>
            </a:r>
            <a:endParaRPr b="0" i="0" sz="1300" u="none" cap="none" strike="noStrike">
              <a:solidFill>
                <a:schemeClr val="dk1"/>
              </a:solidFill>
              <a:latin typeface="Calibri"/>
              <a:ea typeface="Calibri"/>
              <a:cs typeface="Calibri"/>
              <a:sym typeface="Calibri"/>
            </a:endParaRPr>
          </a:p>
        </p:txBody>
      </p:sp>
      <p:sp>
        <p:nvSpPr>
          <p:cNvPr id="449" name="Google Shape;449;p23"/>
          <p:cNvSpPr/>
          <p:nvPr/>
        </p:nvSpPr>
        <p:spPr>
          <a:xfrm>
            <a:off x="365760" y="2834640"/>
            <a:ext cx="4114800" cy="1508760"/>
          </a:xfrm>
          <a:prstGeom prst="rect">
            <a:avLst/>
          </a:prstGeom>
          <a:solidFill>
            <a:srgbClr val="0D9488"/>
          </a:solidFill>
          <a:ln cap="flat" cmpd="sng" w="12700">
            <a:solidFill>
              <a:srgbClr val="0D9488"/>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3"/>
          <p:cNvSpPr/>
          <p:nvPr/>
        </p:nvSpPr>
        <p:spPr>
          <a:xfrm>
            <a:off x="5029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Esprit critique</a:t>
            </a:r>
            <a:endParaRPr b="0" i="0" sz="1600" u="none" cap="none" strike="noStrike">
              <a:solidFill>
                <a:schemeClr val="dk1"/>
              </a:solidFill>
              <a:latin typeface="Calibri"/>
              <a:ea typeface="Calibri"/>
              <a:cs typeface="Calibri"/>
              <a:sym typeface="Calibri"/>
            </a:endParaRPr>
          </a:p>
        </p:txBody>
      </p:sp>
      <p:sp>
        <p:nvSpPr>
          <p:cNvPr id="451" name="Google Shape;451;p23"/>
          <p:cNvSpPr/>
          <p:nvPr/>
        </p:nvSpPr>
        <p:spPr>
          <a:xfrm>
            <a:off x="5029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Limites du RAG, seuil de pertinence, sécurité (pas de diagnostic)</a:t>
            </a:r>
            <a:endParaRPr b="0" i="0" sz="1300" u="none" cap="none" strike="noStrike">
              <a:solidFill>
                <a:schemeClr val="dk1"/>
              </a:solidFill>
              <a:latin typeface="Calibri"/>
              <a:ea typeface="Calibri"/>
              <a:cs typeface="Calibri"/>
              <a:sym typeface="Calibri"/>
            </a:endParaRPr>
          </a:p>
        </p:txBody>
      </p:sp>
      <p:sp>
        <p:nvSpPr>
          <p:cNvPr id="452" name="Google Shape;452;p23"/>
          <p:cNvSpPr/>
          <p:nvPr/>
        </p:nvSpPr>
        <p:spPr>
          <a:xfrm>
            <a:off x="4709160" y="2834640"/>
            <a:ext cx="4114800" cy="1508760"/>
          </a:xfrm>
          <a:prstGeom prst="rect">
            <a:avLst/>
          </a:prstGeom>
          <a:solidFill>
            <a:srgbClr val="0369A1"/>
          </a:solidFill>
          <a:ln cap="flat" cmpd="sng" w="12700">
            <a:solidFill>
              <a:srgbClr val="0369A1"/>
            </a:solidFill>
            <a:prstDash val="solid"/>
            <a:round/>
            <a:headEnd len="sm" w="sm" type="none"/>
            <a:tailEnd len="sm" w="sm" type="none"/>
          </a:ln>
          <a:effectLst>
            <a:outerShdw blurRad="63500" rotWithShape="0" algn="bl" dir="8100000" dist="25400">
              <a:srgbClr val="000000">
                <a:alpha val="1215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3"/>
          <p:cNvSpPr/>
          <p:nvPr/>
        </p:nvSpPr>
        <p:spPr>
          <a:xfrm>
            <a:off x="4846320" y="297180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CFBF1"/>
              </a:buClr>
              <a:buSzPts val="1600"/>
              <a:buFont typeface="Calibri"/>
              <a:buNone/>
            </a:pPr>
            <a:r>
              <a:rPr b="1" i="0" lang="en-US" sz="1600" u="none" cap="none" strike="noStrike">
                <a:solidFill>
                  <a:srgbClr val="CCFBF1"/>
                </a:solidFill>
                <a:latin typeface="Calibri"/>
                <a:ea typeface="Calibri"/>
                <a:cs typeface="Calibri"/>
                <a:sym typeface="Calibri"/>
              </a:rPr>
              <a:t>DevOps</a:t>
            </a:r>
            <a:endParaRPr b="0" i="0" sz="1600" u="none" cap="none" strike="noStrike">
              <a:solidFill>
                <a:schemeClr val="dk1"/>
              </a:solidFill>
              <a:latin typeface="Calibri"/>
              <a:ea typeface="Calibri"/>
              <a:cs typeface="Calibri"/>
              <a:sym typeface="Calibri"/>
            </a:endParaRPr>
          </a:p>
        </p:txBody>
      </p:sp>
      <p:sp>
        <p:nvSpPr>
          <p:cNvPr id="454" name="Google Shape;454;p23"/>
          <p:cNvSpPr/>
          <p:nvPr/>
        </p:nvSpPr>
        <p:spPr>
          <a:xfrm>
            <a:off x="4846320" y="3429000"/>
            <a:ext cx="384048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Docker, reverse proxy Caddy, déploiement réel en production</a:t>
            </a:r>
            <a:endParaRPr b="0" i="0" sz="1300" u="none" cap="none" strike="noStrike">
              <a:solidFill>
                <a:schemeClr val="dk1"/>
              </a:solidFill>
              <a:latin typeface="Calibri"/>
              <a:ea typeface="Calibri"/>
              <a:cs typeface="Calibri"/>
              <a:sym typeface="Calibri"/>
            </a:endParaRPr>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4E4A"/>
        </a:solidFill>
      </p:bgPr>
    </p:bg>
    <p:spTree>
      <p:nvGrpSpPr>
        <p:cNvPr id="459" name="Shape 459"/>
        <p:cNvGrpSpPr/>
        <p:nvPr/>
      </p:nvGrpSpPr>
      <p:grpSpPr>
        <a:xfrm>
          <a:off x="0" y="0"/>
          <a:ext cx="0" cy="0"/>
          <a:chOff x="0" y="0"/>
          <a:chExt cx="0" cy="0"/>
        </a:xfrm>
      </p:grpSpPr>
      <p:sp>
        <p:nvSpPr>
          <p:cNvPr id="460" name="Google Shape;460;p24"/>
          <p:cNvSpPr/>
          <p:nvPr/>
        </p:nvSpPr>
        <p:spPr>
          <a:xfrm>
            <a:off x="0" y="0"/>
            <a:ext cx="256032" cy="5143500"/>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4"/>
          <p:cNvSpPr/>
          <p:nvPr/>
        </p:nvSpPr>
        <p:spPr>
          <a:xfrm>
            <a:off x="0" y="5001768"/>
            <a:ext cx="9144000" cy="141732"/>
          </a:xfrm>
          <a:prstGeom prst="rect">
            <a:avLst/>
          </a:prstGeom>
          <a:solidFill>
            <a:srgbClr val="0F766E"/>
          </a:solidFill>
          <a:ln cap="flat" cmpd="sng" w="12700">
            <a:solidFill>
              <a:srgbClr val="0F766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4"/>
          <p:cNvSpPr/>
          <p:nvPr/>
        </p:nvSpPr>
        <p:spPr>
          <a:xfrm>
            <a:off x="548640" y="1005840"/>
            <a:ext cx="8321040" cy="10972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400"/>
              <a:buFont typeface="Calibri"/>
              <a:buNone/>
            </a:pPr>
            <a:r>
              <a:rPr b="1" i="0" lang="en-US" sz="6400" u="none" cap="none" strike="noStrike">
                <a:solidFill>
                  <a:srgbClr val="FFFFFF"/>
                </a:solidFill>
                <a:latin typeface="Calibri"/>
                <a:ea typeface="Calibri"/>
                <a:cs typeface="Calibri"/>
                <a:sym typeface="Calibri"/>
              </a:rPr>
              <a:t>Merci</a:t>
            </a:r>
            <a:endParaRPr b="0" i="0" sz="6400" u="none" cap="none" strike="noStrike">
              <a:solidFill>
                <a:schemeClr val="dk1"/>
              </a:solidFill>
              <a:latin typeface="Calibri"/>
              <a:ea typeface="Calibri"/>
              <a:cs typeface="Calibri"/>
              <a:sym typeface="Calibri"/>
            </a:endParaRPr>
          </a:p>
        </p:txBody>
      </p:sp>
      <p:sp>
        <p:nvSpPr>
          <p:cNvPr id="463" name="Google Shape;463;p24"/>
          <p:cNvSpPr/>
          <p:nvPr/>
        </p:nvSpPr>
        <p:spPr>
          <a:xfrm>
            <a:off x="548640" y="2194560"/>
            <a:ext cx="832104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2600"/>
              <a:buFont typeface="Calibri"/>
              <a:buNone/>
            </a:pPr>
            <a:r>
              <a:rPr b="0" i="0" lang="en-US" sz="2600" u="none" cap="none" strike="noStrike">
                <a:solidFill>
                  <a:srgbClr val="CCFBF1"/>
                </a:solidFill>
                <a:latin typeface="Calibri"/>
                <a:ea typeface="Calibri"/>
                <a:cs typeface="Calibri"/>
                <a:sym typeface="Calibri"/>
              </a:rPr>
              <a:t>Questions ?</a:t>
            </a:r>
            <a:endParaRPr b="0" i="0" sz="2600" u="none" cap="none" strike="noStrike">
              <a:solidFill>
                <a:schemeClr val="dk1"/>
              </a:solidFill>
              <a:latin typeface="Calibri"/>
              <a:ea typeface="Calibri"/>
              <a:cs typeface="Calibri"/>
              <a:sym typeface="Calibri"/>
            </a:endParaRPr>
          </a:p>
        </p:txBody>
      </p:sp>
      <p:sp>
        <p:nvSpPr>
          <p:cNvPr id="464" name="Google Shape;464;p24"/>
          <p:cNvSpPr/>
          <p:nvPr/>
        </p:nvSpPr>
        <p:spPr>
          <a:xfrm>
            <a:off x="2926080" y="2926080"/>
            <a:ext cx="3291840" cy="36576"/>
          </a:xfrm>
          <a:prstGeom prst="rect">
            <a:avLst/>
          </a:prstGeom>
          <a:solidFill>
            <a:srgbClr val="14B8A6"/>
          </a:solidFill>
          <a:ln cap="flat" cmpd="sng" w="12700">
            <a:solidFill>
              <a:srgbClr val="14B8A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548640" y="3090672"/>
            <a:ext cx="832104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SAE BUT3 Informatique — S6 — Mr FAYE &amp; Mme AZZAG</a:t>
            </a:r>
            <a:endParaRPr b="0" i="0" sz="1300" u="none" cap="none" strike="noStrike">
              <a:solidFill>
                <a:schemeClr val="dk1"/>
              </a:solidFill>
              <a:latin typeface="Calibri"/>
              <a:ea typeface="Calibri"/>
              <a:cs typeface="Calibri"/>
              <a:sym typeface="Calibri"/>
            </a:endParaRPr>
          </a:p>
        </p:txBody>
      </p:sp>
      <p:sp>
        <p:nvSpPr>
          <p:cNvPr id="466" name="Google Shape;466;p24"/>
          <p:cNvSpPr/>
          <p:nvPr/>
        </p:nvSpPr>
        <p:spPr>
          <a:xfrm>
            <a:off x="548640" y="3493008"/>
            <a:ext cx="83210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CFBF1"/>
              </a:buClr>
              <a:buSzPts val="1500"/>
              <a:buFont typeface="Calibri"/>
              <a:buNone/>
            </a:pPr>
            <a:r>
              <a:rPr b="1" i="0" lang="en-US" sz="1500" u="none" cap="none" strike="noStrike">
                <a:solidFill>
                  <a:srgbClr val="CCFBF1"/>
                </a:solidFill>
                <a:latin typeface="Calibri"/>
                <a:ea typeface="Calibri"/>
                <a:cs typeface="Calibri"/>
                <a:sym typeface="Calibri"/>
              </a:rPr>
              <a:t>Yousra  ·  Imane  ·  Yannis  ·  Grace</a:t>
            </a:r>
            <a:endParaRPr b="0" i="0" sz="1500" u="none" cap="none" strike="noStrike">
              <a:solidFill>
                <a:schemeClr val="dk1"/>
              </a:solidFill>
              <a:latin typeface="Calibri"/>
              <a:ea typeface="Calibri"/>
              <a:cs typeface="Calibri"/>
              <a:sym typeface="Calibri"/>
            </a:endParaRPr>
          </a:p>
        </p:txBody>
      </p:sp>
      <p:sp>
        <p:nvSpPr>
          <p:cNvPr id="467" name="Google Shape;467;p24"/>
          <p:cNvSpPr/>
          <p:nvPr/>
        </p:nvSpPr>
        <p:spPr>
          <a:xfrm>
            <a:off x="548640" y="4005072"/>
            <a:ext cx="8321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4B8A6"/>
              </a:buClr>
              <a:buSzPts val="1200"/>
              <a:buFont typeface="Calibri"/>
              <a:buNone/>
            </a:pPr>
            <a:r>
              <a:rPr b="0" i="0" lang="en-US" sz="1200" u="none" cap="none" strike="noStrike">
                <a:solidFill>
                  <a:srgbClr val="14B8A6"/>
                </a:solidFill>
                <a:latin typeface="Calibri"/>
                <a:ea typeface="Calibri"/>
                <a:cs typeface="Calibri"/>
                <a:sym typeface="Calibri"/>
              </a:rPr>
              <a:t>https://sae.amanawebagency.com</a:t>
            </a:r>
            <a:endParaRPr b="0" i="0" sz="1200" u="none" cap="none" strike="noStrike">
              <a:solidFill>
                <a:schemeClr val="dk1"/>
              </a:solidFill>
              <a:latin typeface="Calibri"/>
              <a:ea typeface="Calibri"/>
              <a:cs typeface="Calibri"/>
              <a:sym typeface="Calibri"/>
            </a:endParaRPr>
          </a:p>
        </p:txBody>
      </p:sp>
      <p:pic>
        <p:nvPicPr>
          <p:cNvPr id="468" name="Picture 467" descr="qr-mediguide.png"/>
          <p:cNvPicPr>
            <a:picLocks noChangeAspect="1"/>
          </p:cNvPicPr>
          <p:nvPr/>
        </p:nvPicPr>
        <p:blipFill>
          <a:blip r:embed="rId3"/>
          <a:stretch>
            <a:fillRect/>
          </a:stretch>
        </p:blipFill>
        <p:spPr>
          <a:xfrm>
            <a:off x="6766560" y="2926080"/>
            <a:ext cx="1737360" cy="1737360"/>
          </a:xfrm>
          <a:prstGeom prst="rect">
            <a:avLst/>
          </a:prstGeom>
        </p:spPr>
      </p:pic>
      <p:sp>
        <p:nvSpPr>
          <p:cNvPr id="469" name="TextBox 468"/>
          <p:cNvSpPr txBox="1"/>
          <p:nvPr/>
        </p:nvSpPr>
        <p:spPr>
          <a:xfrm>
            <a:off x="6766560" y="4754880"/>
            <a:ext cx="1737360" cy="274320"/>
          </a:xfrm>
          <a:prstGeom prst="rect">
            <a:avLst/>
          </a:prstGeom>
          <a:noFill/>
        </p:spPr>
        <p:txBody>
          <a:bodyPr wrap="none">
            <a:spAutoFit/>
          </a:bodyPr>
          <a:lstStyle/>
          <a:p>
            <a:pPr algn="ctr"/>
            <a:r>
              <a:rPr sz="1000">
                <a:solidFill>
                  <a:srgbClr val="CCFBF1"/>
                </a:solidFill>
                <a:latin typeface="Inter"/>
              </a:rPr>
              <a:t>Scan → MediGuide</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TextBox 1"/>
          <p:cNvSpPr txBox="1"/>
          <p:nvPr/>
        </p:nvSpPr>
        <p:spPr>
          <a:xfrm>
            <a:off x="548640" y="457200"/>
            <a:ext cx="8229600" cy="1097280"/>
          </a:xfrm>
          <a:prstGeom prst="rect">
            <a:avLst/>
          </a:prstGeom>
          <a:noFill/>
        </p:spPr>
        <p:txBody>
          <a:bodyPr wrap="square">
            <a:spAutoFit/>
          </a:bodyPr>
          <a:lstStyle/>
          <a:p>
            <a:pPr algn="l"/>
            <a:r>
              <a:rPr sz="4000" b="1">
                <a:solidFill>
                  <a:srgbClr val="FFFFFF"/>
                </a:solidFill>
                <a:latin typeface="Inter"/>
              </a:rPr>
              <a:t>Sommaire</a:t>
            </a:r>
          </a:p>
          <a:p>
            <a:pPr algn="l"/>
            <a:r>
              <a:rPr sz="1400">
                <a:solidFill>
                  <a:srgbClr val="CCFBF1"/>
                </a:solidFill>
                <a:latin typeface="Inter"/>
              </a:rPr>
              <a:t>Chatbot médical RAG · 15 minutes · 4 intervenants</a:t>
            </a:r>
          </a:p>
        </p:txBody>
      </p:sp>
      <p:sp>
        <p:nvSpPr>
          <p:cNvPr id="3" name="TextBox 2"/>
          <p:cNvSpPr txBox="1"/>
          <p:nvPr/>
        </p:nvSpPr>
        <p:spPr>
          <a:xfrm>
            <a:off x="548640" y="2011680"/>
            <a:ext cx="822960" cy="594360"/>
          </a:xfrm>
          <a:prstGeom prst="rect">
            <a:avLst/>
          </a:prstGeom>
          <a:noFill/>
        </p:spPr>
        <p:txBody>
          <a:bodyPr wrap="none" lIns="25400" rIns="25400" tIns="25400" bIns="25400">
            <a:spAutoFit/>
          </a:bodyPr>
          <a:lstStyle/>
          <a:p>
            <a:pPr algn="l"/>
            <a:r>
              <a:rPr sz="2800" b="1">
                <a:solidFill>
                  <a:srgbClr val="14B8A6"/>
                </a:solidFill>
                <a:latin typeface="Consolas"/>
              </a:rPr>
              <a:t>01</a:t>
            </a:r>
          </a:p>
        </p:txBody>
      </p:sp>
      <p:sp>
        <p:nvSpPr>
          <p:cNvPr id="4" name="TextBox 3"/>
          <p:cNvSpPr txBox="1"/>
          <p:nvPr/>
        </p:nvSpPr>
        <p:spPr>
          <a:xfrm>
            <a:off x="1554480" y="2011680"/>
            <a:ext cx="7040880" cy="640080"/>
          </a:xfrm>
          <a:prstGeom prst="rect">
            <a:avLst/>
          </a:prstGeom>
          <a:noFill/>
        </p:spPr>
        <p:txBody>
          <a:bodyPr wrap="none" lIns="25400" rIns="25400" tIns="25400" bIns="25400">
            <a:spAutoFit/>
          </a:bodyPr>
          <a:lstStyle/>
          <a:p>
            <a:pPr algn="l"/>
            <a:r>
              <a:rPr sz="1800" b="1">
                <a:solidFill>
                  <a:srgbClr val="FFFFFF"/>
                </a:solidFill>
                <a:latin typeface="Inter"/>
              </a:rPr>
              <a:t>Contexte &amp; Architecture</a:t>
            </a:r>
          </a:p>
          <a:p>
            <a:pPr algn="l"/>
            <a:r>
              <a:rPr sz="1100">
                <a:solidFill>
                  <a:srgbClr val="5EEAD4"/>
                </a:solidFill>
                <a:latin typeface="Inter"/>
              </a:rPr>
              <a:t>Grace · slides 2 à 5</a:t>
            </a:r>
          </a:p>
        </p:txBody>
      </p:sp>
      <p:sp>
        <p:nvSpPr>
          <p:cNvPr id="5" name="TextBox 4"/>
          <p:cNvSpPr txBox="1"/>
          <p:nvPr/>
        </p:nvSpPr>
        <p:spPr>
          <a:xfrm>
            <a:off x="548640" y="2788920"/>
            <a:ext cx="822960" cy="594360"/>
          </a:xfrm>
          <a:prstGeom prst="rect">
            <a:avLst/>
          </a:prstGeom>
          <a:noFill/>
        </p:spPr>
        <p:txBody>
          <a:bodyPr wrap="none" lIns="25400" rIns="25400" tIns="25400" bIns="25400">
            <a:spAutoFit/>
          </a:bodyPr>
          <a:lstStyle/>
          <a:p>
            <a:pPr algn="l"/>
            <a:r>
              <a:rPr sz="2800" b="1">
                <a:solidFill>
                  <a:srgbClr val="14B8A6"/>
                </a:solidFill>
                <a:latin typeface="Consolas"/>
              </a:rPr>
              <a:t>02</a:t>
            </a:r>
          </a:p>
        </p:txBody>
      </p:sp>
      <p:sp>
        <p:nvSpPr>
          <p:cNvPr id="6" name="TextBox 5"/>
          <p:cNvSpPr txBox="1"/>
          <p:nvPr/>
        </p:nvSpPr>
        <p:spPr>
          <a:xfrm>
            <a:off x="1554480" y="2788920"/>
            <a:ext cx="7040880" cy="640080"/>
          </a:xfrm>
          <a:prstGeom prst="rect">
            <a:avLst/>
          </a:prstGeom>
          <a:noFill/>
        </p:spPr>
        <p:txBody>
          <a:bodyPr wrap="none" lIns="25400" rIns="25400" tIns="25400" bIns="25400">
            <a:spAutoFit/>
          </a:bodyPr>
          <a:lstStyle/>
          <a:p>
            <a:pPr algn="l"/>
            <a:r>
              <a:rPr sz="1800" b="1">
                <a:solidFill>
                  <a:srgbClr val="FFFFFF"/>
                </a:solidFill>
                <a:latin typeface="Inter"/>
              </a:rPr>
              <a:t>Traitement des PDFs &amp; Pipeline RAG</a:t>
            </a:r>
          </a:p>
          <a:p>
            <a:pPr algn="l"/>
            <a:r>
              <a:rPr sz="1100">
                <a:solidFill>
                  <a:srgbClr val="5EEAD4"/>
                </a:solidFill>
                <a:latin typeface="Inter"/>
              </a:rPr>
              <a:t>Yousra · slides 8 à 12</a:t>
            </a:r>
          </a:p>
        </p:txBody>
      </p:sp>
      <p:sp>
        <p:nvSpPr>
          <p:cNvPr id="7" name="TextBox 6"/>
          <p:cNvSpPr txBox="1"/>
          <p:nvPr/>
        </p:nvSpPr>
        <p:spPr>
          <a:xfrm>
            <a:off x="548640" y="3566160"/>
            <a:ext cx="822960" cy="594360"/>
          </a:xfrm>
          <a:prstGeom prst="rect">
            <a:avLst/>
          </a:prstGeom>
          <a:noFill/>
        </p:spPr>
        <p:txBody>
          <a:bodyPr wrap="none" lIns="25400" rIns="25400" tIns="25400" bIns="25400">
            <a:spAutoFit/>
          </a:bodyPr>
          <a:lstStyle/>
          <a:p>
            <a:pPr algn="l"/>
            <a:r>
              <a:rPr sz="2800" b="1">
                <a:solidFill>
                  <a:srgbClr val="14B8A6"/>
                </a:solidFill>
                <a:latin typeface="Consolas"/>
              </a:rPr>
              <a:t>03</a:t>
            </a:r>
          </a:p>
        </p:txBody>
      </p:sp>
      <p:sp>
        <p:nvSpPr>
          <p:cNvPr id="8" name="TextBox 7"/>
          <p:cNvSpPr txBox="1"/>
          <p:nvPr/>
        </p:nvSpPr>
        <p:spPr>
          <a:xfrm>
            <a:off x="1554480" y="3566160"/>
            <a:ext cx="7040880" cy="640080"/>
          </a:xfrm>
          <a:prstGeom prst="rect">
            <a:avLst/>
          </a:prstGeom>
          <a:noFill/>
        </p:spPr>
        <p:txBody>
          <a:bodyPr wrap="none" lIns="25400" rIns="25400" tIns="25400" bIns="25400">
            <a:spAutoFit/>
          </a:bodyPr>
          <a:lstStyle/>
          <a:p>
            <a:pPr algn="l"/>
            <a:r>
              <a:rPr sz="1800" b="1">
                <a:solidFill>
                  <a:srgbClr val="FFFFFF"/>
                </a:solidFill>
                <a:latin typeface="Inter"/>
              </a:rPr>
              <a:t>Comparaison encodeurs &amp; Bonus DuckDuckGo</a:t>
            </a:r>
          </a:p>
          <a:p>
            <a:pPr algn="l"/>
            <a:r>
              <a:rPr sz="1100">
                <a:solidFill>
                  <a:srgbClr val="5EEAD4"/>
                </a:solidFill>
                <a:latin typeface="Inter"/>
              </a:rPr>
              <a:t>Imane · slides 14 à 17</a:t>
            </a:r>
          </a:p>
        </p:txBody>
      </p:sp>
      <p:sp>
        <p:nvSpPr>
          <p:cNvPr id="9" name="TextBox 8"/>
          <p:cNvSpPr txBox="1"/>
          <p:nvPr/>
        </p:nvSpPr>
        <p:spPr>
          <a:xfrm>
            <a:off x="548640" y="4343400"/>
            <a:ext cx="822960" cy="594360"/>
          </a:xfrm>
          <a:prstGeom prst="rect">
            <a:avLst/>
          </a:prstGeom>
          <a:noFill/>
        </p:spPr>
        <p:txBody>
          <a:bodyPr wrap="none" lIns="25400" rIns="25400" tIns="25400" bIns="25400">
            <a:spAutoFit/>
          </a:bodyPr>
          <a:lstStyle/>
          <a:p>
            <a:pPr algn="l"/>
            <a:r>
              <a:rPr sz="2800" b="1">
                <a:solidFill>
                  <a:srgbClr val="14B8A6"/>
                </a:solidFill>
                <a:latin typeface="Consolas"/>
              </a:rPr>
              <a:t>04</a:t>
            </a:r>
          </a:p>
        </p:txBody>
      </p:sp>
      <p:sp>
        <p:nvSpPr>
          <p:cNvPr id="10" name="TextBox 9"/>
          <p:cNvSpPr txBox="1"/>
          <p:nvPr/>
        </p:nvSpPr>
        <p:spPr>
          <a:xfrm>
            <a:off x="1554480" y="4343400"/>
            <a:ext cx="7040880" cy="640080"/>
          </a:xfrm>
          <a:prstGeom prst="rect">
            <a:avLst/>
          </a:prstGeom>
          <a:noFill/>
        </p:spPr>
        <p:txBody>
          <a:bodyPr wrap="none" lIns="25400" rIns="25400" tIns="25400" bIns="25400">
            <a:spAutoFit/>
          </a:bodyPr>
          <a:lstStyle/>
          <a:p>
            <a:pPr algn="l"/>
            <a:r>
              <a:rPr sz="1800" b="1">
                <a:solidFill>
                  <a:srgbClr val="FFFFFF"/>
                </a:solidFill>
                <a:latin typeface="Inter"/>
              </a:rPr>
              <a:t>Hermes, Déploiement &amp; Démo</a:t>
            </a:r>
          </a:p>
          <a:p>
            <a:pPr algn="l"/>
            <a:r>
              <a:rPr sz="1100">
                <a:solidFill>
                  <a:srgbClr val="5EEAD4"/>
                </a:solidFill>
                <a:latin typeface="Inter"/>
              </a:rPr>
              <a:t>Yannis · slides 19 à 26</a:t>
            </a:r>
          </a:p>
        </p:txBody>
      </p:sp>
      <p:sp>
        <p:nvSpPr>
          <p:cNvPr id="11" name="TextBox 10"/>
          <p:cNvSpPr txBox="1"/>
          <p:nvPr/>
        </p:nvSpPr>
        <p:spPr>
          <a:xfrm>
            <a:off x="548640" y="5120640"/>
            <a:ext cx="822960" cy="594360"/>
          </a:xfrm>
          <a:prstGeom prst="rect">
            <a:avLst/>
          </a:prstGeom>
          <a:noFill/>
        </p:spPr>
        <p:txBody>
          <a:bodyPr wrap="none" lIns="25400" rIns="25400" tIns="25400" bIns="25400">
            <a:spAutoFit/>
          </a:bodyPr>
          <a:lstStyle/>
          <a:p>
            <a:pPr algn="l"/>
            <a:r>
              <a:rPr sz="2800" b="1">
                <a:solidFill>
                  <a:srgbClr val="14B8A6"/>
                </a:solidFill>
                <a:latin typeface="Consolas"/>
              </a:rPr>
              <a:t>05</a:t>
            </a:r>
          </a:p>
        </p:txBody>
      </p:sp>
      <p:sp>
        <p:nvSpPr>
          <p:cNvPr id="12" name="TextBox 11"/>
          <p:cNvSpPr txBox="1"/>
          <p:nvPr/>
        </p:nvSpPr>
        <p:spPr>
          <a:xfrm>
            <a:off x="1554480" y="5120640"/>
            <a:ext cx="7040880" cy="640080"/>
          </a:xfrm>
          <a:prstGeom prst="rect">
            <a:avLst/>
          </a:prstGeom>
          <a:noFill/>
        </p:spPr>
        <p:txBody>
          <a:bodyPr wrap="none" lIns="25400" rIns="25400" tIns="25400" bIns="25400">
            <a:spAutoFit/>
          </a:bodyPr>
          <a:lstStyle/>
          <a:p>
            <a:pPr algn="l"/>
            <a:r>
              <a:rPr sz="1800" b="1">
                <a:solidFill>
                  <a:srgbClr val="FFFFFF"/>
                </a:solidFill>
                <a:latin typeface="Inter"/>
              </a:rPr>
              <a:t>Conclusion &amp; Questions</a:t>
            </a:r>
          </a:p>
          <a:p>
            <a:pPr algn="l"/>
            <a:r>
              <a:rPr sz="1100">
                <a:solidFill>
                  <a:srgbClr val="5EEAD4"/>
                </a:solidFill>
                <a:latin typeface="Inter"/>
              </a:rPr>
              <a:t>Tous · slide 28</a:t>
            </a:r>
          </a:p>
        </p:txBody>
      </p:sp>
      <p:sp>
        <p:nvSpPr>
          <p:cNvPr id="13" name="TextBox 12"/>
          <p:cNvSpPr txBox="1"/>
          <p:nvPr/>
        </p:nvSpPr>
        <p:spPr>
          <a:xfrm>
            <a:off x="548640" y="6400800"/>
            <a:ext cx="8229600" cy="365760"/>
          </a:xfrm>
          <a:prstGeom prst="rect">
            <a:avLst/>
          </a:prstGeom>
          <a:noFill/>
        </p:spPr>
        <p:txBody>
          <a:bodyPr wrap="none">
            <a:spAutoFit/>
          </a:bodyPr>
          <a:lstStyle/>
          <a:p>
            <a:pPr algn="l"/>
            <a:r>
              <a:rPr sz="1000">
                <a:solidFill>
                  <a:srgbClr val="CCFBF1"/>
                </a:solidFill>
                <a:latin typeface="Inter"/>
              </a:rPr>
              <a:t>Yousra · Imane · Yannis · Grace   ─   sae.amanawebagency.com</a:t>
            </a: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2026-06-25T11:16:57Z</dcterms:created>
  <dc:creator>PptxGenJS</dc:creator>
</cp:coreProperties>
</file>