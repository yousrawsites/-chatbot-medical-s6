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83" r:id="rId34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2" r:id="rId33"/>
    <p:sldId id="275" r:id="rId25"/>
    <p:sldId id="276" r:id="rId26"/>
    <p:sldId id="280" r:id="rId31"/>
    <p:sldId id="277" r:id="rId27"/>
    <p:sldId id="281" r:id="rId32"/>
    <p:sldId id="278" r:id="rId28"/>
    <p:sldId id="279" r:id="rId2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WGgtSC9NeiEYFQuz/eybezvd5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374D3B-CAC8-4FC6-B79D-81F7425B36E4}">
  <a:tblStyle styleId="{C3374D3B-CAC8-4FC6-B79D-81F7425B3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customschemas.google.com/relationships/presentationmetadata" Target="metadata"/><Relationship Id="rId31" Type="http://schemas.openxmlformats.org/officeDocument/2006/relationships/slide" Target="slides/slide24.xml"/><Relationship Id="rId32" Type="http://schemas.openxmlformats.org/officeDocument/2006/relationships/slide" Target="slides/slide26.xml"/><Relationship Id="rId33" Type="http://schemas.openxmlformats.org/officeDocument/2006/relationships/slide" Target="slides/slide21.xml"/><Relationship Id="rId34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· Intro  ·  slide 1/28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Bonjour à tous. Nous c'est Yousra, Imane, Yannis et Grace.</a:t>
            </a:r>
          </a:p>
          <a:p>
            <a:r>
              <a:t>On va vous présenter notre projet de SAE : un chatbot médical basé sur une approche RAG.</a:t>
            </a:r>
          </a:p>
          <a:p>
            <a:r>
              <a:t>On a 15 minutes pour vous présenter ça, et après on répondra à vos questions.</a:t>
            </a:r>
          </a:p>
          <a:p>
            <a:r>
              <a:t>Tout est déployé en prod, vous pouvez le tester sur sae.amanawebagency.com ou flasher le QR code à la fin.</a:t>
            </a:r>
          </a:p>
          <a:p/>
          <a:p>
            <a:r>
              <a:t>────  🎙  PASSE LA PAROLE À : GRACE  ────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3/28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: « Partie 1 — Contexte &amp; Architecture ». Je laisse 5 secondes au jury pour lire avant de commencer.</a:t>
            </a:r>
          </a:p>
        </p:txBody>
      </p:sp>
      <p:sp>
        <p:nvSpPr>
          <p:cNvPr id="27" name="Google Shape;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4/28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Avant de rentrer dans la technique, je vais vous expliquer le besoin.</a:t>
            </a:r>
          </a:p>
          <a:p>
            <a:r>
              <a:t>L'idée c'est qu'un patient veut une info médicale fiable et rapide.</a:t>
            </a:r>
          </a:p>
          <a:p>
            <a:r>
              <a:t>Le problème, c'est qu'un LLM tout seul peut halluciner — il invente parfois des trucs faux.</a:t>
            </a:r>
          </a:p>
          <a:p>
            <a:r>
              <a:t>Donc on voulait un chatbot qui réponde uniquement à partir de sources officielles HAS et INCa.</a:t>
            </a:r>
          </a:p>
          <a:p>
            <a:r>
              <a:t>Et important : c'est informatif, on fait pas de diagnostic. C'est un choix qu'on assume.</a:t>
            </a:r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5/28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Petite parenthèse pour répondre à une question qui revient souvent.</a:t>
            </a:r>
          </a:p>
          <a:p>
            <a:r>
              <a:t>La SAE ne demande pas de créer un LLM from scratch.</a:t>
            </a:r>
          </a:p>
          <a:p>
            <a:r>
              <a:t>L'analogie c'est qu'on réinvente pas le moteur d'une voiture, on construit le châssis autour.</a:t>
            </a:r>
          </a:p>
          <a:p>
            <a:r>
              <a:t>Le vrai boulot c'est : le pipeline RAG, l'orchestration backend, le prompt engineering, la comparaison de modèles. C'est ça la SAE.</a:t>
            </a:r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6/28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Voilà le récap de notre stack.</a:t>
            </a:r>
          </a:p>
          <a:p>
            <a:r>
              <a:t>Frontend en Streamlit, backend FastAPI avec SQLAlchemy, auth JWT.</a:t>
            </a:r>
          </a:p>
          <a:p>
            <a:r>
              <a:t>Pour le RAG on a LangChain comme imposé dans le sujet, et ChromaDB comme base vectorielle.</a:t>
            </a:r>
          </a:p>
          <a:p>
            <a:r>
              <a:t>Embeddings avec all-MiniLM-L6-v2 qu'on a comparé à 2 autres.</a:t>
            </a:r>
          </a:p>
          <a:p>
            <a:r>
              <a:t>Côté LLM : Gemini 2.5 Flash en prod, Mistral via OpenRouter en dev, avec un fallback.</a:t>
            </a:r>
          </a:p>
          <a:p>
            <a:r>
              <a:t>On a aussi DuckDuckGo en bonus, et SQLite pour les sessions.</a:t>
            </a: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7/28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voilà l'archi générale.</a:t>
            </a:r>
          </a:p>
          <a:p>
            <a:r>
              <a:t>Le patient écrit dans Streamlit, ça part vers FastAPI qui gère l'auth et les sessions.</a:t>
            </a:r>
          </a:p>
          <a:p>
            <a:r>
              <a:t>Le pipeline RAG va chercher dans ChromaDB qui a indexé tous nos PDFs HAS et INCa.</a:t>
            </a:r>
          </a:p>
          <a:p>
            <a:r>
              <a:t>Si le score est mauvais, on bascule sur DuckDuckGo en filet de sécurité — premier bonus.</a:t>
            </a:r>
          </a:p>
          <a:p>
            <a:r>
              <a:t>Le prompt assemblé part au LLM qui renvoie la réponse.</a:t>
            </a:r>
          </a:p>
          <a:p>
            <a:r>
              <a:t>Et après, Hermes peut prendre le relais pour orienter vers un spécialiste — deuxième bonus.</a:t>
            </a:r>
          </a:p>
          <a:p>
            <a:r>
              <a:t>À noter : l'API n'est jamais exposée publiquement, tout passe par le réseau interne Docker.</a:t>
            </a:r>
          </a:p>
          <a:p/>
          <a:p>
            <a:r>
              <a:t>────  🎙  PASSE LA PAROLE À : YOUSRA  ────</a:t>
            </a:r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8/28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« Partie 2 — Traitement des PDFs &amp; Pipeline RAG ».</a:t>
            </a:r>
          </a:p>
        </p:txBody>
      </p:sp>
      <p:sp>
        <p:nvSpPr>
          <p:cNvPr id="116" name="Google Shape;11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9/28  ·  ~50s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Donc moi je prends la suite pour vous expliquer comment on traite les PDFs.</a:t>
            </a:r>
          </a:p>
          <a:p>
            <a:r>
              <a:t>On a 5 PDFs officiels qui couvrent 3 maladies : diabète, Alzheimer et cancer du poumon, sourcés HAS et INCa.</a:t>
            </a:r>
          </a:p>
          <a:p>
            <a:r>
              <a:t>PyPDFLoader lit page par page. Ensuite on découpe avec RecursiveCharacterTextSplitter en morceaux de 500 caractères avec un chevauchement de 50.</a:t>
            </a:r>
          </a:p>
          <a:p>
            <a:r>
              <a:t>Chaque morceau passe par MiniLM qui le transforme en vecteur de 384 nombres.</a:t>
            </a:r>
          </a:p>
          <a:p>
            <a:r>
              <a:t>Et on stocke le tout dans ChromaDB. Au total ça fait 971 chunks indexés.</a:t>
            </a:r>
          </a:p>
          <a:p>
            <a:r>
              <a:t>Important : cette étape se fait une seule fois, au démarrage. Pas à chaque requête.</a:t>
            </a:r>
          </a:p>
        </p:txBody>
      </p:sp>
      <p:sp>
        <p:nvSpPr>
          <p:cNvPr id="127" name="Google Shape;1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10/28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Alors pourquoi 50 caractères de chevauchement ?</a:t>
            </a:r>
          </a:p>
          <a:p>
            <a:r>
              <a:t>Sans chevauchement, une phrase clé peut être coupée en deux entre 2 chunks. Par exemple « repose sur la metfor » / « mine en première intention » — la phrase complète est perdue.</a:t>
            </a:r>
          </a:p>
          <a:p>
            <a:r>
              <a:t>Avec 50 caractères de recouvrement, le chunk suivant recule un peu avant de repartir. La phrase « repose sur la metformine » se retrouve intacte dans au moins un chunk.</a:t>
            </a:r>
          </a:p>
          <a:p>
            <a:r>
              <a:t>Petit détail mais ça change la qualité du retrieval.</a:t>
            </a:r>
          </a:p>
        </p:txBody>
      </p:sp>
      <p:sp>
        <p:nvSpPr>
          <p:cNvPr id="159" name="Google Shape;15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11/28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MiniLM dans tout ça, c'est quoi son rôle exactement ?</a:t>
            </a:r>
          </a:p>
          <a:p>
            <a:r>
              <a:t>C'est un modèle d'embeddings qui transforme n'importe quel texte en un vecteur de 384 nombres. Ce vecteur capture le SENS du texte, pas juste les mots.</a:t>
            </a:r>
          </a:p>
          <a:p>
            <a:r>
              <a:t>500 c'est la taille du chunk en caractères. 384 c'est la taille du vecteur, fixe peu importe la longueur du texte.</a:t>
            </a:r>
          </a:p>
          <a:p>
            <a:r>
              <a:t>Exemple : « fièvre » et « température élevée » donnent des vecteurs proches, parce que sémantiquement c'est la même idée.</a:t>
            </a:r>
          </a:p>
        </p:txBody>
      </p:sp>
      <p:sp>
        <p:nvSpPr>
          <p:cNvPr id="177" name="Google Shape;1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12/28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maintenant l'étape 2 : comment ça marche quand un patient pose une vraie question.</a:t>
            </a:r>
          </a:p>
          <a:p>
            <a:r>
              <a:t>La question est convertie en vecteur avec le même MiniLM.</a:t>
            </a:r>
          </a:p>
          <a:p>
            <a:r>
              <a:t>ChromaDB cherche les 4 chunks les plus proches sémantiquement. Si le score est mauvais, on bascule sur la recherche web (notre bonus).</a:t>
            </a:r>
          </a:p>
          <a:p>
            <a:r>
              <a:t>Sinon on assemble un prompt avec le contexte des chunks plus l'historique de la conversation.</a:t>
            </a:r>
          </a:p>
          <a:p>
            <a:r>
              <a:t>Et le LLM lit ce prompt et rédige la réponse finale en français.</a:t>
            </a:r>
          </a:p>
        </p:txBody>
      </p:sp>
      <p:sp>
        <p:nvSpPr>
          <p:cNvPr id="200" name="Google Shape;20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13/28  ·  ~40s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Petit point un peu technique sur la similarité. Comment on compare deux vecteurs ?</a:t>
            </a:r>
          </a:p>
          <a:p>
            <a:r>
              <a:t>On utilise la distance L2, la distance euclidienne. Plus le score est BAS, plus c'est pertinent. C'est l'inverse de l'intuition habituelle.</a:t>
            </a:r>
          </a:p>
          <a:p>
            <a:r>
              <a:t>On a fixé RELEVANCE_THRESHOLD à 0.9. Au-dessus, on considère qu'aucun chunk est assez pertinent, et on bascule sur le web pour ne pas répondre à côté.</a:t>
            </a:r>
          </a:p>
          <a:p>
            <a:r>
              <a:t>La distance L2 c'est juste la racine de la somme des carrés des différences sur les 384 dimensions. De la géométrie classique.</a:t>
            </a:r>
          </a:p>
          <a:p/>
          <a:p>
            <a:r>
              <a:t>────  🎙  PASSE LA PAROLE À : IMANE  ────</a:t>
            </a:r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14/28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« Partie 3 — Comparaison encodeurs &amp; Bonus DuckDuckGo ».</a:t>
            </a:r>
          </a:p>
        </p:txBody>
      </p:sp>
      <p:sp>
        <p:nvSpPr>
          <p:cNvPr id="251" name="Google Shape;25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15/28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Donc moi je prends la suite. Comparaison d'encodeurs et bonus DuckDuckGo.</a:t>
            </a:r>
          </a:p>
          <a:p>
            <a:r>
              <a:t>Pourquoi on a comparé plusieurs encodeurs ? Parce que c'est explicitement demandé dans la SAE, et aussi parce que le choix de l'encodeur change vraiment la qualité de la recherche sémantique.</a:t>
            </a:r>
          </a:p>
          <a:p>
            <a:r>
              <a:t>On a testé 3 modèles sur les mêmes 5 PDFs : MiniLM en 384 dimensions, CamemBERT en 768 spécialisé français, et mpnet en 768 multilingue.</a:t>
            </a:r>
          </a:p>
        </p:txBody>
      </p:sp>
      <p:sp>
        <p:nvSpPr>
          <p:cNvPr id="262" name="Google Shape;26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16/28  ·  ~50s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voilà les résultats.</a:t>
            </a:r>
          </a:p>
          <a:p>
            <a:r>
              <a:t>MiniLM est le plus rapide, 71 secondes pour indexer nos 971 chunks. Qualité bonne mais parfois distrait par du bruit (citations bibliographiques).</a:t>
            </a:r>
          </a:p>
          <a:p>
            <a:r>
              <a:t>CamemBERT, entraîné spécifiquement sur du français, capte mieux le sens médical. Mais 4 fois plus lent à indexer.</a:t>
            </a:r>
          </a:p>
          <a:p>
            <a:r>
              <a:t>Mpnet est le plus pertinent des 3 sur nos questions test, aussi long à indexer.</a:t>
            </a:r>
          </a:p>
          <a:p>
            <a:r>
              <a:t>On a choisi MiniLM en prod pour la rapidité. Les deux autres documentés comme alternatives plus précises.</a:t>
            </a:r>
          </a:p>
        </p:txBody>
      </p:sp>
      <p:sp>
        <p:nvSpPr>
          <p:cNvPr id="275" name="Google Shape;27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17/28  ·  ~40s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maintenant le bonus DuckDuckGo.</a:t>
            </a:r>
          </a:p>
          <a:p>
            <a:r>
              <a:t>Quand le RAG ne trouve rien de pertinent (score supérieur à notre seuil), on enrichit la réponse avec une recherche web.</a:t>
            </a:r>
          </a:p>
          <a:p>
            <a:r>
              <a:t>Code tout simple : on appelle DDGS, on récupère les top 3, on injecte titre + extrait + URL dans le prompt.</a:t>
            </a:r>
          </a:p>
          <a:p>
            <a:r>
              <a:t>Le web c'est un FILET DE SÉCURITÉ, jamais une source par défaut. Le LLM badge explicitement quand l'info vient du web — l'utilisateur sait toujours d'où vient la réponse.</a:t>
            </a:r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18/28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Petit bug qu'on a rencontré et corrigé.</a:t>
            </a:r>
          </a:p>
          <a:p>
            <a:r>
              <a:t>Symptôme : un patient tape « j'ai de la fièvre », DuckDuckGo retournait des résultats Reverso et Collins — de la traduction, pas d'info médicale.</a:t>
            </a:r>
          </a:p>
          <a:p>
            <a:r>
              <a:t>La cause : la phrase brute du patient ressemble à une phrase de manuel de langue.</a:t>
            </a:r>
          </a:p>
          <a:p>
            <a:r>
              <a:t>Fix : reformulate_search_query() qui passe d'abord la phrase dans le LLM pour la transformer en requête médicale propre. « j'ai de la fièvre » devient « fievre symptomes causes traitement ».</a:t>
            </a:r>
          </a:p>
          <a:p>
            <a:r>
              <a:t>Petit détail mais ça montre qu'on a vraiment testé et débogué.</a:t>
            </a:r>
          </a:p>
          <a:p/>
          <a:p>
            <a:r>
              <a:t>────  🎙  PASSE LA PAROLE À : YANNIS  ────</a:t>
            </a:r>
          </a:p>
        </p:txBody>
      </p:sp>
      <p:sp>
        <p:nvSpPr>
          <p:cNvPr id="304" name="Google Shape;30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19/28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« Partie 4 — Hermes, Déploiement &amp; Démo ».</a:t>
            </a:r>
          </a:p>
        </p:txBody>
      </p:sp>
      <p:sp>
        <p:nvSpPr>
          <p:cNvPr id="328" name="Google Shape;32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20/28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Donc moi je prends la fin. Hermes, déploiement, et la démo.</a:t>
            </a:r>
          </a:p>
          <a:p>
            <a:r>
              <a:t>Hermes c'est notre deuxième bonus, un orchestrateur multi-agents. Après une réponse du chatbot, le patient peut demander à voir un spécialiste.</a:t>
            </a:r>
          </a:p>
          <a:p>
            <a:r>
              <a:t>On a 3 sous-agents : recommend_specialist qui analyse la conversation, list_available_doctors qui liste les créneaux, et book_appointment qui réserve.</a:t>
            </a:r>
          </a:p>
          <a:p>
            <a:r>
              <a:t>Modèle Hermes 405B via OpenRouter en dev, fallback automatique. En prod : Gemini.</a:t>
            </a:r>
          </a:p>
          <a:p>
            <a:r>
              <a:t>Ce qui rend Hermes intéressant : on va au-delà d'une simple question/réponse, on propose une action concrète après le diagnostic informatif.</a:t>
            </a:r>
          </a:p>
        </p:txBody>
      </p:sp>
      <p:sp>
        <p:nvSpPr>
          <p:cNvPr id="339" name="Google Shape;33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22/28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Côté sécurité, on a fait attention.</a:t>
            </a:r>
          </a:p>
          <a:p>
            <a:r>
              <a:t>Pas de diagnostic : c'est rappelé dans chaque prompt envoyé au LLM.</a:t>
            </a:r>
          </a:p>
          <a:p>
            <a:r>
              <a:t>Traçabilité : chaque réponse a un badge « documents officiels » ou « web », l'utilisateur sait toujours d'où vient l'info.</a:t>
            </a:r>
          </a:p>
          <a:p>
            <a:r>
              <a:t>Limites assumées : périmètre limité à 3 pathologies, quota LLM gratuit ~1000 req/jour. ChromaDB et SQLite sur volume Docker persistant — pas de perte au redéploiement.</a:t>
            </a:r>
          </a:p>
        </p:txBody>
      </p:sp>
      <p:sp>
        <p:nvSpPr>
          <p:cNvPr id="366" name="Google Shape;36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23/28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Déploiement. L'URL : sae.amanawebagency.com.</a:t>
            </a:r>
          </a:p>
          <a:p>
            <a:r>
              <a:t>Caddy en reverse proxy avec HTTPS automatique Let's Encrypt.</a:t>
            </a:r>
          </a:p>
          <a:p>
            <a:r>
              <a:t>Derrière Caddy, 3 containers Docker : nginx pour le site landing à la racine, Streamlit pour le chatbot sur /app/, FastAPI totalement interne au réseau Docker — jamais exposé.</a:t>
            </a:r>
          </a:p>
          <a:p>
            <a:r>
              <a:t>ChromaDB et SQLite sur volume persistant.</a:t>
            </a:r>
          </a:p>
          <a:p>
            <a:r>
              <a:t>C'est de la VRAIE infra de production, pas un tier gratuit jetable. Mutualisé avec les autres services Amana.</a:t>
            </a:r>
          </a:p>
        </p:txBody>
      </p:sp>
      <p:sp>
        <p:nvSpPr>
          <p:cNvPr id="388" name="Google Shape;38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· DÉMO LIVE  ·  slide 25/28  ·  ~90s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Pour la démo, 3 scénarios.</a:t>
            </a:r>
          </a:p>
          <a:p>
            <a:r>
              <a:t>1️⃣ Question dans le périmètre, par exemple sur le diabète. Réponse avec badge « documents officiels ».</a:t>
            </a:r>
          </a:p>
          <a:p>
            <a:r>
              <a:t>2️⃣ Question hors périmètre, genre la grippe. Bascule sur le web, badge « recherche web », sources citées.</a:t>
            </a:r>
          </a:p>
          <a:p>
            <a:r>
              <a:t>3️⃣ Hermes : on clique sur le bouton, il recommande un spécialiste, on prend rendez-vous avec un vrai formulaire détaillé.</a:t>
            </a:r>
          </a:p>
          <a:p/>
          <a:p>
            <a:r>
              <a:t>→ Préparer les 3 questions à l'avance dans un onglet ouvert. Si la connexion flanche, on a un backup en captures dans le rapport.</a:t>
            </a:r>
          </a:p>
        </p:txBody>
      </p:sp>
      <p:sp>
        <p:nvSpPr>
          <p:cNvPr id="411" name="Google Shape;41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 ·  slide 27/28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Bilan des compétences mobilisées.</a:t>
            </a:r>
          </a:p>
          <a:p>
            <a:r>
              <a:t>Full stack : FastAPI + Streamlit + JWT + SQLAlchemy.</a:t>
            </a:r>
          </a:p>
          <a:p>
            <a:r>
              <a:t>IA / LLM : RAG, embeddings, prompt engineering, comparaison de modèles.</a:t>
            </a:r>
          </a:p>
          <a:p>
            <a:r>
              <a:t>Esprit critique : on a réfléchi aux limites du RAG, au seuil de pertinence, à la sécurité, au fait qu'on ne fait pas de diagnostic.</a:t>
            </a:r>
          </a:p>
          <a:p>
            <a:r>
              <a:t>DevOps : Docker, reverse proxy Caddy, déploiement réel en production.</a:t>
            </a:r>
          </a:p>
        </p:txBody>
      </p:sp>
      <p:sp>
        <p:nvSpPr>
          <p:cNvPr id="436" name="Google Shape;436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· Merci  ·  slide 28/28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Voilà, on en a fini. Merci pour votre attention.</a:t>
            </a:r>
          </a:p>
          <a:p>
            <a:r>
              <a:t>On reste dispo pour toutes vos questions, chacun sur sa partie.</a:t>
            </a:r>
          </a:p>
          <a:p>
            <a:r>
              <a:t>Si vous voulez tester l'appli vous-même, l'URL est là, sae.amanawebagency.com, ou scannez le QR code à droite.</a:t>
            </a:r>
          </a:p>
          <a:p>
            <a:r>
              <a:t>Notre dépôt GitHub est aussi disponible.</a:t>
            </a:r>
          </a:p>
        </p:txBody>
      </p:sp>
      <p:sp>
        <p:nvSpPr>
          <p:cNvPr id="458" name="Google Shape;45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21/28  ·  ~40s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Bonus du bonus : Hermes côté praticien aussi.</a:t>
            </a:r>
          </a:p>
          <a:p>
            <a:r>
              <a:t>Quand un patient prend rendez-vous, le médecin reçoit automatiquement une notification dans son groupe Telegram. Et il peut interroger Hermes en retour : /aide, /rdv_aujourdhui, /rdv_demain, ou en langage naturel via Gemini.</a:t>
            </a:r>
          </a:p>
          <a:p>
            <a:r>
              <a:t>Pour la démo on a 2 groupes Telegram : Dr Lefebvre neurologue et Dr Benyahia endocrinologue. Mais l'infra est prête pour N praticiens.</a:t>
            </a:r>
          </a:p>
          <a:p>
            <a:r>
              <a:t>Cloisonnement strict : chaque groupe Telegram correspond à un seul médecin via le mapping Doctor.telegram_chat_id.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24/28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On a aussi pas voulu balancer Streamlit nu à l'utilisateur.</a:t>
            </a:r>
          </a:p>
          <a:p>
            <a:r>
              <a:t>Donc on a fait un site landing MediGuide à la racine, et le chatbot est intégré via une page /consulter avec iframe.</a:t>
            </a:r>
          </a:p>
          <a:p>
            <a:r>
              <a:t>L'utilisateur arrive sur un vrai site contextualisé : il voit la mission, les sources, le disclaimer, puis lance l'assistant.</a:t>
            </a:r>
          </a:p>
          <a:p>
            <a:r>
              <a:t>On a harmonisé tout le visuel — même palette teal, même font Inter — entre le site et le chatbot pour que ça fasse cohérent.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26/28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Récap de la cohérence UX qu'on a soignée.</a:t>
            </a:r>
          </a:p>
          <a:p>
            <a:r>
              <a:t>Cohérence visuelle : même palette et font partout.</a:t>
            </a:r>
          </a:p>
          <a:p>
            <a:r>
              <a:t>Badges de sources sur chaque réponse.</a:t>
            </a:r>
          </a:p>
          <a:p>
            <a:r>
              <a:t>Section « Mes rendez-vous » permanente dans la sidebar.</a:t>
            </a:r>
          </a:p>
          <a:p>
            <a:r>
              <a:t>Auto-rename des sessions pour s'y retrouver entre plusieurs conversations.</a:t>
            </a:r>
          </a:p>
          <a:p/>
          <a:p>
            <a:r>
              <a:t>────  🎙  PASSE LA PAROLE À : TOUS  ────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· Sommaire  ·  slide 2/28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Voilà ce qu'on va couvrir aujourd'hui en 4 grandes parties.</a:t>
            </a:r>
          </a:p>
          <a:p>
            <a:r>
              <a:t>Grace commence avec le contexte et l'architecture.</a:t>
            </a:r>
          </a:p>
          <a:p>
            <a:r>
              <a:t>Yousra enchaîne avec le traitement des PDFs et le pipeline RAG.</a:t>
            </a:r>
          </a:p>
          <a:p>
            <a:r>
              <a:t>Imane prend ensuite la comparaison d'encodeurs et le bonus DuckDuckGo.</a:t>
            </a:r>
          </a:p>
          <a:p>
            <a:r>
              <a:t>Et Yannis finit avec Hermes, le déploiement et la démo live.</a:t>
            </a:r>
          </a:p>
          <a:p>
            <a:r>
              <a:t>On revient tous à la fin pour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914400"/>
            <a:ext cx="8321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médical RAG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96596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Un assistant informatif basé sur des documents officiels (HAS / INCa)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926080" y="2578608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48640" y="2743200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15468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48640" y="365760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7724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Sommaire</a:t>
            </a:r>
          </a:p>
          <a:p>
            <a:pPr algn="l"/>
            <a:r>
              <a:rPr sz="1400">
                <a:solidFill>
                  <a:srgbClr val="CCFBF1"/>
                </a:solidFill>
                <a:latin typeface="Inter"/>
              </a:rPr>
              <a:t>Chatbot médical RAG · 15 minutes · 4 intervenants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4B8A6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920240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Contexte &amp; Architecture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Grace  ·  slides 3 à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79191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  <a:latin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633472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Traitement des PDFs &amp; Pipeline RAG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Yousra  ·  slides 8 à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92424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7C3AED"/>
                </a:solidFill>
                <a:latin typeface="Consola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346704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Comparaison encodeurs &amp; DuckDuckGo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Imane  ·  slides 14 à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05656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Consola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059936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Hermes, Déploiement &amp; Démo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Yannis  ·  slides 19 à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18888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5EEAD4"/>
                </a:solidFill>
                <a:latin typeface="Consolas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773168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Conclusion &amp; Questions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Tous  ·  slides 27 &amp;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CCFBF1"/>
                </a:solidFill>
                <a:latin typeface="Inter"/>
              </a:rPr>
              <a:t>Yousra · Imane · Yannis · Grace   |   sae.amanawebagency.com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6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Architecture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6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Grace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besoin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234440" y="11430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1371600" y="11430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patient veut une info médicale rapide et fiable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234440" y="2057400"/>
            <a:ext cx="745236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371600" y="20574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LLM seul peut halluciner — inventer des informations médicales fausses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34440" y="29718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371600" y="29718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Objectif : un chatbot qui répond à partir de sources officielles, pas de sa mémoire générale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Domaine choisi : informatif uniquement — 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LLM "tout fait" et pas créé from scratch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L'enjeu n'est pas de réinventer un LLM, mais de savoir l'orchestrer.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57200" y="1508760"/>
            <a:ext cx="73152" cy="77724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530352" y="1508760"/>
            <a:ext cx="8156448" cy="7772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85800" y="1508760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Analogie : on ne réinvente pas le moteur d'une voiture,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on construit le châssis, la direction, le tableau de bord.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vrai travail réalisé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40080" y="2834640"/>
            <a:ext cx="80467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Pipeline RAG : extraction, chunking, indexation, recherche vectorielle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Backend FastAPI, authentification JWT, gestion des sessions et de l'historique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Prompt engineering : contexte, historique, domaine restreint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d'encodeurs et de LLMs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technique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5" name="Google Shape;85;p4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286000"/>
                <a:gridCol w="5943600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Couche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Frontend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Streamlit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Backend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FastAPI + SQLAlchemy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Auth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JWT (bcrypt + PyJOSE)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RAG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LangChain + ChromaDB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Embeddings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all-MiniLM-L6-v2 (comparé à 2 autres)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LLM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Gemini 2.5 Flash (prod) / Mistral via OpenRouter (dev)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Recherche web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DuckDuckGo (ddgs) — bonus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Base de données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SQLite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générale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Patient (Streamlit)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" name="Google Shape;98;p5"/>
          <p:cNvCxnSpPr/>
          <p:nvPr/>
        </p:nvCxnSpPr>
        <p:spPr>
          <a:xfrm>
            <a:off x="4297680" y="166420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— auth JWT, sessions, historique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5"/>
          <p:cNvCxnSpPr/>
          <p:nvPr/>
        </p:nvCxnSpPr>
        <p:spPr>
          <a:xfrm>
            <a:off x="4297680" y="239572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RAG  ──►  ChromaDB (HAS / INCa)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4297680" y="312724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Prompt assemblé  ──►  LLM (Gemini / Mistral)  ──►  Réponse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solidFill>
            <a:srgbClr val="E0E7FF"/>
          </a:solidFill>
          <a:ln cap="flat" cmpd="sng" w="12700">
            <a:solidFill>
              <a:srgbClr val="6366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DuckDuckGo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(bonus fallback)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5"/>
          <p:cNvCxnSpPr/>
          <p:nvPr/>
        </p:nvCxnSpPr>
        <p:spPr>
          <a:xfrm>
            <a:off x="6949440" y="284378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6366F1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(spécialiste + RDV)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5"/>
          <p:cNvCxnSpPr/>
          <p:nvPr/>
        </p:nvCxnSpPr>
        <p:spPr>
          <a:xfrm>
            <a:off x="6949440" y="357530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D97706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Traitement des PDF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Pipeline RAG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1 — Indexation des documents (une seule fois)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051560"/>
            <a:ext cx="6858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5 PDF officiels (HAS, INCa) : diabète · Alzheimer · cancer du poumon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1554480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8"/>
          <p:cNvCxnSpPr/>
          <p:nvPr/>
        </p:nvCxnSpPr>
        <p:spPr>
          <a:xfrm>
            <a:off x="708660" y="2057400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8"/>
          <p:cNvSpPr/>
          <p:nvPr/>
        </p:nvSpPr>
        <p:spPr>
          <a:xfrm>
            <a:off x="1143000" y="1508760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1280160" y="150876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Extraction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PyPDFLoader lit le texte page par page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57200" y="2359152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457200" y="23591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8"/>
          <p:cNvCxnSpPr/>
          <p:nvPr/>
        </p:nvCxnSpPr>
        <p:spPr>
          <a:xfrm>
            <a:off x="708660" y="2862072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8"/>
          <p:cNvSpPr/>
          <p:nvPr/>
        </p:nvSpPr>
        <p:spPr>
          <a:xfrm>
            <a:off x="1143000" y="2313432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280160" y="2313432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Découpage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RecursiveCharacterTextSplitter — 500 caractères, chevauchement 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457200" y="3163824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45720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8"/>
          <p:cNvCxnSpPr/>
          <p:nvPr/>
        </p:nvCxnSpPr>
        <p:spPr>
          <a:xfrm>
            <a:off x="708660" y="3666744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8"/>
          <p:cNvSpPr/>
          <p:nvPr/>
        </p:nvSpPr>
        <p:spPr>
          <a:xfrm>
            <a:off x="1143000" y="3118104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1280160" y="3118104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Encodage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Chaque chunk → vecteur de 384 nombres (MiniLM)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457200" y="3968496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457200" y="396849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143000" y="3922776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1280160" y="3922776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Stockage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conserve le texte + vecteur liés par un identifiant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chevauchement de 50 caractères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Sans chevauchement, une phrase clé peut être coupée en deux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1 : </a:t>
            </a: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"...repose sur la metfor"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2 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400"/>
              <a:buFont typeface="Consolas"/>
              <a:buNone/>
            </a:pP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"mine en première intention..."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457200" y="263347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Avec un chevauchement de 50 caractères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chunk suivant recule de 50 caractères avant de repartir → la phrase complète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apparaît dans au moins un chunk.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457200" y="3749040"/>
            <a:ext cx="73152" cy="65836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530352" y="3749040"/>
            <a:ext cx="8156448" cy="65836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/>
          <p:nvPr/>
        </p:nvSpPr>
        <p:spPr>
          <a:xfrm>
            <a:off x="685800" y="3749040"/>
            <a:ext cx="7955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La phrase "repose sur la metformine" se retrouve intacte dans au moins un chunk.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rôle de MiniLM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MiniLM transforme n'importe quel texte en un vecteur de 384 nombres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qui capture son sens — pas juste les mots.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411480" y="1920240"/>
            <a:ext cx="2651760" cy="13716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41148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1148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chunk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(caractères)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3246120" y="1920240"/>
            <a:ext cx="2651760" cy="13716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324612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384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324612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vecteur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(toujours fixe)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6080760" y="1920240"/>
            <a:ext cx="2651760" cy="1371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08076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608076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 indexés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au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457200" y="347472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530352" y="347472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685800" y="347472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"fièvre" et "température élevée" → vecteurs proches, même avec des mots différents.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2 — Répondre à une question (RAG en action)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457200" y="1170432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457200" y="11704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1"/>
          <p:cNvCxnSpPr/>
          <p:nvPr/>
        </p:nvCxnSpPr>
        <p:spPr>
          <a:xfrm>
            <a:off x="685800" y="1627632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11"/>
          <p:cNvSpPr/>
          <p:nvPr/>
        </p:nvSpPr>
        <p:spPr>
          <a:xfrm>
            <a:off x="1097280" y="1097280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1261872" y="1097280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Question du patient → convertie en vecteur (même MiniLM)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p11"/>
          <p:cNvCxnSpPr/>
          <p:nvPr/>
        </p:nvCxnSpPr>
        <p:spPr>
          <a:xfrm>
            <a:off x="685800" y="2377440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11"/>
          <p:cNvSpPr/>
          <p:nvPr/>
        </p:nvSpPr>
        <p:spPr>
          <a:xfrm>
            <a:off x="1097280" y="1847088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1261872" y="1847088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cherche les 4 chunks les plus proches par sens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57200" y="2670048"/>
            <a:ext cx="457200" cy="457200"/>
          </a:xfrm>
          <a:prstGeom prst="ellipse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457200" y="26700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11"/>
          <p:cNvCxnSpPr/>
          <p:nvPr/>
        </p:nvCxnSpPr>
        <p:spPr>
          <a:xfrm>
            <a:off x="685800" y="3127248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11"/>
          <p:cNvSpPr/>
          <p:nvPr/>
        </p:nvSpPr>
        <p:spPr>
          <a:xfrm>
            <a:off x="1097280" y="2596896"/>
            <a:ext cx="7589520" cy="603504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CD3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1261872" y="2596896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Mauvais score → hors périmètre des PDF → bascule sur la recherche web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457200" y="3419856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p11"/>
          <p:cNvCxnSpPr/>
          <p:nvPr/>
        </p:nvCxnSpPr>
        <p:spPr>
          <a:xfrm>
            <a:off x="685800" y="3877056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11"/>
          <p:cNvSpPr/>
          <p:nvPr/>
        </p:nvSpPr>
        <p:spPr>
          <a:xfrm>
            <a:off x="1097280" y="3346704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1261872" y="3346704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(chunks + historique) assemblé dans un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457200" y="4169664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457200" y="41696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1097280" y="4096512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1261872" y="4096512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lit ce prompt et rédige la réponse finale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similarité : comment on compare deux vecteurs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Score = distance L2 (ChromaDB)</a:t>
            </a: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— plus le score est bas, plus le chunk est pertinent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(inverse d'un score de similarité classique)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640080" y="1828800"/>
            <a:ext cx="7863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hits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vectorstore.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similarity_search_with_score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k=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b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needs_web_search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min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_, 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hits) &gt; 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RELEVANCE_THRESHOLD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RELEVANCE_THRESHOLD = 0.9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: au-delà, aucun chunk n'est assez pertinent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→ on bascule sur le web plutôt que de répondre "à côté"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57200" y="379476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2"/>
          <p:cNvSpPr/>
          <p:nvPr/>
        </p:nvSpPr>
        <p:spPr>
          <a:xfrm>
            <a:off x="530352" y="379476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685800" y="3794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Distance L2 = racine de Σ(a_i − b_i)² sur 384 dimensions — mesure géométrique entre deux vecteurs.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3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Comparaison des encodeurs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Bonus DuckDuckGo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Imane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comparer plusieurs encodeurs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choix de l'encodeur change la </a:t>
            </a: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qualité de la recherche sémantique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— exigence explicite de la SAE : "tester et comparer plusieurs encodeurs"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0" name="Google Shape;270;p14"/>
          <p:cNvGraphicFramePr/>
          <p:nvPr/>
        </p:nvGraphicFramePr>
        <p:xfrm>
          <a:off x="457200" y="19202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3474725"/>
                <a:gridCol w="1097275"/>
                <a:gridCol w="3657600"/>
              </a:tblGrid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Dim.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Spécialité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all-MiniLM-L6-v2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384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Généraliste multilingue, très léger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sentence-camembert-base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Spécialisé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F172A"/>
                          </a:solidFill>
                        </a:rPr>
                        <a:t>paraphrase-multilingual-mpnet-base-v2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Multilingue haute qualité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71" name="Google Shape;271;p14"/>
          <p:cNvSpPr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modèles testés sur les mêmes 5 PDF, indexés séparément.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Résultats de la comparaison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2" name="Google Shape;282;p15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468875"/>
                <a:gridCol w="1828800"/>
                <a:gridCol w="393192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Vitesse (971 chunks)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Qualité observée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MiniLM (retenu)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F766E"/>
                          </a:solidFill>
                        </a:rPr>
                        <a:t>71s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Bonne, parfois distraite par du bruit (citations)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CamemBERT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270s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Capte mieux le sens médical en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mpnet multilingue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244s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4E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34E4A"/>
                          </a:solidFill>
                        </a:rPr>
                        <a:t>Le plus pertinent des 3 sur nos tests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83" name="Google Shape;283;p15"/>
          <p:cNvSpPr/>
          <p:nvPr/>
        </p:nvSpPr>
        <p:spPr>
          <a:xfrm>
            <a:off x="457200" y="3383280"/>
            <a:ext cx="8229600" cy="14173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Décision 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MiniLM gardé en prod — rapidité d'indexation (4× plus rapide que CamemBERT/mpnet)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Les 2 autres documentés comme alternatives plus précises mais plus lentes.</a:t>
            </a:r>
            <a:b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3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→ Répond à l'exigence "comparer" sans sacrifier les contraintes de déploiement.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6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6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Recherche web DuckDuckGo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Quand le RAG ne couvre pas la question (score &gt; seuil), on enrichit la réponse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avec une recherche web — pour ne pas répondre "à côté".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6"/>
          <p:cNvSpPr/>
          <p:nvPr/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def 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web_search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max_results=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query = reformulate_search_query(question)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results = DDGS().text(query, max_results=max_results)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"\n\n".join(f"{r['title']} : {r['body']} (source: {r['href']})" for r in 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457200" y="3429000"/>
            <a:ext cx="73152" cy="7315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6"/>
          <p:cNvSpPr/>
          <p:nvPr/>
        </p:nvSpPr>
        <p:spPr>
          <a:xfrm>
            <a:off x="530352" y="3429000"/>
            <a:ext cx="8156448" cy="7315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6"/>
          <p:cNvSpPr/>
          <p:nvPr/>
        </p:nvSpPr>
        <p:spPr>
          <a:xfrm>
            <a:off x="685800" y="3429000"/>
            <a:ext cx="7955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Web = filet de sécurité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, jamais une source par défaut.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signale explicitement quand une info vient du web, pas des PDF.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7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rencontré et corrigé (DuckDuckGo)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530352" y="109728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685800" y="114300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Symptôme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685800" y="144475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"j'ai de la fièvre" interprété comme une demande de traduction → résultats Reverso / Collins, pas d'info médicale.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5B21B6"/>
          </a:solidFill>
          <a:ln cap="flat" cmpd="sng" w="12700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530352" y="2103120"/>
            <a:ext cx="8156448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7"/>
          <p:cNvSpPr/>
          <p:nvPr/>
        </p:nvSpPr>
        <p:spPr>
          <a:xfrm>
            <a:off x="685800" y="214884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Cause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685800" y="245059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 phrase patient brute ressemble à une phrase de manuel de langue.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/>
          <p:nvPr/>
        </p:nvSpPr>
        <p:spPr>
          <a:xfrm>
            <a:off x="457200" y="3108960"/>
            <a:ext cx="73152" cy="822960"/>
          </a:xfrm>
          <a:prstGeom prst="rect">
            <a:avLst/>
          </a:prstGeom>
          <a:solidFill>
            <a:srgbClr val="065F46"/>
          </a:solidFill>
          <a:ln cap="flat" cmpd="sng" w="12700">
            <a:solidFill>
              <a:srgbClr val="065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530352" y="310896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685800" y="315468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685800" y="345643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reformulate_search_query() — un appel LLM reformule la phrase en requête médicale propre avant DuckDuckGo.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457200" y="4160520"/>
            <a:ext cx="822960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640080" y="4160520"/>
            <a:ext cx="7863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"j'ai de la fièvre"  →  "fievre symptomes causes traitement"  →  résultats médicaux réels 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Hermes, Déploiement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Démo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8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Yannis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Hermes, orchestrateur multi-agents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Après une réponse du chatbot, le patient peut demander à voir un spécialiste.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recommend_specialist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Quel type de médecin consulter — analyse la conversation complète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list_available_doctors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Liste les créneaux disponibles (5 médecins de démo)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book_appointment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Réserve le RDV et le retire des disponibilités du médecin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Modèle : Hermes 405B via OpenRouter, avec fallback automatique vers Llama 70B / GPT-OSS.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Bonus++ — Hermes côté praticien (Telegram)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Une fois le RDV pris, le praticien reçoit + peut interagir via son groupe Telegram.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📤 Notif sortante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Nouvelle réservation → message automatique dans le groupe du Dr.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📥 Commandes entrantes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/aide  /rdv_aujourdhui  /rdv_demain  /rdv  + langage naturel via Gemini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🔐 Cloisonnement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1 groupe Telegram = 1 médecin (mapping Doctor.telegram_chat_id)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Démo SAE : 2 groupes (Dr. Lefebvre, Dr. Benyahia). Infra prête pour N praticiens.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Sécurité &amp; limites assumées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/>
          <p:nvPr/>
        </p:nvSpPr>
        <p:spPr>
          <a:xfrm>
            <a:off x="457200" y="1143000"/>
            <a:ext cx="73152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0"/>
          <p:cNvSpPr/>
          <p:nvPr/>
        </p:nvSpPr>
        <p:spPr>
          <a:xfrm>
            <a:off x="530352" y="114300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0"/>
          <p:cNvSpPr/>
          <p:nvPr/>
        </p:nvSpPr>
        <p:spPr>
          <a:xfrm>
            <a:off x="685800" y="119786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0"/>
          <p:cNvSpPr/>
          <p:nvPr/>
        </p:nvSpPr>
        <p:spPr>
          <a:xfrm>
            <a:off x="685800" y="154533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Le chatbot n'est pas un médecin — rappel explicite dans chaque prompt envoyé au LLM.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0"/>
          <p:cNvSpPr/>
          <p:nvPr/>
        </p:nvSpPr>
        <p:spPr>
          <a:xfrm>
            <a:off x="530352" y="2331720"/>
            <a:ext cx="8156448" cy="9601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0"/>
          <p:cNvSpPr/>
          <p:nvPr/>
        </p:nvSpPr>
        <p:spPr>
          <a:xfrm>
            <a:off x="685800" y="238658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Traçabilité des sources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/>
          <p:nvPr/>
        </p:nvSpPr>
        <p:spPr>
          <a:xfrm>
            <a:off x="685800" y="273405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Badge "documents officiels" vs "web" sur chaque réponse — l'utilisateur sait toujours d'où vient l'info.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0"/>
          <p:cNvSpPr/>
          <p:nvPr/>
        </p:nvSpPr>
        <p:spPr>
          <a:xfrm>
            <a:off x="457200" y="3520440"/>
            <a:ext cx="73152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530352" y="352044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0"/>
          <p:cNvSpPr/>
          <p:nvPr/>
        </p:nvSpPr>
        <p:spPr>
          <a:xfrm>
            <a:off x="685800" y="357530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Limites de déploiement assumées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685800" y="392277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Périmètre limité à 3 pathologies. Quota LLM free tier ~1000 req/jour. ChromaDB et SQLite sur volume Docker persistant — pas de perte au redéploiement.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Déploiement en production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Caddy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HTTPS automatique — Let's Encrypt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Interface chat (/app/)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Réseau interne (non exposé)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ChromaDB + SQLite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Volume persistant Docker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containers Docker (landing /, chat /app/, API interne) — infra réelle de production Amana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Intégration site + chatbot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L'utilisateur n'arrive jamais sur Streamlit nu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Landing 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Site MediGuide (HTML/CSS) — Présentation, sources, disclaimer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Page /consulter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iframe du chatbot dans le header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/app/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Streamlit harmonisé (même palette teal, font Inter)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Cohérence visuelle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Pages login + chat reprennent le style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Site MediGuide → bouton « Consulter » → /consulter (iframe /app/) → chatbot dans le contexte de la marque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Démo en direct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/>
          <p:nvPr/>
        </p:nvSpPr>
        <p:spPr>
          <a:xfrm>
            <a:off x="1234440" y="109728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1371600" y="115214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dans le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(diabète)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/>
          <p:nvPr/>
        </p:nvSpPr>
        <p:spPr>
          <a:xfrm>
            <a:off x="1371600" y="159105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réponse basée sur HAS, badge "documents officiels"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1234440" y="2286000"/>
            <a:ext cx="745236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2"/>
          <p:cNvSpPr/>
          <p:nvPr/>
        </p:nvSpPr>
        <p:spPr>
          <a:xfrm>
            <a:off x="1371600" y="234086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hors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(grippe)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1371600" y="277977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bascule web, sources citées, badge "web"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2"/>
          <p:cNvSpPr/>
          <p:nvPr/>
        </p:nvSpPr>
        <p:spPr>
          <a:xfrm>
            <a:off x="1234440" y="347472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2"/>
          <p:cNvSpPr/>
          <p:nvPr/>
        </p:nvSpPr>
        <p:spPr>
          <a:xfrm>
            <a:off x="1371600" y="352958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2"/>
          <p:cNvSpPr/>
          <p:nvPr/>
        </p:nvSpPr>
        <p:spPr>
          <a:xfrm>
            <a:off x="1371600" y="396849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recommandation spécialiste + prise de RDV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Polish UX — les détails qui comptent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🎨 Cohérence visuelle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Palette teal &amp; font Inter partagées entre site et chatbot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📄 Badges de sources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Chaque réponse affiche « Documents officiels HAS/INCa » ou « Recherche web »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📅 Mes rendez-vous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Section permanente dans la sidebar — historique des RDV pris, toujours retrouvable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✨ Auto-rename des sessions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titre devient les 60 premiers caractères du 1er message — sidebar lisible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des compétences mobilisées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Full Stack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+ Streamlit + JWT + SQLAlchemy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IA / LLM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RAG, embeddings, prompt engineering, comparaison de modèles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Esprit critique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Limites du RAG, seuil de pertinence, sécurité (pas de diagnostic)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DevOps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Docker, reverse proxy Caddy, déploiement réel en 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4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4"/>
          <p:cNvSpPr/>
          <p:nvPr/>
        </p:nvSpPr>
        <p:spPr>
          <a:xfrm>
            <a:off x="548640" y="1005840"/>
            <a:ext cx="8321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4"/>
          <p:cNvSpPr/>
          <p:nvPr/>
        </p:nvSpPr>
        <p:spPr>
          <a:xfrm>
            <a:off x="548640" y="2194560"/>
            <a:ext cx="8321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Questions 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4"/>
          <p:cNvSpPr/>
          <p:nvPr/>
        </p:nvSpPr>
        <p:spPr>
          <a:xfrm>
            <a:off x="2926080" y="2926080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4"/>
          <p:cNvSpPr/>
          <p:nvPr/>
        </p:nvSpPr>
        <p:spPr>
          <a:xfrm>
            <a:off x="548640" y="3090672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4"/>
          <p:cNvSpPr/>
          <p:nvPr/>
        </p:nvSpPr>
        <p:spPr>
          <a:xfrm>
            <a:off x="548640" y="3493008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548640" y="4005072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8" name="Picture 467" descr="qr-medigu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926080"/>
            <a:ext cx="1737360" cy="1737360"/>
          </a:xfrm>
          <a:prstGeom prst="rect">
            <a:avLst/>
          </a:prstGeom>
        </p:spPr>
      </p:pic>
      <p:sp>
        <p:nvSpPr>
          <p:cNvPr id="469" name="TextBox 468"/>
          <p:cNvSpPr txBox="1"/>
          <p:nvPr/>
        </p:nvSpPr>
        <p:spPr>
          <a:xfrm>
            <a:off x="6766560" y="475488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CFBF1"/>
                </a:solidFill>
                <a:latin typeface="Inter"/>
              </a:rPr>
              <a:t>Scan → MediGuide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2026-06-25T11:16:57Z</dcterms:created>
  <dc:creator>PptxGenJS</dc:creator>
</cp:coreProperties>
</file>