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82" r:id="rId33"/>
    <p:sldId id="275" r:id="rId25"/>
    <p:sldId id="276" r:id="rId26"/>
    <p:sldId id="280" r:id="rId31"/>
    <p:sldId id="277" r:id="rId27"/>
    <p:sldId id="281" r:id="rId32"/>
    <p:sldId id="278" r:id="rId28"/>
    <p:sldId id="279" r:id="rId2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iWGgtSC9NeiEYFQuz/eybezvd5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374D3B-CAC8-4FC6-B79D-81F7425B36E4}">
  <a:tblStyle styleId="{C3374D3B-CAC8-4FC6-B79D-81F7425B36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3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customschemas.google.com/relationships/presentationmetadata" Target="metadata"/><Relationship Id="rId31" Type="http://schemas.openxmlformats.org/officeDocument/2006/relationships/slide" Target="slides/slide22.xml"/><Relationship Id="rId32" Type="http://schemas.openxmlformats.org/officeDocument/2006/relationships/slide" Target="slides/slide24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5" name="Google Shape;36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914400"/>
            <a:ext cx="8321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médical RAG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965960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Un assistant informatif basé sur des documents officiels (HAS / INCa)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2926080" y="2578608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48640" y="2743200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154680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48640" y="365760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6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Contexte &amp; Architecture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6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Grace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besoin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234440" y="11430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1371600" y="11430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patient veut une info médicale rapide et fiable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234440" y="2057400"/>
            <a:ext cx="745236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371600" y="20574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LLM seul peut halluciner — inventer des informations médicales fausses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34440" y="29718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371600" y="29718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Objectif : un chatbot qui répond à partir de sources officielles, pas de sa mémoire générale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Domaine choisi : informatif uniquement — 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LLM "tout fait" et pas créé from scratch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La SAE ne demande pas d'inventer un LLM — hors de portée en BUT3.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57200" y="1508760"/>
            <a:ext cx="73152" cy="77724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530352" y="1508760"/>
            <a:ext cx="8156448" cy="7772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685800" y="1508760"/>
            <a:ext cx="7955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Analogie : on ne réinvente pas le moteur d'une voiture,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on construit le châssis, la direction, le tableau de bord.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vrai travail réalisé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40080" y="2834640"/>
            <a:ext cx="80467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Pipeline RAG : extraction, chunking, indexation, recherche vectorielle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Backend FastAPI, authentification JWT, gestion des sessions et de l'historique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Prompt engineering : contexte, historique, domaine restreint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Comparaison d'encodeurs et de LLMs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technique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5" name="Google Shape;85;p4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286000"/>
                <a:gridCol w="5943600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Couche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Frontend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Streamlit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Backend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FastAPI + SQLAlchemy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Auth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JWT (bcrypt + PyJOSE)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RAG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LangChain + ChromaDB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Embeddings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all-MiniLM-L6-v2 (comparé à 2 autres)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LLM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Gemini 2.5 Flash (prod) / Mistral via OpenRouter (dev)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Recherche web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DuckDuckGo (ddgs) — bonus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Base de données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SQLite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générale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Patient (Streamlit)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" name="Google Shape;98;p5"/>
          <p:cNvCxnSpPr/>
          <p:nvPr/>
        </p:nvCxnSpPr>
        <p:spPr>
          <a:xfrm>
            <a:off x="4297680" y="166420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— auth JWT, sessions, historique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5"/>
          <p:cNvCxnSpPr/>
          <p:nvPr/>
        </p:nvCxnSpPr>
        <p:spPr>
          <a:xfrm>
            <a:off x="4297680" y="239572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RAG  ──►  ChromaDB (HAS / INCa)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5"/>
          <p:cNvCxnSpPr/>
          <p:nvPr/>
        </p:nvCxnSpPr>
        <p:spPr>
          <a:xfrm>
            <a:off x="4297680" y="312724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Prompt assemblé  ──►  LLM (Gemini / Mistral)  ──►  Réponse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solidFill>
            <a:srgbClr val="E0E7FF"/>
          </a:solidFill>
          <a:ln cap="flat" cmpd="sng" w="12700">
            <a:solidFill>
              <a:srgbClr val="6366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DuckDuckGo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(bonus fallback)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5"/>
          <p:cNvCxnSpPr/>
          <p:nvPr/>
        </p:nvCxnSpPr>
        <p:spPr>
          <a:xfrm>
            <a:off x="6949440" y="284378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6366F1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(spécialiste + RDV)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5"/>
          <p:cNvCxnSpPr/>
          <p:nvPr/>
        </p:nvCxnSpPr>
        <p:spPr>
          <a:xfrm>
            <a:off x="6949440" y="357530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D97706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Traitement des PDF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Pipeline RAG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1 — Indexation des documents (une seule fois)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57200" y="1051560"/>
            <a:ext cx="6858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5 PDF officiels (HAS, INCa) : diabète · Alzheimer · cancer du poumon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7200" y="1554480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457200" y="1554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8"/>
          <p:cNvCxnSpPr/>
          <p:nvPr/>
        </p:nvCxnSpPr>
        <p:spPr>
          <a:xfrm>
            <a:off x="708660" y="2057400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8"/>
          <p:cNvSpPr/>
          <p:nvPr/>
        </p:nvSpPr>
        <p:spPr>
          <a:xfrm>
            <a:off x="1143000" y="1508760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1280160" y="150876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Extraction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PyPDFLoader lit le texte page par page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57200" y="2359152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457200" y="235915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8"/>
          <p:cNvCxnSpPr/>
          <p:nvPr/>
        </p:nvCxnSpPr>
        <p:spPr>
          <a:xfrm>
            <a:off x="708660" y="2862072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8"/>
          <p:cNvSpPr/>
          <p:nvPr/>
        </p:nvSpPr>
        <p:spPr>
          <a:xfrm>
            <a:off x="1143000" y="2313432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1280160" y="2313432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Découpage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RecursiveCharacterTextSplitter — 500 caractères, chevauchement 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457200" y="3163824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45720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8"/>
          <p:cNvCxnSpPr/>
          <p:nvPr/>
        </p:nvCxnSpPr>
        <p:spPr>
          <a:xfrm>
            <a:off x="708660" y="3666744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8"/>
          <p:cNvSpPr/>
          <p:nvPr/>
        </p:nvSpPr>
        <p:spPr>
          <a:xfrm>
            <a:off x="1143000" y="3118104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1280160" y="3118104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Encodage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Chaque chunk → vecteur de 384 nombres (MiniLM)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457200" y="3968496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457200" y="3968496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1143000" y="3922776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1280160" y="3922776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Stockage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conserve le texte + vecteur liés par un identifiant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chevauchement de 50 caractères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Sans chevauchement, une phrase clé peut être coupée en deux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731520" y="1554480"/>
            <a:ext cx="7680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1 : </a:t>
            </a: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"...repose sur la metfor"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2 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400"/>
              <a:buFont typeface="Consolas"/>
              <a:buNone/>
            </a:pP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"mine en première intention..."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457200" y="263347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Avec un chevauchement de 50 caractères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chunk suivant recule de 50 caractères avant de repartir → la phrase complète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apparaît dans au moins un chunk.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457200" y="3749040"/>
            <a:ext cx="73152" cy="658368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530352" y="3749040"/>
            <a:ext cx="8156448" cy="65836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/>
          <p:nvPr/>
        </p:nvSpPr>
        <p:spPr>
          <a:xfrm>
            <a:off x="685800" y="3749040"/>
            <a:ext cx="7955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La phrase "repose sur la metformine" se retrouve intacte dans au moins un chunk.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rôle de MiniLM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MiniLM transforme n'importe quel texte en un vecteur de 384 nombres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qui capture son sens — pas juste les mots.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411480" y="1920240"/>
            <a:ext cx="2651760" cy="13716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41148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500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41148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chunk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(caractères)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3246120" y="1920240"/>
            <a:ext cx="2651760" cy="13716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324612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384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324612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vecteur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(toujours fixe)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6080760" y="1920240"/>
            <a:ext cx="2651760" cy="13716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608076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608076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 indexés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au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457200" y="347472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530352" y="347472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685800" y="347472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"fièvre" et "température élevée" → vecteurs proches, même avec des mots différents.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2 — Répondre à une question (RAG en action)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457200" y="1170432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457200" y="11704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p11"/>
          <p:cNvCxnSpPr/>
          <p:nvPr/>
        </p:nvCxnSpPr>
        <p:spPr>
          <a:xfrm>
            <a:off x="685800" y="1627632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11"/>
          <p:cNvSpPr/>
          <p:nvPr/>
        </p:nvSpPr>
        <p:spPr>
          <a:xfrm>
            <a:off x="1097280" y="1097280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1261872" y="1097280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Question du patient → convertie en vecteur (même MiniLM)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1"/>
          <p:cNvSpPr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4" name="Google Shape;214;p11"/>
          <p:cNvCxnSpPr/>
          <p:nvPr/>
        </p:nvCxnSpPr>
        <p:spPr>
          <a:xfrm>
            <a:off x="685800" y="2377440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p11"/>
          <p:cNvSpPr/>
          <p:nvPr/>
        </p:nvSpPr>
        <p:spPr>
          <a:xfrm>
            <a:off x="1097280" y="1847088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1261872" y="1847088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cherche les 4 chunks les plus proches par sens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57200" y="2670048"/>
            <a:ext cx="457200" cy="457200"/>
          </a:xfrm>
          <a:prstGeom prst="ellipse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/>
          <p:nvPr/>
        </p:nvSpPr>
        <p:spPr>
          <a:xfrm>
            <a:off x="457200" y="26700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11"/>
          <p:cNvCxnSpPr/>
          <p:nvPr/>
        </p:nvCxnSpPr>
        <p:spPr>
          <a:xfrm>
            <a:off x="685800" y="3127248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11"/>
          <p:cNvSpPr/>
          <p:nvPr/>
        </p:nvSpPr>
        <p:spPr>
          <a:xfrm>
            <a:off x="1097280" y="2596896"/>
            <a:ext cx="7589520" cy="603504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CD3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1261872" y="2596896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Mauvais score → hors périmètre des PDF → bascule sur la recherche web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457200" y="3419856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" name="Google Shape;224;p11"/>
          <p:cNvCxnSpPr/>
          <p:nvPr/>
        </p:nvCxnSpPr>
        <p:spPr>
          <a:xfrm>
            <a:off x="685800" y="3877056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11"/>
          <p:cNvSpPr/>
          <p:nvPr/>
        </p:nvSpPr>
        <p:spPr>
          <a:xfrm>
            <a:off x="1097280" y="3346704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"/>
          <p:cNvSpPr/>
          <p:nvPr/>
        </p:nvSpPr>
        <p:spPr>
          <a:xfrm>
            <a:off x="1261872" y="3346704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Contexte (chunks + historique) assemblé dans un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457200" y="4169664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/>
          <p:nvPr/>
        </p:nvSpPr>
        <p:spPr>
          <a:xfrm>
            <a:off x="457200" y="41696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1097280" y="4096512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1261872" y="4096512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lit ce prompt et rédige la réponse finale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similarité : comment on compare deux vecteurs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Score = distance L2 (ChromaDB)</a:t>
            </a: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— plus le score est bas, plus le chunk est pertinent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(inverse d'un score de similarité classique)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2"/>
          <p:cNvSpPr/>
          <p:nvPr/>
        </p:nvSpPr>
        <p:spPr>
          <a:xfrm>
            <a:off x="640080" y="1828800"/>
            <a:ext cx="7863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hits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vectorstore.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similarity_search_with_score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k=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b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needs_web_search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min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_, 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hits) &gt; 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RELEVANCE_THRESHOLD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RELEVANCE_THRESHOLD = 0.9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: au-delà, aucun chunk n'est assez pertinent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→ on bascule sur le web plutôt que de répondre "à côté"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457200" y="379476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2"/>
          <p:cNvSpPr/>
          <p:nvPr/>
        </p:nvSpPr>
        <p:spPr>
          <a:xfrm>
            <a:off x="530352" y="379476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685800" y="379476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Distance L2 = racine de Σ(a_i − b_i)² sur 384 dimensions — mesure géométrique entre deux vecteurs.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3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Comparaison des encodeurs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Bonus DuckDuckGo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Imane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comparer plusieurs encodeurs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choix de l'encodeur change la </a:t>
            </a: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qualité de la recherche sémantique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— exigence explicite de la SAE : "tester et comparer plusieurs encodeurs"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0" name="Google Shape;270;p14"/>
          <p:cNvGraphicFramePr/>
          <p:nvPr/>
        </p:nvGraphicFramePr>
        <p:xfrm>
          <a:off x="457200" y="19202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3474725"/>
                <a:gridCol w="1097275"/>
                <a:gridCol w="3657600"/>
              </a:tblGrid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Dim.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Spécialité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all-MiniLM-L6-v2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384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Généraliste multilingue, très léger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sentence-camembert-base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Spécialisé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F172A"/>
                          </a:solidFill>
                        </a:rPr>
                        <a:t>paraphrase-multilingual-mpnet-base-v2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Multilingue haute qualité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71" name="Google Shape;271;p14"/>
          <p:cNvSpPr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modèles testés sur les mêmes 5 PDF, indexés séparément.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Résultats de la comparaison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2" name="Google Shape;282;p15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468875"/>
                <a:gridCol w="1828800"/>
                <a:gridCol w="393192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Vitesse (971 chunks)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Qualité observée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MiniLM (retenu)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F766E"/>
                          </a:solidFill>
                        </a:rPr>
                        <a:t>71s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Bonne, parfois distraite par du bruit (citations)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CamemBERT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270s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Capte mieux le sens médical en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mpnet multilingue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244s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4E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34E4A"/>
                          </a:solidFill>
                        </a:rPr>
                        <a:t>Le plus pertinent des 3 sur nos tests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83" name="Google Shape;283;p15"/>
          <p:cNvSpPr/>
          <p:nvPr/>
        </p:nvSpPr>
        <p:spPr>
          <a:xfrm>
            <a:off x="457200" y="3383280"/>
            <a:ext cx="8229600" cy="14173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Décision 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MiniLM gardé en prod — rapidité d'indexation (4× plus rapide que CamemBERT/mpnet)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Les 2 autres documentés comme alternatives plus précises mais plus lentes.</a:t>
            </a:r>
            <a:b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3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→ Répond à l'exigence "comparer" sans sacrifier les contraintes de déploiement.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6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6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Recherche web DuckDuckGo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Quand le RAG ne couvre pas la question (score &gt; seuil), on enrichit la réponse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avec une recherche web — pour ne pas répondre "à côté".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6"/>
          <p:cNvSpPr/>
          <p:nvPr/>
        </p:nvSpPr>
        <p:spPr>
          <a:xfrm>
            <a:off x="640080" y="1828800"/>
            <a:ext cx="7863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def 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web_search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max_results=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query = reformulate_search_query(question)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results = DDGS().text(query, max_results=max_results)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"\n\n".join(f"{r['title']} : {r['body']} (source: {r['href']})" for r in 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457200" y="3429000"/>
            <a:ext cx="73152" cy="7315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6"/>
          <p:cNvSpPr/>
          <p:nvPr/>
        </p:nvSpPr>
        <p:spPr>
          <a:xfrm>
            <a:off x="530352" y="3429000"/>
            <a:ext cx="8156448" cy="7315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6"/>
          <p:cNvSpPr/>
          <p:nvPr/>
        </p:nvSpPr>
        <p:spPr>
          <a:xfrm>
            <a:off x="685800" y="3429000"/>
            <a:ext cx="7955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Web = filet de sécurité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, jamais une source par défaut.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signale explicitement quand une info vient du web, pas des PDF.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7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rencontré et corrigé (DuckDuckGo)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457200" y="1097280"/>
            <a:ext cx="73152" cy="8229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530352" y="109728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685800" y="114300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Symptôme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685800" y="144475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"j'ai de la fièvre" interprété comme une demande de traduction → résultats Reverso / Collins, pas d'info médicale.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457200" y="2103120"/>
            <a:ext cx="73152" cy="822960"/>
          </a:xfrm>
          <a:prstGeom prst="rect">
            <a:avLst/>
          </a:prstGeom>
          <a:solidFill>
            <a:srgbClr val="5B21B6"/>
          </a:solidFill>
          <a:ln cap="flat" cmpd="sng" w="12700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530352" y="2103120"/>
            <a:ext cx="8156448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7"/>
          <p:cNvSpPr/>
          <p:nvPr/>
        </p:nvSpPr>
        <p:spPr>
          <a:xfrm>
            <a:off x="685800" y="214884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Cause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685800" y="245059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 phrase patient brute ressemble à une phrase de manuel de langue.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/>
          <p:nvPr/>
        </p:nvSpPr>
        <p:spPr>
          <a:xfrm>
            <a:off x="457200" y="3108960"/>
            <a:ext cx="73152" cy="822960"/>
          </a:xfrm>
          <a:prstGeom prst="rect">
            <a:avLst/>
          </a:prstGeom>
          <a:solidFill>
            <a:srgbClr val="065F46"/>
          </a:solidFill>
          <a:ln cap="flat" cmpd="sng" w="12700">
            <a:solidFill>
              <a:srgbClr val="065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530352" y="310896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7"/>
          <p:cNvSpPr/>
          <p:nvPr/>
        </p:nvSpPr>
        <p:spPr>
          <a:xfrm>
            <a:off x="685800" y="315468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Fix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685800" y="345643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reformulate_search_query() — un appel LLM reformule la phrase en requête médicale propre avant DuckDuckGo.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457200" y="4160520"/>
            <a:ext cx="822960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640080" y="4160520"/>
            <a:ext cx="7863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"j'ai de la fièvre"  →  "fievre symptomes causes traitement"  →  résultats médicaux réels 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8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8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Hermes, Déploiement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Démo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8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Yannis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Hermes, orchestrateur multi-agents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Après une réponse du chatbot, le patient peut demander à voir un spécialiste.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recommend_specialist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Quel type de médecin consulter — analyse la conversation complète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list_available_doctors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Liste les créneaux disponibles (5 médecins de démo)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book_appointment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Réserve le RDV et le retire des disponibilités du médecin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Modèle : Hermes 405B via OpenRouter, avec fallback automatique vers Llama 70B / GPT-OSS.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Sécurité &amp; limites assumées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/>
          <p:nvPr/>
        </p:nvSpPr>
        <p:spPr>
          <a:xfrm>
            <a:off x="457200" y="1143000"/>
            <a:ext cx="73152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0"/>
          <p:cNvSpPr/>
          <p:nvPr/>
        </p:nvSpPr>
        <p:spPr>
          <a:xfrm>
            <a:off x="530352" y="114300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0"/>
          <p:cNvSpPr/>
          <p:nvPr/>
        </p:nvSpPr>
        <p:spPr>
          <a:xfrm>
            <a:off x="685800" y="119786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0"/>
          <p:cNvSpPr/>
          <p:nvPr/>
        </p:nvSpPr>
        <p:spPr>
          <a:xfrm>
            <a:off x="685800" y="154533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Le chatbot n'est pas un médecin — rappel explicite dans chaque prompt envoyé au LLM.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0"/>
          <p:cNvSpPr/>
          <p:nvPr/>
        </p:nvSpPr>
        <p:spPr>
          <a:xfrm>
            <a:off x="530352" y="2331720"/>
            <a:ext cx="8156448" cy="9601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0"/>
          <p:cNvSpPr/>
          <p:nvPr/>
        </p:nvSpPr>
        <p:spPr>
          <a:xfrm>
            <a:off x="685800" y="238658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Traçabilité des sources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0"/>
          <p:cNvSpPr/>
          <p:nvPr/>
        </p:nvSpPr>
        <p:spPr>
          <a:xfrm>
            <a:off x="685800" y="273405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Badge "documents officiels" vs "web" sur chaque réponse — l'utilisateur sait toujours d'où vient l'info.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0"/>
          <p:cNvSpPr/>
          <p:nvPr/>
        </p:nvSpPr>
        <p:spPr>
          <a:xfrm>
            <a:off x="457200" y="3520440"/>
            <a:ext cx="73152" cy="9601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530352" y="352044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0"/>
          <p:cNvSpPr/>
          <p:nvPr/>
        </p:nvSpPr>
        <p:spPr>
          <a:xfrm>
            <a:off x="685800" y="357530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Limites de déploiement assumées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685800" y="392277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Périmètre limité à 3 pathologies. Quota LLM free tier ~1000 req/jour. ChromaDB et SQLite sur volume Docker persistant — pas de perte au redéploiement.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Déploiement en production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Caddy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HTTPS automatique — Let's Encrypt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Streamlit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Interface chat (/app/)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Réseau interne (non exposé)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ChromaDB + SQLite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Volume persistant Docker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containers Docker (landing /, chat /app/, API interne) — infra réelle de production Amana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Intégration site + chatbot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L'utilisateur n'arrive jamais sur Streamlit nu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Landing 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Site MediGuide (HTML/CSS) — Présentation, sources, disclaimer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Page /consulter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iframe du chatbot dans le header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/app/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Streamlit harmonisé (même palette teal, font Inter)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Cohérence visuelle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Pages login + chat reprennent le style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Site MediGuide → bouton « Consulter » → /consulter (iframe /app/) → chatbot dans le contexte de la marque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Démo en direct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/>
          <p:nvPr/>
        </p:nvSpPr>
        <p:spPr>
          <a:xfrm>
            <a:off x="1234440" y="109728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1371600" y="115214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dans le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(diabète)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/>
          <p:nvPr/>
        </p:nvSpPr>
        <p:spPr>
          <a:xfrm>
            <a:off x="1371600" y="159105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réponse basée sur HAS, badge "documents officiels"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2"/>
          <p:cNvSpPr/>
          <p:nvPr/>
        </p:nvSpPr>
        <p:spPr>
          <a:xfrm>
            <a:off x="1234440" y="2286000"/>
            <a:ext cx="745236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2"/>
          <p:cNvSpPr/>
          <p:nvPr/>
        </p:nvSpPr>
        <p:spPr>
          <a:xfrm>
            <a:off x="1371600" y="234086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hors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(grippe)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/>
          <p:nvPr/>
        </p:nvSpPr>
        <p:spPr>
          <a:xfrm>
            <a:off x="1371600" y="277977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bascule web, sources citées, badge "web"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2"/>
          <p:cNvSpPr/>
          <p:nvPr/>
        </p:nvSpPr>
        <p:spPr>
          <a:xfrm>
            <a:off x="1234440" y="347472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2"/>
          <p:cNvSpPr/>
          <p:nvPr/>
        </p:nvSpPr>
        <p:spPr>
          <a:xfrm>
            <a:off x="1371600" y="352958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2"/>
          <p:cNvSpPr/>
          <p:nvPr/>
        </p:nvSpPr>
        <p:spPr>
          <a:xfrm>
            <a:off x="1371600" y="396849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recommandation spécialiste + prise de RDV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Polish UX — les détails qui comptent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🎨 Cohérence visuelle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Palette teal &amp; font Inter partagées entre site et chatbot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📄 Badges de sources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Chaque réponse affiche « Documents officiels HAS/INCa » ou « Recherche web »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📅 Mes rendez-vous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Section permanente dans la sidebar — historique des RDV pris, toujours retrouvable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✨ Auto-rename des sessions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titre devient les 60 premiers caractères du 1er message — sidebar lisible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des compétences mobilisées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Full Stack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+ Streamlit + JWT + SQLAlchemy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IA / LLM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RAG, embeddings, prompt engineering, comparaison de modèles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Esprit critique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Limites du RAG, seuil de pertinence, sécurité (pas de diagnostic)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DevOps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Docker, reverse proxy Caddy, déploiement réel en production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4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4"/>
          <p:cNvSpPr/>
          <p:nvPr/>
        </p:nvSpPr>
        <p:spPr>
          <a:xfrm>
            <a:off x="548640" y="1005840"/>
            <a:ext cx="8321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4"/>
          <p:cNvSpPr/>
          <p:nvPr/>
        </p:nvSpPr>
        <p:spPr>
          <a:xfrm>
            <a:off x="548640" y="2194560"/>
            <a:ext cx="8321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Questions ?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4"/>
          <p:cNvSpPr/>
          <p:nvPr/>
        </p:nvSpPr>
        <p:spPr>
          <a:xfrm>
            <a:off x="2926080" y="2926080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4"/>
          <p:cNvSpPr/>
          <p:nvPr/>
        </p:nvSpPr>
        <p:spPr>
          <a:xfrm>
            <a:off x="548640" y="3090672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4"/>
          <p:cNvSpPr/>
          <p:nvPr/>
        </p:nvSpPr>
        <p:spPr>
          <a:xfrm>
            <a:off x="548640" y="3493008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/>
          <p:nvPr/>
        </p:nvSpPr>
        <p:spPr>
          <a:xfrm>
            <a:off x="548640" y="4005072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Bonus++ — Hermes côté praticien (Telegram)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Une fois le RDV pris, le praticien reçoit + peut interagir via son groupe Telegram.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📤 Notif sortante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Nouvelle réservation → message automatique dans le groupe du Dr.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📥 Commandes entrantes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/aide  /rdv_aujourdhui  /rdv_demain  /rdv  + langage naturel via Gemini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🔐 Cloisonnement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1 groupe Telegram = 1 médecin (mapping Doctor.telegram_chat_id)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Démo SAE : 2 groupes (Dr. Lefebvre, Dr. Benyahia). Infra prête pour N praticiens.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2026-06-25T11:16:57Z</dcterms:created>
  <dc:creator>PptxGenJS</dc:creator>
</cp:coreProperties>
</file>